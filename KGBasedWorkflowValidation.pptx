
<file path=[Content_Types].xml><?xml version="1.0" encoding="utf-8"?>
<Types xmlns="http://schemas.openxmlformats.org/package/2006/content-types">
  <Default Extension="jpeg" ContentType="image/jpeg"/>
  <Default Extension="jpg" ContentType="image/jpeg"/>
  <Default Extension="org&amp;utm_campaign=index&amp;utm_content=thumbnail"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56" r:id="rId2"/>
    <p:sldId id="378" r:id="rId3"/>
    <p:sldId id="358" r:id="rId4"/>
    <p:sldId id="357" r:id="rId5"/>
    <p:sldId id="383" r:id="rId6"/>
    <p:sldId id="393" r:id="rId7"/>
    <p:sldId id="381" r:id="rId8"/>
    <p:sldId id="385" r:id="rId9"/>
    <p:sldId id="386" r:id="rId10"/>
    <p:sldId id="394" r:id="rId11"/>
    <p:sldId id="384" r:id="rId12"/>
    <p:sldId id="397" r:id="rId13"/>
    <p:sldId id="398" r:id="rId14"/>
    <p:sldId id="390" r:id="rId15"/>
    <p:sldId id="391" r:id="rId16"/>
    <p:sldId id="330" r:id="rId17"/>
    <p:sldId id="39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088B8"/>
    <a:srgbClr val="21C5FF"/>
    <a:srgbClr val="008BBC"/>
    <a:srgbClr val="00A4DE"/>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Χωρίς στυλ, χωρίς πλέγμα">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Φωτεινό στυλ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Στυλ με θέμα 1 - Έμφαση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26" autoAdjust="0"/>
    <p:restoredTop sz="74576" autoAdjust="0"/>
  </p:normalViewPr>
  <p:slideViewPr>
    <p:cSldViewPr snapToGrid="0">
      <p:cViewPr varScale="1">
        <p:scale>
          <a:sx n="66" d="100"/>
          <a:sy n="66" d="100"/>
        </p:scale>
        <p:origin x="1236" y="27"/>
      </p:cViewPr>
      <p:guideLst/>
    </p:cSldViewPr>
  </p:slideViewPr>
  <p:notesTextViewPr>
    <p:cViewPr>
      <p:scale>
        <a:sx n="1" d="1"/>
        <a:sy n="1" d="1"/>
      </p:scale>
      <p:origin x="0" y="0"/>
    </p:cViewPr>
  </p:notesTextViewPr>
  <p:notesViewPr>
    <p:cSldViewPr snapToGrid="0">
      <p:cViewPr varScale="1">
        <p:scale>
          <a:sx n="67" d="100"/>
          <a:sy n="67" d="100"/>
        </p:scale>
        <p:origin x="2829" y="2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a:extLst>
              <a:ext uri="{FF2B5EF4-FFF2-40B4-BE49-F238E27FC236}">
                <a16:creationId xmlns:a16="http://schemas.microsoft.com/office/drawing/2014/main" id="{276180C1-82C5-284A-8D04-465B7DD22B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Θέση ημερομηνίας 2">
            <a:extLst>
              <a:ext uri="{FF2B5EF4-FFF2-40B4-BE49-F238E27FC236}">
                <a16:creationId xmlns:a16="http://schemas.microsoft.com/office/drawing/2014/main" id="{7B05D3BD-750D-8EF8-CEFF-5240904A5D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6272C5-D3F9-4C06-9A32-2E0050444E98}" type="datetimeFigureOut">
              <a:rPr lang="en-US" smtClean="0"/>
              <a:t>9/28/2026</a:t>
            </a:fld>
            <a:endParaRPr lang="en-US"/>
          </a:p>
        </p:txBody>
      </p:sp>
      <p:sp>
        <p:nvSpPr>
          <p:cNvPr id="4" name="Θέση υποσέλιδου 3">
            <a:extLst>
              <a:ext uri="{FF2B5EF4-FFF2-40B4-BE49-F238E27FC236}">
                <a16:creationId xmlns:a16="http://schemas.microsoft.com/office/drawing/2014/main" id="{74BAB3ED-66F6-5438-2166-D847C2D04A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21/11/2024</a:t>
            </a:r>
          </a:p>
        </p:txBody>
      </p:sp>
      <p:sp>
        <p:nvSpPr>
          <p:cNvPr id="5" name="Θέση αριθμού διαφάνειας 4">
            <a:extLst>
              <a:ext uri="{FF2B5EF4-FFF2-40B4-BE49-F238E27FC236}">
                <a16:creationId xmlns:a16="http://schemas.microsoft.com/office/drawing/2014/main" id="{68A15351-9012-2352-9AAB-C1DBF4D979B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46B92F-E6E6-4505-995C-FE6AF7431200}" type="slidenum">
              <a:rPr lang="en-US" smtClean="0"/>
              <a:t>‹#›</a:t>
            </a:fld>
            <a:endParaRPr lang="en-US"/>
          </a:p>
        </p:txBody>
      </p:sp>
    </p:spTree>
    <p:extLst>
      <p:ext uri="{BB962C8B-B14F-4D97-AF65-F5344CB8AC3E}">
        <p14:creationId xmlns:p14="http://schemas.microsoft.com/office/powerpoint/2010/main" val="29333240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186250-9006-4EF6-945E-4A1A0E8891CA}"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21/11/2024</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7FB8B-CF41-4778-B0F3-F49F4DE36C6E}" type="slidenum">
              <a:rPr lang="en-US" smtClean="0"/>
              <a:t>‹#›</a:t>
            </a:fld>
            <a:endParaRPr lang="en-US"/>
          </a:p>
        </p:txBody>
      </p:sp>
    </p:spTree>
    <p:extLst>
      <p:ext uri="{BB962C8B-B14F-4D97-AF65-F5344CB8AC3E}">
        <p14:creationId xmlns:p14="http://schemas.microsoft.com/office/powerpoint/2010/main" val="24215271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a:t>
            </a:r>
          </a:p>
          <a:p>
            <a:r>
              <a:rPr lang="en-US"/>
              <a:t>My name is Valantis Zervos a </a:t>
            </a:r>
            <a:r>
              <a:rPr lang="en-US" b="1"/>
              <a:t>Master student in Computer Science Department of the University of Crete </a:t>
            </a:r>
            <a:r>
              <a:rPr lang="en-US"/>
              <a:t>and a </a:t>
            </a:r>
            <a:r>
              <a:rPr lang="en-US" b="1"/>
              <a:t>Graduate Research Fellow in the Institute of Computer Science at FORTH</a:t>
            </a:r>
            <a:r>
              <a:rPr lang="en-US"/>
              <a:t>, and today I will present our work on </a:t>
            </a:r>
            <a:r>
              <a:rPr lang="en-US" b="1"/>
              <a:t>Knowledge Graph-Based Workflow Validation Using PROV Graphs</a:t>
            </a:r>
            <a:r>
              <a:rPr lang="en-US"/>
              <a:t>.</a:t>
            </a:r>
          </a:p>
          <a:p>
            <a:r>
              <a:rPr lang="en-US"/>
              <a:t>This work was done together with </a:t>
            </a:r>
            <a:r>
              <a:rPr lang="en-US" b="1"/>
              <a:t>Chrysostomos Zeginis and Dimitris Plexousakis</a:t>
            </a:r>
            <a:r>
              <a:rPr lang="en-US"/>
              <a:t>.</a:t>
            </a:r>
          </a:p>
          <a:p>
            <a:r>
              <a:rPr lang="en-US"/>
              <a:t>The </a:t>
            </a:r>
            <a:r>
              <a:rPr lang="en-US" b="1"/>
              <a:t>main idea of the work </a:t>
            </a:r>
            <a:r>
              <a:rPr lang="en-US"/>
              <a:t>is to investigate whether representing workflow executions as provenance knowledge graphs can provide a more flexible way to validate workflow behavior, especially for constraints involving relationships and provenance information.</a:t>
            </a:r>
          </a:p>
        </p:txBody>
      </p:sp>
      <p:sp>
        <p:nvSpPr>
          <p:cNvPr id="4" name="Slide Number Placeholder 3"/>
          <p:cNvSpPr>
            <a:spLocks noGrp="1"/>
          </p:cNvSpPr>
          <p:nvPr>
            <p:ph type="sldNum" sz="quarter" idx="10"/>
          </p:nvPr>
        </p:nvSpPr>
        <p:spPr/>
        <p:txBody>
          <a:bodyPr/>
          <a:lstStyle/>
          <a:p>
            <a:fld id="{3BC7FB8B-CF41-4778-B0F3-F49F4DE36C6E}" type="slidenum">
              <a:rPr lang="en-US" smtClean="0"/>
              <a:t>1</a:t>
            </a:fld>
            <a:endParaRPr lang="en-US"/>
          </a:p>
        </p:txBody>
      </p:sp>
    </p:spTree>
    <p:extLst>
      <p:ext uri="{BB962C8B-B14F-4D97-AF65-F5344CB8AC3E}">
        <p14:creationId xmlns:p14="http://schemas.microsoft.com/office/powerpoint/2010/main" val="1818408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A178E-632C-61E1-E997-099CB9455A0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4DA8C6A-612F-439D-717E-4FB9F09FFF5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88EB623-741B-4CA6-37BA-9B4F6D1BBFC8}"/>
              </a:ext>
            </a:extLst>
          </p:cNvPr>
          <p:cNvSpPr>
            <a:spLocks noGrp="1"/>
          </p:cNvSpPr>
          <p:nvPr>
            <p:ph type="body" idx="1"/>
          </p:nvPr>
        </p:nvSpPr>
        <p:spPr/>
        <p:txBody>
          <a:bodyPr/>
          <a:lstStyle/>
          <a:p>
            <a:r>
              <a:rPr lang="en-US"/>
              <a:t>Before going into the problem, let me briefly </a:t>
            </a:r>
            <a:r>
              <a:rPr lang="en-US" b="1"/>
              <a:t>clarify three concepts </a:t>
            </a:r>
            <a:r>
              <a:rPr lang="en-US"/>
              <a:t>I will use throughout the presentation.</a:t>
            </a:r>
          </a:p>
          <a:p>
            <a:r>
              <a:rPr lang="en-US"/>
              <a:t>First, </a:t>
            </a:r>
            <a:r>
              <a:rPr lang="en-US" b="1"/>
              <a:t>a workflow </a:t>
            </a:r>
            <a:r>
              <a:rPr lang="en-US"/>
              <a:t>is essentially a sequence of tasks, with inputs and outputs.</a:t>
            </a:r>
          </a:p>
          <a:p>
            <a:r>
              <a:rPr lang="en-US" b="1"/>
              <a:t>A knowledge graph </a:t>
            </a:r>
            <a:r>
              <a:rPr lang="en-US"/>
              <a:t>represents entities and the relationships between them.</a:t>
            </a:r>
          </a:p>
          <a:p>
            <a:r>
              <a:rPr lang="en-US"/>
              <a:t>And </a:t>
            </a:r>
            <a:r>
              <a:rPr lang="en-US" b="1"/>
              <a:t>RDF is the representation </a:t>
            </a:r>
            <a:r>
              <a:rPr lang="en-US"/>
              <a:t>we use to express these relationships as machine-readable triples — </a:t>
            </a:r>
            <a:r>
              <a:rPr lang="en-US" b="1"/>
              <a:t>for example</a:t>
            </a:r>
            <a:r>
              <a:rPr lang="en-US"/>
              <a:t>, a task uses a particular dataset</a:t>
            </a:r>
            <a:r>
              <a:rPr lang="el-GR"/>
              <a:t>.</a:t>
            </a:r>
            <a:endParaRPr lang="en-US"/>
          </a:p>
        </p:txBody>
      </p:sp>
      <p:sp>
        <p:nvSpPr>
          <p:cNvPr id="4" name="Θέση αριθμού διαφάνειας 3">
            <a:extLst>
              <a:ext uri="{FF2B5EF4-FFF2-40B4-BE49-F238E27FC236}">
                <a16:creationId xmlns:a16="http://schemas.microsoft.com/office/drawing/2014/main" id="{4E133CC2-E33E-06AE-FDF6-99BEC5DDE182}"/>
              </a:ext>
            </a:extLst>
          </p:cNvPr>
          <p:cNvSpPr>
            <a:spLocks noGrp="1"/>
          </p:cNvSpPr>
          <p:nvPr>
            <p:ph type="sldNum" sz="quarter" idx="5"/>
          </p:nvPr>
        </p:nvSpPr>
        <p:spPr/>
        <p:txBody>
          <a:bodyPr/>
          <a:lstStyle/>
          <a:p>
            <a:fld id="{F66224B6-4E71-44C6-86AF-1F535EA5D5A3}" type="slidenum">
              <a:rPr lang="en-US" smtClean="0"/>
              <a:t>2</a:t>
            </a:fld>
            <a:endParaRPr lang="en-US"/>
          </a:p>
        </p:txBody>
      </p:sp>
    </p:spTree>
    <p:extLst>
      <p:ext uri="{BB962C8B-B14F-4D97-AF65-F5344CB8AC3E}">
        <p14:creationId xmlns:p14="http://schemas.microsoft.com/office/powerpoint/2010/main" val="1264503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5208-129B-7701-AB94-026192D0A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FC914-2726-D3F2-C64A-25162039D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08A53-FC51-5C91-C3E0-9CC8BC852C61}"/>
              </a:ext>
            </a:extLst>
          </p:cNvPr>
          <p:cNvSpPr>
            <a:spLocks noGrp="1"/>
          </p:cNvSpPr>
          <p:nvPr>
            <p:ph type="body" idx="1"/>
          </p:nvPr>
        </p:nvSpPr>
        <p:spPr/>
        <p:txBody>
          <a:bodyPr/>
          <a:lstStyle/>
          <a:p>
            <a:r>
              <a:rPr lang="en-US"/>
              <a:t>So, when a workflow is executed, we typically get an </a:t>
            </a:r>
            <a:r>
              <a:rPr lang="en-US" b="1"/>
              <a:t>execution trace describing what happened during that run</a:t>
            </a:r>
            <a:r>
              <a:rPr lang="en-US"/>
              <a:t>.</a:t>
            </a:r>
          </a:p>
          <a:p>
            <a:r>
              <a:rPr lang="en-US" b="0"/>
              <a:t>These</a:t>
            </a:r>
            <a:r>
              <a:rPr lang="en-US" b="1"/>
              <a:t> traces are useful for things like replay, profiling, and debugging</a:t>
            </a:r>
            <a:r>
              <a:rPr lang="en-US"/>
              <a:t>, but they are often </a:t>
            </a:r>
            <a:r>
              <a:rPr lang="en-US" b="1"/>
              <a:t>specific to the workflow engine </a:t>
            </a:r>
            <a:r>
              <a:rPr lang="en-US"/>
              <a:t>and provide </a:t>
            </a:r>
            <a:r>
              <a:rPr lang="en-US" b="1"/>
              <a:t>limited semantic context</a:t>
            </a:r>
            <a:r>
              <a:rPr lang="en-US"/>
              <a:t>.</a:t>
            </a:r>
          </a:p>
          <a:p>
            <a:r>
              <a:rPr lang="en-US" b="1"/>
              <a:t>Provenance</a:t>
            </a:r>
            <a:r>
              <a:rPr lang="en-US"/>
              <a:t> gives us a richer representation.</a:t>
            </a:r>
          </a:p>
          <a:p>
            <a:r>
              <a:rPr lang="en-US"/>
              <a:t>Instead of only recording what happened, it </a:t>
            </a:r>
            <a:r>
              <a:rPr lang="en-US" b="1"/>
              <a:t>captures additional context </a:t>
            </a:r>
            <a:r>
              <a:rPr lang="en-US"/>
              <a:t>about what happened, when, where, how, and who was involved.</a:t>
            </a:r>
          </a:p>
          <a:p>
            <a:r>
              <a:rPr lang="en-US"/>
              <a:t>And this is important for our approach, because we want to </a:t>
            </a:r>
            <a:r>
              <a:rPr lang="en-US" b="1"/>
              <a:t>move from simply looking at a sequence of events to explicitly representing the relationships</a:t>
            </a:r>
            <a:r>
              <a:rPr lang="en-US"/>
              <a:t> between the different elements of an execution.</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Provenance captures the history of a workflow execution, including the activities that were performed, the data that were used or produced, and the agents involved. The W3C PROV</a:t>
            </a:r>
            <a:br>
              <a:rPr lang="en-US"/>
            </a:br>
            <a:r>
              <a:rPr lang="en-US" sz="1200" b="0" i="0" kern="1200">
                <a:solidFill>
                  <a:schemeClr val="tx1"/>
                </a:solidFill>
                <a:effectLst/>
                <a:latin typeface="+mn-lt"/>
                <a:ea typeface="+mn-ea"/>
                <a:cs typeface="+mn-cs"/>
              </a:rPr>
              <a:t>model provides a standard vocabulary for representing this information through three core concepts: entities, activities, and agents.</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In the XES format, a log is organized as a collection of traces, where each trace corresponds to one process instance or case. A trace contains events, and each event, together with attributes such as timestamps, resources, roles, and other domain-specific values, records the execution of one activity [1], [2].</a:t>
            </a:r>
            <a:br>
              <a:rPr lang="en-US"/>
            </a:br>
            <a:endParaRPr lang="en-US"/>
          </a:p>
          <a:p>
            <a:r>
              <a:rPr lang="en-US" sz="1200" b="0" i="0" kern="1200">
                <a:solidFill>
                  <a:schemeClr val="tx1"/>
                </a:solidFill>
                <a:effectLst/>
                <a:latin typeface="+mn-lt"/>
                <a:ea typeface="+mn-ea"/>
                <a:cs typeface="+mn-cs"/>
              </a:rPr>
              <a:t>For instance, in the BPI Challenge 2020 Domestic Declarations dataset, one trace represents a domestic travel declaration case [8]. Such a trace may include events such as Declaration Submitted by Employee, Declaration Final Approved by Supervisor, Request Payment, and Payment Handled.</a:t>
            </a:r>
            <a:endParaRPr lang="en-US" dirty="0"/>
          </a:p>
        </p:txBody>
      </p:sp>
      <p:sp>
        <p:nvSpPr>
          <p:cNvPr id="4" name="Slide Number Placeholder 3">
            <a:extLst>
              <a:ext uri="{FF2B5EF4-FFF2-40B4-BE49-F238E27FC236}">
                <a16:creationId xmlns:a16="http://schemas.microsoft.com/office/drawing/2014/main" id="{722440D9-DCE1-5A85-E579-F5CE9566C227}"/>
              </a:ext>
            </a:extLst>
          </p:cNvPr>
          <p:cNvSpPr>
            <a:spLocks noGrp="1"/>
          </p:cNvSpPr>
          <p:nvPr>
            <p:ph type="sldNum" sz="quarter" idx="10"/>
          </p:nvPr>
        </p:nvSpPr>
        <p:spPr/>
        <p:txBody>
          <a:bodyPr/>
          <a:lstStyle/>
          <a:p>
            <a:fld id="{3BC7FB8B-CF41-4778-B0F3-F49F4DE36C6E}" type="slidenum">
              <a:rPr lang="en-US" smtClean="0"/>
              <a:t>3</a:t>
            </a:fld>
            <a:endParaRPr lang="en-US"/>
          </a:p>
        </p:txBody>
      </p:sp>
    </p:spTree>
    <p:extLst>
      <p:ext uri="{BB962C8B-B14F-4D97-AF65-F5344CB8AC3E}">
        <p14:creationId xmlns:p14="http://schemas.microsoft.com/office/powerpoint/2010/main" val="115669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303A-3855-BA5F-1F1D-7A9CAAB6A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A6EE4-1280-406A-4E04-1DD9E1F95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46A3B-1985-9A45-59EB-993D1E8468BA}"/>
              </a:ext>
            </a:extLst>
          </p:cNvPr>
          <p:cNvSpPr>
            <a:spLocks noGrp="1"/>
          </p:cNvSpPr>
          <p:nvPr>
            <p:ph type="body" idx="1"/>
          </p:nvPr>
        </p:nvSpPr>
        <p:spPr/>
        <p:txBody>
          <a:bodyPr/>
          <a:lstStyle/>
          <a:p>
            <a:r>
              <a:rPr lang="en-US"/>
              <a:t>So, </a:t>
            </a:r>
            <a:r>
              <a:rPr lang="en-US" b="1"/>
              <a:t>how is validation normally performed</a:t>
            </a:r>
            <a:r>
              <a:rPr lang="en-US"/>
              <a:t>?</a:t>
            </a:r>
          </a:p>
          <a:p>
            <a:r>
              <a:rPr lang="en-US" b="1"/>
              <a:t>Classical workflow validation operates directly on event logs</a:t>
            </a:r>
            <a:r>
              <a:rPr lang="en-US"/>
              <a:t> and case-based traces.</a:t>
            </a:r>
          </a:p>
          <a:p>
            <a:r>
              <a:rPr lang="en-US"/>
              <a:t>It can check things such as the order of activities, timestamps, resources, roles, and other event attributes.</a:t>
            </a:r>
          </a:p>
          <a:p>
            <a:r>
              <a:rPr lang="en-US"/>
              <a:t>Using </a:t>
            </a:r>
            <a:r>
              <a:rPr lang="en-US" b="1"/>
              <a:t>procedural logic and event correlation</a:t>
            </a:r>
            <a:r>
              <a:rPr lang="en-US"/>
              <a:t>, it </a:t>
            </a:r>
            <a:r>
              <a:rPr lang="en-US" b="1"/>
              <a:t>reconstructs</a:t>
            </a:r>
            <a:r>
              <a:rPr lang="en-US"/>
              <a:t> the relationships between events and </a:t>
            </a:r>
            <a:r>
              <a:rPr lang="en-US" b="1"/>
              <a:t>identifies violations </a:t>
            </a:r>
            <a:r>
              <a:rPr lang="en-US"/>
              <a:t>of the expected workflow behavior.</a:t>
            </a:r>
          </a:p>
          <a:p>
            <a:r>
              <a:rPr lang="en-US"/>
              <a:t>This </a:t>
            </a:r>
            <a:r>
              <a:rPr lang="en-US" b="1"/>
              <a:t>works well for structural correctness and standard control-flow constraints</a:t>
            </a:r>
            <a:r>
              <a:rPr lang="en-US"/>
              <a:t>.</a:t>
            </a:r>
          </a:p>
          <a:p>
            <a:endParaRPr lang="en-US"/>
          </a:p>
          <a:p>
            <a:r>
              <a:rPr lang="en-US"/>
              <a:t>However, there is a </a:t>
            </a:r>
            <a:r>
              <a:rPr lang="en-US" b="1"/>
              <a:t>limitation</a:t>
            </a:r>
            <a:r>
              <a:rPr lang="en-US"/>
              <a:t>.</a:t>
            </a:r>
          </a:p>
          <a:p>
            <a:r>
              <a:rPr lang="en-US"/>
              <a:t>When the validation requires more </a:t>
            </a:r>
            <a:r>
              <a:rPr lang="en-US" b="1"/>
              <a:t>complex relational checks, multi-step dependency paths, or constraints </a:t>
            </a:r>
            <a:r>
              <a:rPr lang="en-US"/>
              <a:t>involving attributes and provenance, we often </a:t>
            </a:r>
            <a:r>
              <a:rPr lang="en-US" b="1"/>
              <a:t>need procedural reconstruction of those relationships.</a:t>
            </a:r>
          </a:p>
          <a:p>
            <a:endParaRPr lang="en-US"/>
          </a:p>
          <a:p>
            <a:r>
              <a:rPr lang="en-US"/>
              <a:t>And this is where we see an </a:t>
            </a:r>
            <a:r>
              <a:rPr lang="en-US" b="1"/>
              <a:t>opportunity for a knowledge graph-based approach</a:t>
            </a:r>
            <a:r>
              <a:rPr lang="en-US"/>
              <a:t>.</a:t>
            </a:r>
          </a:p>
        </p:txBody>
      </p:sp>
      <p:sp>
        <p:nvSpPr>
          <p:cNvPr id="4" name="Slide Number Placeholder 3">
            <a:extLst>
              <a:ext uri="{FF2B5EF4-FFF2-40B4-BE49-F238E27FC236}">
                <a16:creationId xmlns:a16="http://schemas.microsoft.com/office/drawing/2014/main" id="{71BDF611-EE8E-CF50-E7B0-3EA7BE2FA85D}"/>
              </a:ext>
            </a:extLst>
          </p:cNvPr>
          <p:cNvSpPr>
            <a:spLocks noGrp="1"/>
          </p:cNvSpPr>
          <p:nvPr>
            <p:ph type="sldNum" sz="quarter" idx="10"/>
          </p:nvPr>
        </p:nvSpPr>
        <p:spPr/>
        <p:txBody>
          <a:bodyPr/>
          <a:lstStyle/>
          <a:p>
            <a:fld id="{3BC7FB8B-CF41-4778-B0F3-F49F4DE36C6E}" type="slidenum">
              <a:rPr lang="en-US" smtClean="0"/>
              <a:t>4</a:t>
            </a:fld>
            <a:endParaRPr lang="en-US"/>
          </a:p>
        </p:txBody>
      </p:sp>
    </p:spTree>
    <p:extLst>
      <p:ext uri="{BB962C8B-B14F-4D97-AF65-F5344CB8AC3E}">
        <p14:creationId xmlns:p14="http://schemas.microsoft.com/office/powerpoint/2010/main" val="1632681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4FBFB-98A2-95CD-22CD-516DE6E3A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DC980-DF8F-8912-59D4-EA7DBA53C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1DA50-D955-26E9-FCD1-B14EB4F21DEC}"/>
              </a:ext>
            </a:extLst>
          </p:cNvPr>
          <p:cNvSpPr>
            <a:spLocks noGrp="1"/>
          </p:cNvSpPr>
          <p:nvPr>
            <p:ph type="body" idx="1"/>
          </p:nvPr>
        </p:nvSpPr>
        <p:spPr/>
        <p:txBody>
          <a:bodyPr/>
          <a:lstStyle/>
          <a:p>
            <a:r>
              <a:rPr lang="en-US"/>
              <a:t>So, this leads to our main question:</a:t>
            </a:r>
          </a:p>
          <a:p>
            <a:r>
              <a:rPr lang="en-US" b="1"/>
              <a:t>What if we represented the workflow execution itself as a knowledge graph?</a:t>
            </a:r>
            <a:endParaRPr lang="en-US"/>
          </a:p>
          <a:p>
            <a:r>
              <a:rPr lang="en-US"/>
              <a:t>Instead of treating the execution as primarily a sequence of events, we represent the activities, cases, agents, roles, and attributes as interconnected entities.</a:t>
            </a:r>
          </a:p>
          <a:p>
            <a:r>
              <a:rPr lang="en-US"/>
              <a:t>Then, instead of implementing every validation condition through procedural logic, we can </a:t>
            </a:r>
            <a:r>
              <a:rPr lang="en-US" b="1"/>
              <a:t>express the validation rules as graph patterns</a:t>
            </a:r>
            <a:r>
              <a:rPr lang="en-US"/>
              <a:t>.</a:t>
            </a:r>
          </a:p>
          <a:p>
            <a:r>
              <a:rPr lang="en-US"/>
              <a:t>This also allows us to </a:t>
            </a:r>
            <a:r>
              <a:rPr lang="en-US" b="1"/>
              <a:t>follow relationships across multiple steps of the workflow.</a:t>
            </a:r>
          </a:p>
          <a:p>
            <a:endParaRPr lang="en-US"/>
          </a:p>
          <a:p>
            <a:r>
              <a:rPr lang="en-US"/>
              <a:t>For example, consider a </a:t>
            </a:r>
            <a:r>
              <a:rPr lang="en-US" b="1"/>
              <a:t>general payment workflow</a:t>
            </a:r>
            <a:r>
              <a:rPr lang="en-US"/>
              <a:t>:</a:t>
            </a:r>
          </a:p>
          <a:p>
            <a:r>
              <a:rPr lang="en-US" b="1"/>
              <a:t>employee submission → pre-approval → final approval → payment request → payment</a:t>
            </a:r>
            <a:r>
              <a:rPr lang="en-US"/>
              <a:t>.</a:t>
            </a:r>
          </a:p>
          <a:p>
            <a:r>
              <a:rPr lang="en-US"/>
              <a:t>The key question is whether the final payment is actually supported by </a:t>
            </a:r>
            <a:r>
              <a:rPr lang="en-US" b="1"/>
              <a:t>all the required previous steps</a:t>
            </a:r>
            <a:r>
              <a:rPr lang="en-US"/>
              <a:t>.</a:t>
            </a:r>
          </a:p>
          <a:p>
            <a:endParaRPr lang="en-US"/>
          </a:p>
          <a:p>
            <a:r>
              <a:rPr lang="en-US"/>
              <a:t>Simply checking for an approval before the payment is not enough, because the required payment request could still be missing.</a:t>
            </a:r>
          </a:p>
          <a:p>
            <a:r>
              <a:rPr lang="en-US"/>
              <a:t>This is where the knowledge graph helps. It allows us to verify that the payment is connected to a valid </a:t>
            </a:r>
            <a:r>
              <a:rPr lang="en-US" b="1"/>
              <a:t>request, approval, and original submission within the same case</a:t>
            </a:r>
            <a:r>
              <a:rPr lang="en-US"/>
              <a:t>.</a:t>
            </a:r>
          </a:p>
          <a:p>
            <a:endParaRPr lang="en-US"/>
          </a:p>
          <a:p>
            <a:r>
              <a:rPr lang="en-US"/>
              <a:t>This is what we mean by a </a:t>
            </a:r>
            <a:r>
              <a:rPr lang="en-US" b="1"/>
              <a:t>multi-hop action</a:t>
            </a:r>
            <a:r>
              <a:rPr lang="en-US"/>
              <a:t>: following a chain of relationships across multiple steps, rather than checking only a direct connection.</a:t>
            </a:r>
          </a:p>
          <a:p>
            <a:r>
              <a:rPr lang="en-US"/>
              <a:t>So, the main idea is that </a:t>
            </a:r>
            <a:r>
              <a:rPr lang="en-US" b="1"/>
              <a:t>multi-hop dependencies are easier to express and validate when event logs are represented as a connected knowledge graph</a:t>
            </a:r>
            <a:r>
              <a:rPr lang="en-US"/>
              <a:t>.</a:t>
            </a:r>
          </a:p>
        </p:txBody>
      </p:sp>
      <p:sp>
        <p:nvSpPr>
          <p:cNvPr id="4" name="Slide Number Placeholder 3">
            <a:extLst>
              <a:ext uri="{FF2B5EF4-FFF2-40B4-BE49-F238E27FC236}">
                <a16:creationId xmlns:a16="http://schemas.microsoft.com/office/drawing/2014/main" id="{3742F888-7FE6-C3F0-C342-6499263693CB}"/>
              </a:ext>
            </a:extLst>
          </p:cNvPr>
          <p:cNvSpPr>
            <a:spLocks noGrp="1"/>
          </p:cNvSpPr>
          <p:nvPr>
            <p:ph type="sldNum" sz="quarter" idx="10"/>
          </p:nvPr>
        </p:nvSpPr>
        <p:spPr/>
        <p:txBody>
          <a:bodyPr/>
          <a:lstStyle/>
          <a:p>
            <a:fld id="{3BC7FB8B-CF41-4778-B0F3-F49F4DE36C6E}" type="slidenum">
              <a:rPr lang="en-US" smtClean="0"/>
              <a:t>5</a:t>
            </a:fld>
            <a:endParaRPr lang="en-US"/>
          </a:p>
        </p:txBody>
      </p:sp>
    </p:spTree>
    <p:extLst>
      <p:ext uri="{BB962C8B-B14F-4D97-AF65-F5344CB8AC3E}">
        <p14:creationId xmlns:p14="http://schemas.microsoft.com/office/powerpoint/2010/main" val="3405568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6A531-407E-A463-6D5F-D16E1ECB0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7AFC49-B649-1675-C382-3979735AD4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20617-5A2B-F426-CB72-99B04FA9627B}"/>
              </a:ext>
            </a:extLst>
          </p:cNvPr>
          <p:cNvSpPr>
            <a:spLocks noGrp="1"/>
          </p:cNvSpPr>
          <p:nvPr>
            <p:ph type="body" idx="1"/>
          </p:nvPr>
        </p:nvSpPr>
        <p:spPr/>
        <p:txBody>
          <a:bodyPr/>
          <a:lstStyle/>
          <a:p>
            <a:r>
              <a:rPr lang="en-US"/>
              <a:t>Now, the question is: </a:t>
            </a:r>
            <a:r>
              <a:rPr lang="en-US" b="1"/>
              <a:t>how do we actually move from an XES event log to a knowledge graph?</a:t>
            </a:r>
          </a:p>
          <a:p>
            <a:r>
              <a:rPr lang="en-US"/>
              <a:t>We map the main </a:t>
            </a:r>
            <a:r>
              <a:rPr lang="en-US" b="1"/>
              <a:t>XES concepts to PROV-aligned </a:t>
            </a:r>
            <a:r>
              <a:rPr lang="en-US"/>
              <a:t>entities.</a:t>
            </a:r>
          </a:p>
          <a:p>
            <a:endParaRPr lang="en-US" sz="1200" b="0" i="0" kern="1200">
              <a:solidFill>
                <a:schemeClr val="tx1"/>
              </a:solidFill>
              <a:effectLst/>
              <a:latin typeface="+mn-lt"/>
              <a:ea typeface="+mn-ea"/>
              <a:cs typeface="+mn-cs"/>
            </a:endParaRPr>
          </a:p>
          <a:p>
            <a:r>
              <a:rPr lang="en-US"/>
              <a:t>A trace, or case, becomes an entity representing the workflow execution.</a:t>
            </a:r>
          </a:p>
          <a:p>
            <a:r>
              <a:rPr lang="en-US"/>
              <a:t>Each event becomes a PROV activity.</a:t>
            </a:r>
          </a:p>
          <a:p>
            <a:r>
              <a:rPr lang="en-US"/>
              <a:t>And the resource or role associated with an event is represented as an agent.</a:t>
            </a:r>
          </a:p>
          <a:p>
            <a:r>
              <a:rPr lang="en-US"/>
              <a:t>We also </a:t>
            </a:r>
            <a:r>
              <a:rPr lang="en-US" b="1"/>
              <a:t>preserve the temporal and relational information</a:t>
            </a:r>
            <a:r>
              <a:rPr lang="en-US"/>
              <a:t>.</a:t>
            </a:r>
          </a:p>
          <a:p>
            <a:r>
              <a:rPr lang="en-US"/>
              <a:t>For example, event ordering is represented through </a:t>
            </a:r>
            <a:r>
              <a:rPr lang="en-US" sz="1200" kern="1200">
                <a:solidFill>
                  <a:schemeClr val="tx1"/>
                </a:solidFill>
                <a:latin typeface="+mn-lt"/>
                <a:ea typeface="+mn-ea"/>
                <a:cs typeface="+mn-cs"/>
              </a:rPr>
              <a:t>prov:</a:t>
            </a:r>
            <a:r>
              <a:rPr lang="en-US" sz="1200" b="1" kern="1200">
                <a:solidFill>
                  <a:schemeClr val="tx1"/>
                </a:solidFill>
                <a:latin typeface="+mn-lt"/>
                <a:ea typeface="+mn-ea"/>
                <a:cs typeface="+mn-cs"/>
              </a:rPr>
              <a:t>wasInformedBy</a:t>
            </a:r>
            <a:r>
              <a:rPr lang="en-US"/>
              <a:t>, while the relationship between an event and its case is explicitly represented through </a:t>
            </a:r>
            <a:r>
              <a:rPr lang="en-US" sz="1200" kern="1200">
                <a:solidFill>
                  <a:schemeClr val="tx1"/>
                </a:solidFill>
                <a:latin typeface="+mn-lt"/>
                <a:ea typeface="+mn-ea"/>
                <a:cs typeface="+mn-cs"/>
              </a:rPr>
              <a:t>wf:</a:t>
            </a:r>
            <a:r>
              <a:rPr lang="en-US" sz="1200" b="1" kern="1200">
                <a:solidFill>
                  <a:schemeClr val="tx1"/>
                </a:solidFill>
                <a:latin typeface="+mn-lt"/>
                <a:ea typeface="+mn-ea"/>
                <a:cs typeface="+mn-cs"/>
              </a:rPr>
              <a:t>belongsToCase</a:t>
            </a:r>
            <a:r>
              <a:rPr lang="en-US"/>
              <a:t>.</a:t>
            </a:r>
          </a:p>
          <a:p>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The mapping is intentionally lightweight and validation-oriented</a:t>
            </a:r>
            <a:r>
              <a:rPr lang="en-US" sz="1200" b="0" i="0" kern="1200">
                <a:solidFill>
                  <a:schemeClr val="tx1"/>
                </a:solidFill>
                <a:effectLst/>
                <a:latin typeface="+mn-lt"/>
                <a:ea typeface="+mn-ea"/>
                <a:cs typeface="+mn-cs"/>
              </a:rPr>
              <a:t>. Existing studies primarily investigate how workflow or event data</a:t>
            </a:r>
            <a:r>
              <a:rPr lang="el-GR"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can be represented, enriched, or verified structurally. Our contribution is to use a PROV-aligned knowledge graph as a reusable validation substrate .</a:t>
            </a:r>
          </a:p>
        </p:txBody>
      </p:sp>
      <p:sp>
        <p:nvSpPr>
          <p:cNvPr id="4" name="Slide Number Placeholder 3">
            <a:extLst>
              <a:ext uri="{FF2B5EF4-FFF2-40B4-BE49-F238E27FC236}">
                <a16:creationId xmlns:a16="http://schemas.microsoft.com/office/drawing/2014/main" id="{995C1402-738E-4D88-2015-03C70D87443F}"/>
              </a:ext>
            </a:extLst>
          </p:cNvPr>
          <p:cNvSpPr>
            <a:spLocks noGrp="1"/>
          </p:cNvSpPr>
          <p:nvPr>
            <p:ph type="sldNum" sz="quarter" idx="10"/>
          </p:nvPr>
        </p:nvSpPr>
        <p:spPr/>
        <p:txBody>
          <a:bodyPr/>
          <a:lstStyle/>
          <a:p>
            <a:fld id="{3BC7FB8B-CF41-4778-B0F3-F49F4DE36C6E}" type="slidenum">
              <a:rPr lang="en-US" smtClean="0"/>
              <a:t>6</a:t>
            </a:fld>
            <a:endParaRPr lang="en-US"/>
          </a:p>
        </p:txBody>
      </p:sp>
    </p:spTree>
    <p:extLst>
      <p:ext uri="{BB962C8B-B14F-4D97-AF65-F5344CB8AC3E}">
        <p14:creationId xmlns:p14="http://schemas.microsoft.com/office/powerpoint/2010/main" val="3707323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5BFC-671B-CF71-6CD7-B6AE7AB81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68E53-0173-94E7-54E6-19D3FF3A9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7564C-53E5-EBB4-3109-C6559E0FF433}"/>
              </a:ext>
            </a:extLst>
          </p:cNvPr>
          <p:cNvSpPr>
            <a:spLocks noGrp="1"/>
          </p:cNvSpPr>
          <p:nvPr>
            <p:ph type="body" idx="1"/>
          </p:nvPr>
        </p:nvSpPr>
        <p:spPr/>
        <p:txBody>
          <a:bodyPr/>
          <a:lstStyle/>
          <a:p>
            <a:r>
              <a:rPr lang="en-US"/>
              <a:t>Based on this idea, we formulated four research questions.</a:t>
            </a:r>
          </a:p>
          <a:p>
            <a:r>
              <a:rPr lang="en-US"/>
              <a:t>First, we want to know </a:t>
            </a:r>
            <a:r>
              <a:rPr lang="en-US" b="1"/>
              <a:t>how effectively XES logs can be transformed into validation-ready PROV knowledge graphs</a:t>
            </a:r>
            <a:r>
              <a:rPr lang="en-US"/>
              <a:t>.</a:t>
            </a:r>
          </a:p>
          <a:p>
            <a:r>
              <a:rPr lang="en-US"/>
              <a:t>Second, </a:t>
            </a:r>
            <a:r>
              <a:rPr lang="en-US" b="1"/>
              <a:t>whether these knowledge graphs can actually detect different types of workflow violations through graph-based validation rules</a:t>
            </a:r>
            <a:r>
              <a:rPr lang="en-US"/>
              <a:t>.</a:t>
            </a:r>
          </a:p>
          <a:p>
            <a:r>
              <a:rPr lang="en-US"/>
              <a:t>Third, we investigate the performance cost: specifically, </a:t>
            </a:r>
            <a:r>
              <a:rPr lang="en-US" b="1"/>
              <a:t>the cost of constructing the knowledge graph and performing SPARQL-based validation</a:t>
            </a:r>
            <a:r>
              <a:rPr lang="en-US"/>
              <a:t>.</a:t>
            </a:r>
          </a:p>
          <a:p>
            <a:r>
              <a:rPr lang="en-US"/>
              <a:t>And finally, </a:t>
            </a:r>
            <a:r>
              <a:rPr lang="en-US" b="0"/>
              <a:t>we</a:t>
            </a:r>
            <a:r>
              <a:rPr lang="en-US" b="1"/>
              <a:t> compare the KG-based approach with classical log-based validation</a:t>
            </a:r>
            <a:r>
              <a:rPr lang="en-US"/>
              <a:t>.</a:t>
            </a:r>
          </a:p>
          <a:p>
            <a:r>
              <a:rPr lang="en-US"/>
              <a:t>So overall, we are looking at </a:t>
            </a:r>
            <a:r>
              <a:rPr lang="en-US" b="1"/>
              <a:t>construction, correctness, performance, and comparison with existing validation approaches</a:t>
            </a:r>
            <a:r>
              <a:rPr lang="en-US"/>
              <a:t>.</a:t>
            </a:r>
          </a:p>
        </p:txBody>
      </p:sp>
      <p:sp>
        <p:nvSpPr>
          <p:cNvPr id="4" name="Slide Number Placeholder 3">
            <a:extLst>
              <a:ext uri="{FF2B5EF4-FFF2-40B4-BE49-F238E27FC236}">
                <a16:creationId xmlns:a16="http://schemas.microsoft.com/office/drawing/2014/main" id="{69C8517C-EE05-FE84-A2F1-F5C86EEFD0A5}"/>
              </a:ext>
            </a:extLst>
          </p:cNvPr>
          <p:cNvSpPr>
            <a:spLocks noGrp="1"/>
          </p:cNvSpPr>
          <p:nvPr>
            <p:ph type="sldNum" sz="quarter" idx="10"/>
          </p:nvPr>
        </p:nvSpPr>
        <p:spPr/>
        <p:txBody>
          <a:bodyPr/>
          <a:lstStyle/>
          <a:p>
            <a:fld id="{3BC7FB8B-CF41-4778-B0F3-F49F4DE36C6E}" type="slidenum">
              <a:rPr lang="en-US" smtClean="0"/>
              <a:t>7</a:t>
            </a:fld>
            <a:endParaRPr lang="en-US"/>
          </a:p>
        </p:txBody>
      </p:sp>
    </p:spTree>
    <p:extLst>
      <p:ext uri="{BB962C8B-B14F-4D97-AF65-F5344CB8AC3E}">
        <p14:creationId xmlns:p14="http://schemas.microsoft.com/office/powerpoint/2010/main" val="3804421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132DC-ADEB-C01A-EC30-98FC4413FC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824A5-DEE8-B10E-32BE-31F4BD1C3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9B038-5189-7C41-5F0B-D045AE191201}"/>
              </a:ext>
            </a:extLst>
          </p:cNvPr>
          <p:cNvSpPr>
            <a:spLocks noGrp="1"/>
          </p:cNvSpPr>
          <p:nvPr>
            <p:ph type="body" idx="1"/>
          </p:nvPr>
        </p:nvSpPr>
        <p:spPr/>
        <p:txBody>
          <a:bodyPr/>
          <a:lstStyle/>
          <a:p>
            <a:r>
              <a:rPr lang="en-US"/>
              <a:t>For the evaluation, we used the </a:t>
            </a:r>
            <a:r>
              <a:rPr lang="en-US" b="1"/>
              <a:t>BPI Challenge 2020 Domestic Declarations</a:t>
            </a:r>
            <a:r>
              <a:rPr lang="en-US"/>
              <a:t> event log.</a:t>
            </a:r>
          </a:p>
          <a:p>
            <a:r>
              <a:rPr lang="en-US"/>
              <a:t>It contains around </a:t>
            </a:r>
            <a:r>
              <a:rPr lang="en-US" b="1"/>
              <a:t>10,500 traces </a:t>
            </a:r>
            <a:r>
              <a:rPr lang="en-US"/>
              <a:t>and more than </a:t>
            </a:r>
            <a:r>
              <a:rPr lang="en-US" b="1"/>
              <a:t>56,000 events</a:t>
            </a:r>
            <a:r>
              <a:rPr lang="en-US"/>
              <a:t>, covering a period of two years.</a:t>
            </a:r>
          </a:p>
          <a:p>
            <a:r>
              <a:rPr lang="en-US"/>
              <a:t>From the approximately 1.54 megabyte XES file, our generated knowledge graph contains around </a:t>
            </a:r>
            <a:r>
              <a:rPr lang="en-US" b="1"/>
              <a:t>850,000 RDF triples</a:t>
            </a:r>
            <a:r>
              <a:rPr lang="en-US"/>
              <a:t>.</a:t>
            </a:r>
          </a:p>
          <a:p>
            <a:r>
              <a:rPr lang="en-US"/>
              <a:t>To evaluate the validation rules, we used </a:t>
            </a:r>
            <a:r>
              <a:rPr lang="en-US" b="1"/>
              <a:t>fault injection</a:t>
            </a:r>
            <a:r>
              <a:rPr lang="en-US"/>
              <a:t>.</a:t>
            </a:r>
          </a:p>
          <a:p>
            <a:r>
              <a:rPr lang="en-US"/>
              <a:t>For rules </a:t>
            </a:r>
            <a:r>
              <a:rPr lang="en-US" b="1"/>
              <a:t>R1 to R4</a:t>
            </a:r>
            <a:r>
              <a:rPr lang="en-US"/>
              <a:t>, we introduced </a:t>
            </a:r>
            <a:r>
              <a:rPr lang="en-US" b="1"/>
              <a:t>mutations in the XES log before constructing the knowledge graph</a:t>
            </a:r>
            <a:r>
              <a:rPr lang="en-US"/>
              <a:t>, such as removing or exchanging events.</a:t>
            </a:r>
          </a:p>
          <a:p>
            <a:r>
              <a:rPr lang="en-US"/>
              <a:t>For </a:t>
            </a:r>
            <a:r>
              <a:rPr lang="en-US" b="1"/>
              <a:t>R5, R5B, and R6</a:t>
            </a:r>
            <a:r>
              <a:rPr lang="en-US"/>
              <a:t>, we introduced </a:t>
            </a:r>
            <a:r>
              <a:rPr lang="en-US" b="1"/>
              <a:t>mutations directly in the knowledge graph</a:t>
            </a:r>
            <a:r>
              <a:rPr lang="en-US"/>
              <a:t>, such as modifying roles or rewiring provenance relationships.</a:t>
            </a:r>
          </a:p>
          <a:p>
            <a:r>
              <a:rPr lang="en-US"/>
              <a:t>We injected </a:t>
            </a:r>
            <a:r>
              <a:rPr lang="en-US" b="1"/>
              <a:t>100 faults per rule </a:t>
            </a:r>
            <a:r>
              <a:rPr lang="en-US"/>
              <a:t>in the </a:t>
            </a:r>
            <a:r>
              <a:rPr lang="en-US" b="1"/>
              <a:t>isolated</a:t>
            </a:r>
            <a:r>
              <a:rPr lang="en-US"/>
              <a:t> setting, and </a:t>
            </a:r>
            <a:r>
              <a:rPr lang="en-US" b="1"/>
              <a:t>700 faults in total </a:t>
            </a:r>
            <a:r>
              <a:rPr lang="en-US"/>
              <a:t>for the </a:t>
            </a:r>
            <a:r>
              <a:rPr lang="en-US" b="1"/>
              <a:t>combined</a:t>
            </a:r>
            <a:r>
              <a:rPr lang="en-US"/>
              <a:t> setting.</a:t>
            </a:r>
          </a:p>
          <a:p>
            <a:r>
              <a:rPr lang="en-US"/>
              <a:t>The results reported here are </a:t>
            </a:r>
            <a:r>
              <a:rPr lang="en-US" b="1"/>
              <a:t>means over ten repetitions</a:t>
            </a:r>
            <a:r>
              <a:rPr lang="en-US"/>
              <a:t>, using a </a:t>
            </a:r>
            <a:r>
              <a:rPr lang="en-US" b="1"/>
              <a:t>fixed random seed</a:t>
            </a:r>
            <a:r>
              <a:rPr lang="en-US"/>
              <a:t>.</a:t>
            </a:r>
          </a:p>
        </p:txBody>
      </p:sp>
      <p:sp>
        <p:nvSpPr>
          <p:cNvPr id="4" name="Slide Number Placeholder 3">
            <a:extLst>
              <a:ext uri="{FF2B5EF4-FFF2-40B4-BE49-F238E27FC236}">
                <a16:creationId xmlns:a16="http://schemas.microsoft.com/office/drawing/2014/main" id="{C95AFC28-8A43-344D-FE2A-86B5720134A5}"/>
              </a:ext>
            </a:extLst>
          </p:cNvPr>
          <p:cNvSpPr>
            <a:spLocks noGrp="1"/>
          </p:cNvSpPr>
          <p:nvPr>
            <p:ph type="sldNum" sz="quarter" idx="10"/>
          </p:nvPr>
        </p:nvSpPr>
        <p:spPr/>
        <p:txBody>
          <a:bodyPr/>
          <a:lstStyle/>
          <a:p>
            <a:fld id="{3BC7FB8B-CF41-4778-B0F3-F49F4DE36C6E}" type="slidenum">
              <a:rPr lang="en-US" smtClean="0"/>
              <a:t>8</a:t>
            </a:fld>
            <a:endParaRPr lang="en-US"/>
          </a:p>
        </p:txBody>
      </p:sp>
    </p:spTree>
    <p:extLst>
      <p:ext uri="{BB962C8B-B14F-4D97-AF65-F5344CB8AC3E}">
        <p14:creationId xmlns:p14="http://schemas.microsoft.com/office/powerpoint/2010/main" val="1878428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5350F-BA8B-891E-B6F8-3AF271F63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DE09B-8812-ADBC-3DEE-9A644EB0B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7A345-F850-2DEB-12C1-BAE9755DDCAC}"/>
              </a:ext>
            </a:extLst>
          </p:cNvPr>
          <p:cNvSpPr>
            <a:spLocks noGrp="1"/>
          </p:cNvSpPr>
          <p:nvPr>
            <p:ph type="body" idx="1"/>
          </p:nvPr>
        </p:nvSpPr>
        <p:spPr/>
        <p:txBody>
          <a:bodyPr/>
          <a:lstStyle/>
          <a:p>
            <a:r>
              <a:rPr lang="en-US"/>
              <a:t>We then defined </a:t>
            </a:r>
            <a:r>
              <a:rPr lang="en-US" b="1"/>
              <a:t>six types of validation rules</a:t>
            </a:r>
            <a:r>
              <a:rPr lang="en-US"/>
              <a:t>.</a:t>
            </a:r>
          </a:p>
          <a:p>
            <a:r>
              <a:rPr lang="en-US"/>
              <a:t>The first four correspond to </a:t>
            </a:r>
            <a:r>
              <a:rPr lang="en-US" b="1"/>
              <a:t>standard control-flow constraints</a:t>
            </a:r>
            <a:r>
              <a:rPr lang="en-US"/>
              <a:t>.</a:t>
            </a:r>
          </a:p>
          <a:p>
            <a:r>
              <a:rPr lang="en-US"/>
              <a:t>R1 requires </a:t>
            </a:r>
            <a:r>
              <a:rPr lang="en-US" b="1"/>
              <a:t>at least one submission </a:t>
            </a:r>
            <a:r>
              <a:rPr lang="en-US"/>
              <a:t>in every trace.</a:t>
            </a:r>
          </a:p>
          <a:p>
            <a:r>
              <a:rPr lang="en-US"/>
              <a:t>R2 requires every approval to </a:t>
            </a:r>
            <a:r>
              <a:rPr lang="en-US" b="1"/>
              <a:t>eventually be followed by </a:t>
            </a:r>
            <a:r>
              <a:rPr lang="en-US"/>
              <a:t>a payment request.</a:t>
            </a:r>
          </a:p>
          <a:p>
            <a:r>
              <a:rPr lang="en-US"/>
              <a:t>R3 requires every payment to </a:t>
            </a:r>
            <a:r>
              <a:rPr lang="en-US" b="1"/>
              <a:t>have an earlier </a:t>
            </a:r>
            <a:r>
              <a:rPr lang="en-US"/>
              <a:t>request.</a:t>
            </a:r>
          </a:p>
          <a:p>
            <a:r>
              <a:rPr lang="en-US"/>
              <a:t>And R4 combines these ideas, requiring a request to </a:t>
            </a:r>
            <a:r>
              <a:rPr lang="en-US" b="1"/>
              <a:t>eventually be followed by a payment, with the request occurring first.</a:t>
            </a:r>
          </a:p>
          <a:p>
            <a:endParaRPr lang="en-US"/>
          </a:p>
          <a:p>
            <a:r>
              <a:rPr lang="en-US"/>
              <a:t>Then we have three additional constraints that are particularly relevant to the knowledge graph approach.</a:t>
            </a:r>
          </a:p>
          <a:p>
            <a:r>
              <a:rPr lang="en-US"/>
              <a:t>R5 requires a payment to be </a:t>
            </a:r>
            <a:r>
              <a:rPr lang="en-US" b="1"/>
              <a:t>handled only by</a:t>
            </a:r>
            <a:r>
              <a:rPr lang="en-US"/>
              <a:t> the SYSTEM role.</a:t>
            </a:r>
          </a:p>
          <a:p>
            <a:r>
              <a:rPr lang="en-US"/>
              <a:t>R5B checks that an EMPLOYEE </a:t>
            </a:r>
            <a:r>
              <a:rPr lang="en-US" b="1"/>
              <a:t>role does not handle </a:t>
            </a:r>
            <a:r>
              <a:rPr lang="en-US"/>
              <a:t>a payment.</a:t>
            </a:r>
          </a:p>
          <a:p>
            <a:r>
              <a:rPr lang="en-US"/>
              <a:t>And R6 is a provenance-based rule: the payment </a:t>
            </a:r>
            <a:r>
              <a:rPr lang="en-US" b="1"/>
              <a:t>must be connected </a:t>
            </a:r>
            <a:r>
              <a:rPr lang="en-US"/>
              <a:t>through a </a:t>
            </a:r>
            <a:r>
              <a:rPr lang="en-US" sz="1200" kern="1200">
                <a:solidFill>
                  <a:schemeClr val="tx1"/>
                </a:solidFill>
                <a:latin typeface="+mn-lt"/>
                <a:ea typeface="+mn-ea"/>
                <a:cs typeface="+mn-cs"/>
              </a:rPr>
              <a:t>prov:wasInformedBy</a:t>
            </a:r>
            <a:r>
              <a:rPr lang="en-US"/>
              <a:t> path to a submission, approval, and request, while </a:t>
            </a:r>
            <a:r>
              <a:rPr lang="en-US" b="1"/>
              <a:t>allowing intermediate actions</a:t>
            </a:r>
            <a:r>
              <a:rPr lang="en-US"/>
              <a:t>.</a:t>
            </a:r>
          </a:p>
          <a:p>
            <a:endParaRPr lang="en-US"/>
          </a:p>
          <a:p>
            <a:r>
              <a:rPr lang="en-US"/>
              <a:t>The important distinction is that </a:t>
            </a:r>
            <a:r>
              <a:rPr lang="en-US" b="1"/>
              <a:t>R1 to R4 have equivalent DECLARE templates</a:t>
            </a:r>
            <a:r>
              <a:rPr lang="en-US"/>
              <a:t>, while </a:t>
            </a:r>
            <a:r>
              <a:rPr lang="en-US" b="1"/>
              <a:t>R5, R5B, and R6 are not expressible using the standard pm4py DECLARE</a:t>
            </a:r>
            <a:r>
              <a:rPr lang="en-US"/>
              <a:t> templates.</a:t>
            </a:r>
          </a:p>
        </p:txBody>
      </p:sp>
      <p:sp>
        <p:nvSpPr>
          <p:cNvPr id="4" name="Slide Number Placeholder 3">
            <a:extLst>
              <a:ext uri="{FF2B5EF4-FFF2-40B4-BE49-F238E27FC236}">
                <a16:creationId xmlns:a16="http://schemas.microsoft.com/office/drawing/2014/main" id="{B77BB119-57D1-05CE-D8B9-033DAB666969}"/>
              </a:ext>
            </a:extLst>
          </p:cNvPr>
          <p:cNvSpPr>
            <a:spLocks noGrp="1"/>
          </p:cNvSpPr>
          <p:nvPr>
            <p:ph type="sldNum" sz="quarter" idx="10"/>
          </p:nvPr>
        </p:nvSpPr>
        <p:spPr/>
        <p:txBody>
          <a:bodyPr/>
          <a:lstStyle/>
          <a:p>
            <a:fld id="{3BC7FB8B-CF41-4778-B0F3-F49F4DE36C6E}" type="slidenum">
              <a:rPr lang="en-US" smtClean="0"/>
              <a:t>9</a:t>
            </a:fld>
            <a:endParaRPr lang="en-US"/>
          </a:p>
        </p:txBody>
      </p:sp>
    </p:spTree>
    <p:extLst>
      <p:ext uri="{BB962C8B-B14F-4D97-AF65-F5344CB8AC3E}">
        <p14:creationId xmlns:p14="http://schemas.microsoft.com/office/powerpoint/2010/main" val="4050370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BD97D-E8FA-62F5-8397-A3F97F056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EFEFF-7299-0FC6-8D0E-95F75393A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5BBEC-7C3D-FE9D-46A6-AE04DD348A79}"/>
              </a:ext>
            </a:extLst>
          </p:cNvPr>
          <p:cNvSpPr>
            <a:spLocks noGrp="1"/>
          </p:cNvSpPr>
          <p:nvPr>
            <p:ph type="body" idx="1"/>
          </p:nvPr>
        </p:nvSpPr>
        <p:spPr/>
        <p:txBody>
          <a:bodyPr/>
          <a:lstStyle/>
          <a:p>
            <a:r>
              <a:rPr lang="en-US"/>
              <a:t>This is the overall </a:t>
            </a:r>
            <a:r>
              <a:rPr lang="en-US" b="1"/>
              <a:t>pipeline</a:t>
            </a:r>
            <a:r>
              <a:rPr lang="en-US"/>
              <a:t> of our approach.</a:t>
            </a:r>
          </a:p>
          <a:p>
            <a:r>
              <a:rPr lang="en-US"/>
              <a:t>We start with the </a:t>
            </a:r>
            <a:r>
              <a:rPr lang="en-US" b="1"/>
              <a:t>XES event log</a:t>
            </a:r>
            <a:r>
              <a:rPr lang="en-US"/>
              <a:t>, which contains the process executions, events, timestamps, activities, agents, and other XES attributes.</a:t>
            </a:r>
          </a:p>
          <a:p>
            <a:r>
              <a:rPr lang="en-US"/>
              <a:t>The first step is to </a:t>
            </a:r>
            <a:r>
              <a:rPr lang="en-US" b="1"/>
              <a:t>map this information into RDF</a:t>
            </a:r>
            <a:r>
              <a:rPr lang="en-US"/>
              <a:t>.</a:t>
            </a:r>
          </a:p>
          <a:p>
            <a:r>
              <a:rPr lang="en-US"/>
              <a:t>The </a:t>
            </a:r>
            <a:r>
              <a:rPr lang="en-US" b="1"/>
              <a:t>mapping is performed incrementally, trace by trace</a:t>
            </a:r>
            <a:r>
              <a:rPr lang="en-US"/>
              <a:t>, generating stable URIs and preserving missing attributes.</a:t>
            </a:r>
          </a:p>
          <a:p>
            <a:r>
              <a:rPr lang="en-US"/>
              <a:t>The result is the </a:t>
            </a:r>
            <a:r>
              <a:rPr lang="en-US" b="1"/>
              <a:t>provenance knowledge graph</a:t>
            </a:r>
            <a:r>
              <a:rPr lang="en-US"/>
              <a:t>.</a:t>
            </a:r>
          </a:p>
          <a:p>
            <a:r>
              <a:rPr lang="en-US"/>
              <a:t>Within the graph, event </a:t>
            </a:r>
            <a:r>
              <a:rPr lang="en-US" b="1"/>
              <a:t>ordering is represented using </a:t>
            </a:r>
            <a:r>
              <a:rPr lang="en-US" sz="1200" b="1" kern="1200">
                <a:solidFill>
                  <a:schemeClr val="tx1"/>
                </a:solidFill>
                <a:latin typeface="+mn-lt"/>
                <a:ea typeface="+mn-ea"/>
                <a:cs typeface="+mn-cs"/>
              </a:rPr>
              <a:t>prov:wasInformedBy</a:t>
            </a:r>
            <a:r>
              <a:rPr lang="en-US"/>
              <a:t>, while case membership is represented using </a:t>
            </a:r>
            <a:r>
              <a:rPr lang="en-US" sz="1200" kern="1200">
                <a:solidFill>
                  <a:schemeClr val="tx1"/>
                </a:solidFill>
                <a:latin typeface="+mn-lt"/>
                <a:ea typeface="+mn-ea"/>
                <a:cs typeface="+mn-cs"/>
              </a:rPr>
              <a:t>wf:belongsToCase</a:t>
            </a:r>
            <a:r>
              <a:rPr lang="en-US"/>
              <a:t>.</a:t>
            </a:r>
          </a:p>
          <a:p>
            <a:r>
              <a:rPr lang="en-US"/>
              <a:t>We then </a:t>
            </a:r>
            <a:r>
              <a:rPr lang="en-US" b="1"/>
              <a:t>execute our six validation rules as SPARQL 1.1</a:t>
            </a:r>
            <a:r>
              <a:rPr lang="en-US"/>
              <a:t> queries using </a:t>
            </a:r>
            <a:r>
              <a:rPr lang="en-US" b="1"/>
              <a:t>Fuseki</a:t>
            </a:r>
            <a:r>
              <a:rPr lang="en-US"/>
              <a:t>.</a:t>
            </a:r>
          </a:p>
          <a:p>
            <a:r>
              <a:rPr lang="en-US"/>
              <a:t>The queries </a:t>
            </a:r>
            <a:r>
              <a:rPr lang="en-US" b="1"/>
              <a:t>identify the violations and return the entities involved</a:t>
            </a:r>
            <a:r>
              <a:rPr lang="en-US"/>
              <a:t>.</a:t>
            </a:r>
          </a:p>
          <a:p>
            <a:r>
              <a:rPr lang="en-US"/>
              <a:t>Finally, the detected violations are </a:t>
            </a:r>
            <a:r>
              <a:rPr lang="en-US" b="1"/>
              <a:t>exported as a structured JSON report</a:t>
            </a:r>
            <a:r>
              <a:rPr lang="en-US"/>
              <a:t>, which can then be used for further analysis.</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implementation 2 uses rdflib for XES-to-KG conversion and Turtle serialization, Apache Jena Fuseki as a SPARQL 1.1 triple store for validation, the Python standard-library XML parser for XES files, and pyvis for optional visualization.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Log conversion is performed incrementally by processing one trace at a time and appending the generated RDF fragment to a Turtle document. This streaming strategy limits memory</a:t>
            </a:r>
            <a:br>
              <a:rPr lang="en-US"/>
            </a:br>
            <a:r>
              <a:rPr lang="en-US" sz="1200" b="0" i="0" kern="1200">
                <a:solidFill>
                  <a:schemeClr val="tx1"/>
                </a:solidFill>
                <a:effectLst/>
                <a:latin typeface="+mn-lt"/>
                <a:ea typeface="+mn-ea"/>
                <a:cs typeface="+mn-cs"/>
              </a:rPr>
              <a:t>consumption and enables efficient processing of large event logs. Stable URIs are generated for cases, activities, and agents, while XES attributes are represented as RDF literals. Event ordering is encoded through prov:wasInformedBy, and case membership through wf:belongsToCase. Missing attributes are preserved as absent values rather than being</a:t>
            </a:r>
            <a:br>
              <a:rPr lang="en-US"/>
            </a:br>
            <a:r>
              <a:rPr lang="en-US" sz="1200" b="0" i="0" kern="1200">
                <a:solidFill>
                  <a:schemeClr val="tx1"/>
                </a:solidFill>
                <a:effectLst/>
                <a:latin typeface="+mn-lt"/>
                <a:ea typeface="+mn-ea"/>
                <a:cs typeface="+mn-cs"/>
              </a:rPr>
              <a:t>imputed, allowing incomplete process executions to be identified during validation.</a:t>
            </a:r>
          </a:p>
          <a:p>
            <a:br>
              <a:rPr lang="en-US"/>
            </a:br>
            <a:r>
              <a:rPr lang="en-US" sz="1200" b="0" i="0" kern="1200">
                <a:solidFill>
                  <a:schemeClr val="tx1"/>
                </a:solidFill>
                <a:effectLst/>
                <a:latin typeface="+mn-lt"/>
                <a:ea typeface="+mn-ea"/>
                <a:cs typeface="+mn-cs"/>
              </a:rPr>
              <a:t>Validation is performed after uploading the generated Turtle graph into Fuseki via the Graph Store Protocol. Each rule is defined as a SPARQL SELECT that returns one result per detected violation together with the corresponding entities. All rules R1–R6 are executed exclusively as SPARQL queries on Fuseki. Rule R6 in particular uses prov:wasInformedBy property paths to check the submission–approval–request–payment chain. Validation results are exported as a JSON report.</a:t>
            </a:r>
            <a:endParaRPr lang="en-US" dirty="0"/>
          </a:p>
        </p:txBody>
      </p:sp>
      <p:sp>
        <p:nvSpPr>
          <p:cNvPr id="4" name="Slide Number Placeholder 3">
            <a:extLst>
              <a:ext uri="{FF2B5EF4-FFF2-40B4-BE49-F238E27FC236}">
                <a16:creationId xmlns:a16="http://schemas.microsoft.com/office/drawing/2014/main" id="{015E8600-4592-7DAC-1898-D8D7BAF8F13B}"/>
              </a:ext>
            </a:extLst>
          </p:cNvPr>
          <p:cNvSpPr>
            <a:spLocks noGrp="1"/>
          </p:cNvSpPr>
          <p:nvPr>
            <p:ph type="sldNum" sz="quarter" idx="10"/>
          </p:nvPr>
        </p:nvSpPr>
        <p:spPr/>
        <p:txBody>
          <a:bodyPr/>
          <a:lstStyle/>
          <a:p>
            <a:fld id="{3BC7FB8B-CF41-4778-B0F3-F49F4DE36C6E}" type="slidenum">
              <a:rPr lang="en-US" smtClean="0"/>
              <a:t>10</a:t>
            </a:fld>
            <a:endParaRPr lang="en-US"/>
          </a:p>
        </p:txBody>
      </p:sp>
    </p:spTree>
    <p:extLst>
      <p:ext uri="{BB962C8B-B14F-4D97-AF65-F5344CB8AC3E}">
        <p14:creationId xmlns:p14="http://schemas.microsoft.com/office/powerpoint/2010/main" val="2245927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B38E1-9618-5E7F-0846-09EEC5590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BA8D1-7EB6-17C0-7266-508B1DC2D5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60150-C786-F23F-2450-96418ECE493C}"/>
              </a:ext>
            </a:extLst>
          </p:cNvPr>
          <p:cNvSpPr>
            <a:spLocks noGrp="1"/>
          </p:cNvSpPr>
          <p:nvPr>
            <p:ph type="body" idx="1"/>
          </p:nvPr>
        </p:nvSpPr>
        <p:spPr/>
        <p:txBody>
          <a:bodyPr/>
          <a:lstStyle/>
          <a:p>
            <a:r>
              <a:rPr lang="en-US"/>
              <a:t>To </a:t>
            </a:r>
            <a:r>
              <a:rPr lang="en-US" b="1"/>
              <a:t>evaluate the approach</a:t>
            </a:r>
            <a:r>
              <a:rPr lang="en-US"/>
              <a:t>, we look at both performance and correctness.</a:t>
            </a:r>
          </a:p>
          <a:p>
            <a:r>
              <a:rPr lang="en-US"/>
              <a:t>For </a:t>
            </a:r>
            <a:r>
              <a:rPr lang="en-US" b="1"/>
              <a:t>performance</a:t>
            </a:r>
            <a:r>
              <a:rPr lang="en-US"/>
              <a:t>, we measure the </a:t>
            </a:r>
            <a:r>
              <a:rPr lang="en-US" b="1"/>
              <a:t>time required for validation</a:t>
            </a:r>
            <a:r>
              <a:rPr lang="en-US"/>
              <a:t>, as well as the </a:t>
            </a:r>
            <a:r>
              <a:rPr lang="en-US" b="1"/>
              <a:t>one-time cost</a:t>
            </a:r>
            <a:r>
              <a:rPr lang="en-US"/>
              <a:t> of constructing and loading the knowledge graph.</a:t>
            </a:r>
          </a:p>
          <a:p>
            <a:r>
              <a:rPr lang="en-US"/>
              <a:t>For </a:t>
            </a:r>
            <a:r>
              <a:rPr lang="en-US" b="1"/>
              <a:t>correctness</a:t>
            </a:r>
            <a:r>
              <a:rPr lang="en-US"/>
              <a:t>, we look at the </a:t>
            </a:r>
            <a:r>
              <a:rPr lang="en-US" b="1"/>
              <a:t>violated cases </a:t>
            </a:r>
            <a:r>
              <a:rPr lang="en-US"/>
              <a:t>and, more importantly, the </a:t>
            </a:r>
            <a:r>
              <a:rPr lang="en-US" b="1"/>
              <a:t>recall of the faults </a:t>
            </a:r>
            <a:r>
              <a:rPr lang="en-US"/>
              <a:t>that we injected into the data.</a:t>
            </a:r>
          </a:p>
          <a:p>
            <a:endParaRPr lang="en-US"/>
          </a:p>
          <a:p>
            <a:r>
              <a:rPr lang="en-US"/>
              <a:t>We evaluate this in two settings.</a:t>
            </a:r>
          </a:p>
          <a:p>
            <a:r>
              <a:rPr lang="en-US"/>
              <a:t>First, </a:t>
            </a:r>
            <a:r>
              <a:rPr lang="en-US" b="1"/>
              <a:t>an isolated setting, </a:t>
            </a:r>
            <a:r>
              <a:rPr lang="en-US" b="0"/>
              <a:t>where</a:t>
            </a:r>
            <a:r>
              <a:rPr lang="en-US" b="1"/>
              <a:t> each rule is evaluated independently</a:t>
            </a:r>
            <a:r>
              <a:rPr lang="en-US"/>
              <a:t>.</a:t>
            </a:r>
          </a:p>
          <a:p>
            <a:r>
              <a:rPr lang="en-US"/>
              <a:t>And second, </a:t>
            </a:r>
            <a:r>
              <a:rPr lang="en-US" b="1"/>
              <a:t>a combined setting, </a:t>
            </a:r>
            <a:r>
              <a:rPr lang="en-US" b="0"/>
              <a:t>where</a:t>
            </a:r>
            <a:r>
              <a:rPr lang="en-US" b="1"/>
              <a:t> all rules operate on the same artifact</a:t>
            </a:r>
            <a:r>
              <a:rPr lang="en-US"/>
              <a:t>. This allows us to see not only the individual performance of the rules, but also possible </a:t>
            </a:r>
            <a:r>
              <a:rPr lang="en-US" b="1"/>
              <a:t>interactions between them.</a:t>
            </a:r>
          </a:p>
          <a:p>
            <a:endParaRPr lang="en-US"/>
          </a:p>
          <a:p>
            <a:r>
              <a:rPr lang="en-US"/>
              <a:t>Finally, the experiment has two purposes: for rules </a:t>
            </a:r>
            <a:r>
              <a:rPr lang="en-US" b="1"/>
              <a:t>R1 to R4, we compare the KG approach with equivalent DECLARE</a:t>
            </a:r>
            <a:r>
              <a:rPr lang="en-US"/>
              <a:t> constraints. For </a:t>
            </a:r>
            <a:r>
              <a:rPr lang="en-US" b="1"/>
              <a:t>R5, R5B, and R6, we evaluate constraints that go beyond what standard DECLARE</a:t>
            </a:r>
            <a:r>
              <a:rPr lang="en-US"/>
              <a:t> templates can express.</a:t>
            </a:r>
          </a:p>
          <a:p>
            <a:endParaRPr lang="en-US"/>
          </a:p>
          <a:p>
            <a:r>
              <a:rPr lang="en-US"/>
              <a:t>So, what do we actually observe?</a:t>
            </a:r>
          </a:p>
        </p:txBody>
      </p:sp>
      <p:sp>
        <p:nvSpPr>
          <p:cNvPr id="4" name="Slide Number Placeholder 3">
            <a:extLst>
              <a:ext uri="{FF2B5EF4-FFF2-40B4-BE49-F238E27FC236}">
                <a16:creationId xmlns:a16="http://schemas.microsoft.com/office/drawing/2014/main" id="{FD1C0202-02BF-DFDE-3EDE-9DB5526F9D49}"/>
              </a:ext>
            </a:extLst>
          </p:cNvPr>
          <p:cNvSpPr>
            <a:spLocks noGrp="1"/>
          </p:cNvSpPr>
          <p:nvPr>
            <p:ph type="sldNum" sz="quarter" idx="10"/>
          </p:nvPr>
        </p:nvSpPr>
        <p:spPr/>
        <p:txBody>
          <a:bodyPr/>
          <a:lstStyle/>
          <a:p>
            <a:fld id="{3BC7FB8B-CF41-4778-B0F3-F49F4DE36C6E}" type="slidenum">
              <a:rPr lang="en-US" smtClean="0"/>
              <a:t>11</a:t>
            </a:fld>
            <a:endParaRPr lang="en-US"/>
          </a:p>
        </p:txBody>
      </p:sp>
    </p:spTree>
    <p:extLst>
      <p:ext uri="{BB962C8B-B14F-4D97-AF65-F5344CB8AC3E}">
        <p14:creationId xmlns:p14="http://schemas.microsoft.com/office/powerpoint/2010/main" val="1658448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9A04-222E-C1BE-829D-6F2147CD6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E1E24-66E6-E9E0-FB7C-56A2D1244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2D292-4101-3DDE-1690-F035C4EE6859}"/>
              </a:ext>
            </a:extLst>
          </p:cNvPr>
          <p:cNvSpPr>
            <a:spLocks noGrp="1"/>
          </p:cNvSpPr>
          <p:nvPr>
            <p:ph type="body" idx="1"/>
          </p:nvPr>
        </p:nvSpPr>
        <p:spPr/>
        <p:txBody>
          <a:bodyPr/>
          <a:lstStyle/>
          <a:p>
            <a:r>
              <a:rPr lang="en-US"/>
              <a:t>Let's first look at the </a:t>
            </a:r>
            <a:r>
              <a:rPr lang="en-US" b="1"/>
              <a:t>isolated</a:t>
            </a:r>
            <a:r>
              <a:rPr lang="en-US"/>
              <a:t> setting.</a:t>
            </a:r>
          </a:p>
          <a:p>
            <a:r>
              <a:rPr lang="en-US"/>
              <a:t>Here, we evaluated all </a:t>
            </a:r>
            <a:r>
              <a:rPr lang="en-US" b="1"/>
              <a:t>10,500 cases, with 100 injected faults for each rule</a:t>
            </a:r>
            <a:r>
              <a:rPr lang="en-US"/>
              <a:t>.</a:t>
            </a:r>
          </a:p>
          <a:p>
            <a:endParaRPr lang="en-US"/>
          </a:p>
          <a:p>
            <a:r>
              <a:rPr lang="en-US"/>
              <a:t>The first important result is that we achieved </a:t>
            </a:r>
            <a:r>
              <a:rPr lang="en-US" b="1"/>
              <a:t>100% injected-fault recall for every rule</a:t>
            </a:r>
            <a:r>
              <a:rPr lang="en-US"/>
              <a:t>.</a:t>
            </a:r>
          </a:p>
          <a:p>
            <a:r>
              <a:rPr lang="en-US"/>
              <a:t>In terms of </a:t>
            </a:r>
            <a:r>
              <a:rPr lang="en-US" b="1"/>
              <a:t>validation time</a:t>
            </a:r>
            <a:r>
              <a:rPr lang="en-US"/>
              <a:t>, the </a:t>
            </a:r>
            <a:r>
              <a:rPr lang="en-US" b="1"/>
              <a:t>KG</a:t>
            </a:r>
            <a:r>
              <a:rPr lang="en-US"/>
              <a:t> queries range from about </a:t>
            </a:r>
            <a:r>
              <a:rPr lang="en-US" b="1"/>
              <a:t>0.02 to 0.96 seconds per rule</a:t>
            </a:r>
            <a:r>
              <a:rPr lang="en-US"/>
              <a:t>.</a:t>
            </a:r>
          </a:p>
          <a:p>
            <a:r>
              <a:rPr lang="en-US"/>
              <a:t>For the equivalent </a:t>
            </a:r>
            <a:r>
              <a:rPr lang="en-US" b="1"/>
              <a:t>DECLARE</a:t>
            </a:r>
            <a:r>
              <a:rPr lang="en-US"/>
              <a:t> rules, validation takes </a:t>
            </a:r>
            <a:r>
              <a:rPr lang="en-US" b="0"/>
              <a:t>roughly</a:t>
            </a:r>
            <a:r>
              <a:rPr lang="en-US" b="1"/>
              <a:t> 2.25 to 2.28 seconds per rule</a:t>
            </a:r>
            <a:r>
              <a:rPr lang="en-US"/>
              <a:t>.</a:t>
            </a:r>
          </a:p>
          <a:p>
            <a:r>
              <a:rPr lang="en-US"/>
              <a:t>So, once the knowledge graph has been constructed, </a:t>
            </a:r>
            <a:r>
              <a:rPr lang="en-US" b="1"/>
              <a:t>KG-based</a:t>
            </a:r>
            <a:r>
              <a:rPr lang="en-US"/>
              <a:t> validation is between approximately </a:t>
            </a:r>
            <a:r>
              <a:rPr lang="en-US" b="1"/>
              <a:t>7 and 57 times faster</a:t>
            </a:r>
            <a:r>
              <a:rPr lang="en-US"/>
              <a:t>, depending on the rule.</a:t>
            </a:r>
          </a:p>
          <a:p>
            <a:endParaRPr lang="en-US"/>
          </a:p>
          <a:p>
            <a:r>
              <a:rPr lang="en-US"/>
              <a:t>However, there is an important </a:t>
            </a:r>
            <a:r>
              <a:rPr lang="en-US" b="1"/>
              <a:t>trade-off</a:t>
            </a:r>
            <a:r>
              <a:rPr lang="en-US"/>
              <a:t>.</a:t>
            </a:r>
          </a:p>
          <a:p>
            <a:r>
              <a:rPr lang="en-US"/>
              <a:t>The KG has a significant </a:t>
            </a:r>
            <a:r>
              <a:rPr lang="en-US" b="1"/>
              <a:t>one-time construction cost</a:t>
            </a:r>
            <a:r>
              <a:rPr lang="en-US"/>
              <a:t>: </a:t>
            </a:r>
            <a:r>
              <a:rPr lang="en-US" b="1"/>
              <a:t>conversion</a:t>
            </a:r>
            <a:r>
              <a:rPr lang="en-US"/>
              <a:t> takes between roughly </a:t>
            </a:r>
            <a:r>
              <a:rPr lang="en-US" b="1"/>
              <a:t>62 and 175 seconds</a:t>
            </a:r>
            <a:r>
              <a:rPr lang="en-US"/>
              <a:t>, followed by around </a:t>
            </a:r>
            <a:r>
              <a:rPr lang="en-US" b="1"/>
              <a:t>9 seconds for loading</a:t>
            </a:r>
            <a:r>
              <a:rPr lang="en-US"/>
              <a:t>.</a:t>
            </a:r>
          </a:p>
          <a:p>
            <a:endParaRPr lang="en-US"/>
          </a:p>
          <a:p>
            <a:r>
              <a:rPr lang="en-US"/>
              <a:t>So the main result here is that </a:t>
            </a:r>
            <a:r>
              <a:rPr lang="en-US" b="1"/>
              <a:t>KG validation has a higher setup cost, but substantially lower validation time afterward</a:t>
            </a:r>
            <a:r>
              <a:rPr lang="en-US"/>
              <a:t>.</a:t>
            </a:r>
          </a:p>
          <a:p>
            <a:r>
              <a:rPr lang="en-US"/>
              <a:t>And for </a:t>
            </a:r>
            <a:r>
              <a:rPr lang="en-US" b="1"/>
              <a:t>R5, R5B, and R6</a:t>
            </a:r>
            <a:r>
              <a:rPr lang="en-US"/>
              <a:t>, the comparison with </a:t>
            </a:r>
            <a:r>
              <a:rPr lang="en-US" b="1"/>
              <a:t>DECLARE is not available </a:t>
            </a:r>
            <a:r>
              <a:rPr lang="en-US"/>
              <a:t>because these constraints are not expressible using the standard templates.</a:t>
            </a:r>
          </a:p>
        </p:txBody>
      </p:sp>
      <p:sp>
        <p:nvSpPr>
          <p:cNvPr id="4" name="Slide Number Placeholder 3">
            <a:extLst>
              <a:ext uri="{FF2B5EF4-FFF2-40B4-BE49-F238E27FC236}">
                <a16:creationId xmlns:a16="http://schemas.microsoft.com/office/drawing/2014/main" id="{99339BDA-B180-5387-D6E2-91925E5DCA28}"/>
              </a:ext>
            </a:extLst>
          </p:cNvPr>
          <p:cNvSpPr>
            <a:spLocks noGrp="1"/>
          </p:cNvSpPr>
          <p:nvPr>
            <p:ph type="sldNum" sz="quarter" idx="10"/>
          </p:nvPr>
        </p:nvSpPr>
        <p:spPr/>
        <p:txBody>
          <a:bodyPr/>
          <a:lstStyle/>
          <a:p>
            <a:fld id="{3BC7FB8B-CF41-4778-B0F3-F49F4DE36C6E}" type="slidenum">
              <a:rPr lang="en-US" smtClean="0"/>
              <a:t>12</a:t>
            </a:fld>
            <a:endParaRPr lang="en-US"/>
          </a:p>
        </p:txBody>
      </p:sp>
    </p:spTree>
    <p:extLst>
      <p:ext uri="{BB962C8B-B14F-4D97-AF65-F5344CB8AC3E}">
        <p14:creationId xmlns:p14="http://schemas.microsoft.com/office/powerpoint/2010/main" val="3098021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DCE01-49D0-7615-2943-A802DFBFE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1FBDB-1391-1F9E-779A-337F3593E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E2DE6-8BB5-6E4A-0E83-E8F7275B560F}"/>
              </a:ext>
            </a:extLst>
          </p:cNvPr>
          <p:cNvSpPr>
            <a:spLocks noGrp="1"/>
          </p:cNvSpPr>
          <p:nvPr>
            <p:ph type="body" idx="1"/>
          </p:nvPr>
        </p:nvSpPr>
        <p:spPr/>
        <p:txBody>
          <a:bodyPr/>
          <a:lstStyle/>
          <a:p>
            <a:r>
              <a:rPr lang="en-US"/>
              <a:t>We then move to the </a:t>
            </a:r>
            <a:r>
              <a:rPr lang="en-US" b="1"/>
              <a:t>combined</a:t>
            </a:r>
            <a:r>
              <a:rPr lang="en-US"/>
              <a:t> setting.</a:t>
            </a:r>
          </a:p>
          <a:p>
            <a:r>
              <a:rPr lang="en-US"/>
              <a:t>Here, all rules are evaluated on the </a:t>
            </a:r>
            <a:r>
              <a:rPr lang="en-US" b="1"/>
              <a:t>same artifact</a:t>
            </a:r>
            <a:r>
              <a:rPr lang="en-US"/>
              <a:t>, with </a:t>
            </a:r>
            <a:r>
              <a:rPr lang="en-US" b="1"/>
              <a:t>700 faults </a:t>
            </a:r>
            <a:r>
              <a:rPr lang="en-US"/>
              <a:t>injected in total.</a:t>
            </a:r>
          </a:p>
          <a:p>
            <a:r>
              <a:rPr lang="en-US"/>
              <a:t>The resulting knowledge graph contains approximately </a:t>
            </a:r>
            <a:r>
              <a:rPr lang="en-US" b="1"/>
              <a:t>846,000 triples</a:t>
            </a:r>
            <a:r>
              <a:rPr lang="en-US"/>
              <a:t>.</a:t>
            </a:r>
          </a:p>
          <a:p>
            <a:endParaRPr lang="en-US"/>
          </a:p>
          <a:p>
            <a:r>
              <a:rPr lang="en-US"/>
              <a:t>The </a:t>
            </a:r>
            <a:r>
              <a:rPr lang="en-US" b="1"/>
              <a:t>conversion</a:t>
            </a:r>
            <a:r>
              <a:rPr lang="en-US"/>
              <a:t> took about </a:t>
            </a:r>
            <a:r>
              <a:rPr lang="en-US" b="1"/>
              <a:t>69 seconds</a:t>
            </a:r>
            <a:r>
              <a:rPr lang="en-US"/>
              <a:t>, </a:t>
            </a:r>
            <a:r>
              <a:rPr lang="en-US" b="1"/>
              <a:t>loading</a:t>
            </a:r>
            <a:r>
              <a:rPr lang="en-US"/>
              <a:t> about </a:t>
            </a:r>
            <a:r>
              <a:rPr lang="en-US" b="1"/>
              <a:t>9 seconds</a:t>
            </a:r>
            <a:r>
              <a:rPr lang="en-US"/>
              <a:t>, and the </a:t>
            </a:r>
            <a:r>
              <a:rPr lang="en-US" b="1"/>
              <a:t>average validation time </a:t>
            </a:r>
            <a:r>
              <a:rPr lang="en-US"/>
              <a:t>for the combined setting was approximately </a:t>
            </a:r>
            <a:r>
              <a:rPr lang="en-US" b="1"/>
              <a:t>1.8 seconds</a:t>
            </a:r>
            <a:r>
              <a:rPr lang="en-US"/>
              <a:t>.</a:t>
            </a:r>
          </a:p>
          <a:p>
            <a:r>
              <a:rPr lang="en-US"/>
              <a:t>Again, the </a:t>
            </a:r>
            <a:r>
              <a:rPr lang="en-US" b="1"/>
              <a:t>injected-fault recall </a:t>
            </a:r>
            <a:r>
              <a:rPr lang="en-US" b="0"/>
              <a:t>was</a:t>
            </a:r>
            <a:r>
              <a:rPr lang="en-US" b="1"/>
              <a:t> 1.00 </a:t>
            </a:r>
            <a:r>
              <a:rPr lang="en-US"/>
              <a:t>for every rule.</a:t>
            </a:r>
          </a:p>
          <a:p>
            <a:endParaRPr lang="en-US"/>
          </a:p>
          <a:p>
            <a:r>
              <a:rPr lang="en-US"/>
              <a:t>However, we can see </a:t>
            </a:r>
            <a:r>
              <a:rPr lang="en-US" b="1"/>
              <a:t>additional findings </a:t>
            </a:r>
            <a:r>
              <a:rPr lang="en-US"/>
              <a:t>compared with the isolated setting.</a:t>
            </a:r>
          </a:p>
          <a:p>
            <a:r>
              <a:rPr lang="en-US"/>
              <a:t>This happens because the </a:t>
            </a:r>
            <a:r>
              <a:rPr lang="en-US" b="1"/>
              <a:t>rules can interact with one another</a:t>
            </a:r>
            <a:r>
              <a:rPr lang="en-US"/>
              <a:t>.</a:t>
            </a:r>
          </a:p>
          <a:p>
            <a:r>
              <a:rPr lang="en-US"/>
              <a:t>For example, </a:t>
            </a:r>
            <a:r>
              <a:rPr lang="en-US" b="1"/>
              <a:t>one injected fault can cause a violation of more than one rule</a:t>
            </a:r>
            <a:r>
              <a:rPr lang="en-US"/>
              <a:t>.</a:t>
            </a:r>
          </a:p>
          <a:p>
            <a:r>
              <a:rPr lang="en-US"/>
              <a:t>Importantly, these additional findings </a:t>
            </a:r>
            <a:r>
              <a:rPr lang="en-US" b="1"/>
              <a:t>should not automatically be interpreted as false positives</a:t>
            </a:r>
            <a:r>
              <a:rPr lang="en-US"/>
              <a:t>. They may correspond to violations that already existed in the data or violations triggered by the interaction of the rules.</a:t>
            </a:r>
          </a:p>
        </p:txBody>
      </p:sp>
      <p:sp>
        <p:nvSpPr>
          <p:cNvPr id="4" name="Slide Number Placeholder 3">
            <a:extLst>
              <a:ext uri="{FF2B5EF4-FFF2-40B4-BE49-F238E27FC236}">
                <a16:creationId xmlns:a16="http://schemas.microsoft.com/office/drawing/2014/main" id="{79BCF094-642B-2F81-B697-3C3FEB6D8DDF}"/>
              </a:ext>
            </a:extLst>
          </p:cNvPr>
          <p:cNvSpPr>
            <a:spLocks noGrp="1"/>
          </p:cNvSpPr>
          <p:nvPr>
            <p:ph type="sldNum" sz="quarter" idx="10"/>
          </p:nvPr>
        </p:nvSpPr>
        <p:spPr/>
        <p:txBody>
          <a:bodyPr/>
          <a:lstStyle/>
          <a:p>
            <a:fld id="{3BC7FB8B-CF41-4778-B0F3-F49F4DE36C6E}" type="slidenum">
              <a:rPr lang="en-US" smtClean="0"/>
              <a:t>13</a:t>
            </a:fld>
            <a:endParaRPr lang="en-US"/>
          </a:p>
        </p:txBody>
      </p:sp>
    </p:spTree>
    <p:extLst>
      <p:ext uri="{BB962C8B-B14F-4D97-AF65-F5344CB8AC3E}">
        <p14:creationId xmlns:p14="http://schemas.microsoft.com/office/powerpoint/2010/main" val="1852444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C7BD0-A654-FCBF-D09E-B9599EA41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6890D-E464-7065-F96F-AE03B1B4D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75091-4A75-01DA-6E94-A8996CE6024D}"/>
              </a:ext>
            </a:extLst>
          </p:cNvPr>
          <p:cNvSpPr>
            <a:spLocks noGrp="1"/>
          </p:cNvSpPr>
          <p:nvPr>
            <p:ph type="body" idx="1"/>
          </p:nvPr>
        </p:nvSpPr>
        <p:spPr/>
        <p:txBody>
          <a:bodyPr/>
          <a:lstStyle/>
          <a:p>
            <a:r>
              <a:rPr lang="en-US"/>
              <a:t>So, what do these results tell us?</a:t>
            </a:r>
          </a:p>
          <a:p>
            <a:r>
              <a:rPr lang="en-US"/>
              <a:t>First, there is a clear </a:t>
            </a:r>
            <a:r>
              <a:rPr lang="en-US" b="1"/>
              <a:t>overhead</a:t>
            </a:r>
            <a:r>
              <a:rPr lang="en-US"/>
              <a:t> associated with </a:t>
            </a:r>
            <a:r>
              <a:rPr lang="en-US" b="1"/>
              <a:t>constructing</a:t>
            </a:r>
            <a:r>
              <a:rPr lang="en-US"/>
              <a:t> the knowledge graph.</a:t>
            </a:r>
          </a:p>
          <a:p>
            <a:r>
              <a:rPr lang="en-US"/>
              <a:t>However, once the graph exists, the </a:t>
            </a:r>
            <a:r>
              <a:rPr lang="en-US" b="1"/>
              <a:t>SPARQL validation</a:t>
            </a:r>
            <a:r>
              <a:rPr lang="en-US"/>
              <a:t> queries can be considerably </a:t>
            </a:r>
            <a:r>
              <a:rPr lang="en-US" b="1"/>
              <a:t>faster</a:t>
            </a:r>
            <a:r>
              <a:rPr lang="en-US"/>
              <a:t> than the equivalent DECLARE validation for the control-flow rules.</a:t>
            </a:r>
          </a:p>
          <a:p>
            <a:endParaRPr lang="en-US"/>
          </a:p>
          <a:p>
            <a:r>
              <a:rPr lang="en-US"/>
              <a:t>Second, for </a:t>
            </a:r>
            <a:r>
              <a:rPr lang="en-US" b="1"/>
              <a:t>R1 to R4</a:t>
            </a:r>
            <a:r>
              <a:rPr lang="en-US"/>
              <a:t>, we observed </a:t>
            </a:r>
            <a:r>
              <a:rPr lang="en-US" b="1"/>
              <a:t>control-flow equivalence </a:t>
            </a:r>
            <a:r>
              <a:rPr lang="en-US"/>
              <a:t>between the KG validation and the corresponding DECLARE constraints.</a:t>
            </a:r>
          </a:p>
          <a:p>
            <a:r>
              <a:rPr lang="en-US"/>
              <a:t>They identified the same violated cases, with a recall of 1.00.</a:t>
            </a:r>
          </a:p>
          <a:p>
            <a:endParaRPr lang="en-US"/>
          </a:p>
          <a:p>
            <a:r>
              <a:rPr lang="en-US"/>
              <a:t>The other important point concerns </a:t>
            </a:r>
            <a:r>
              <a:rPr lang="en-US" b="1"/>
              <a:t>R5, R5B, and R6</a:t>
            </a:r>
            <a:r>
              <a:rPr lang="en-US"/>
              <a:t>.</a:t>
            </a:r>
          </a:p>
          <a:p>
            <a:r>
              <a:rPr lang="en-US"/>
              <a:t>These rules use attributes, roles, and </a:t>
            </a:r>
            <a:r>
              <a:rPr lang="en-US" b="1"/>
              <a:t>multi-hop</a:t>
            </a:r>
            <a:r>
              <a:rPr lang="en-US"/>
              <a:t> provenance relationships.</a:t>
            </a:r>
          </a:p>
          <a:p>
            <a:r>
              <a:rPr lang="en-US"/>
              <a:t>This is where the </a:t>
            </a:r>
            <a:r>
              <a:rPr lang="en-US" b="1"/>
              <a:t>graph representation provides capabilities that standard DECLARE templates do not directly express.</a:t>
            </a:r>
          </a:p>
          <a:p>
            <a:endParaRPr lang="en-US" b="1"/>
          </a:p>
          <a:p>
            <a:r>
              <a:rPr lang="en-US"/>
              <a:t>So the distinction is not that the KG approach replaces every form of classical validation.</a:t>
            </a:r>
          </a:p>
          <a:p>
            <a:r>
              <a:rPr lang="en-US"/>
              <a:t>Rather, </a:t>
            </a:r>
            <a:r>
              <a:rPr lang="en-US" b="1"/>
              <a:t>DECLARE provides a way to express standard control-flow constraints</a:t>
            </a:r>
            <a:r>
              <a:rPr lang="en-US"/>
              <a:t>, while the </a:t>
            </a:r>
            <a:r>
              <a:rPr lang="en-US" b="1"/>
              <a:t>knowledge graph gives us a representation that can also support more complex relational and provenance-aware queries</a:t>
            </a:r>
            <a:r>
              <a:rPr lang="en-US"/>
              <a:t>.</a:t>
            </a:r>
          </a:p>
        </p:txBody>
      </p:sp>
      <p:sp>
        <p:nvSpPr>
          <p:cNvPr id="4" name="Slide Number Placeholder 3">
            <a:extLst>
              <a:ext uri="{FF2B5EF4-FFF2-40B4-BE49-F238E27FC236}">
                <a16:creationId xmlns:a16="http://schemas.microsoft.com/office/drawing/2014/main" id="{37FE5C68-C8CE-B102-D262-A0081DA78298}"/>
              </a:ext>
            </a:extLst>
          </p:cNvPr>
          <p:cNvSpPr>
            <a:spLocks noGrp="1"/>
          </p:cNvSpPr>
          <p:nvPr>
            <p:ph type="sldNum" sz="quarter" idx="10"/>
          </p:nvPr>
        </p:nvSpPr>
        <p:spPr/>
        <p:txBody>
          <a:bodyPr/>
          <a:lstStyle/>
          <a:p>
            <a:fld id="{3BC7FB8B-CF41-4778-B0F3-F49F4DE36C6E}" type="slidenum">
              <a:rPr lang="en-US" smtClean="0"/>
              <a:t>14</a:t>
            </a:fld>
            <a:endParaRPr lang="en-US"/>
          </a:p>
        </p:txBody>
      </p:sp>
    </p:spTree>
    <p:extLst>
      <p:ext uri="{BB962C8B-B14F-4D97-AF65-F5344CB8AC3E}">
        <p14:creationId xmlns:p14="http://schemas.microsoft.com/office/powerpoint/2010/main" val="3213171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839D5-87F9-0E66-324D-FED272215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27F44-2E1D-58C6-19E1-D3B52C342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C6D7B-969C-D8FC-F0D9-260F48E206A8}"/>
              </a:ext>
            </a:extLst>
          </p:cNvPr>
          <p:cNvSpPr>
            <a:spLocks noGrp="1"/>
          </p:cNvSpPr>
          <p:nvPr>
            <p:ph type="body" idx="1"/>
          </p:nvPr>
        </p:nvSpPr>
        <p:spPr/>
        <p:txBody>
          <a:bodyPr/>
          <a:lstStyle/>
          <a:p>
            <a:r>
              <a:rPr lang="en-US"/>
              <a:t>So, to summarize.</a:t>
            </a:r>
          </a:p>
          <a:p>
            <a:r>
              <a:rPr lang="en-US"/>
              <a:t>We started from the observation that </a:t>
            </a:r>
            <a:r>
              <a:rPr lang="en-US" b="1"/>
              <a:t>traditional log-based validation can become difficult when we need relational checks</a:t>
            </a:r>
            <a:r>
              <a:rPr lang="en-US"/>
              <a:t>, multi-step dependency paths, or constraints that depend on provenance and attributes.</a:t>
            </a:r>
            <a:endParaRPr lang="el-GR"/>
          </a:p>
          <a:p>
            <a:endParaRPr lang="en-US"/>
          </a:p>
          <a:p>
            <a:r>
              <a:rPr lang="en-US"/>
              <a:t>We addressed this by </a:t>
            </a:r>
            <a:r>
              <a:rPr lang="en-US" b="1"/>
              <a:t>transforming workflow event logs into knowledge graphs</a:t>
            </a:r>
            <a:r>
              <a:rPr lang="en-US"/>
              <a:t>, using a PROV-aligned representation that makes these relationships explicit.</a:t>
            </a:r>
          </a:p>
          <a:p>
            <a:r>
              <a:rPr lang="en-US"/>
              <a:t>On the BPI Challenge 2020 Domestic Declarations dataset, the approach achieved a </a:t>
            </a:r>
            <a:r>
              <a:rPr lang="en-US" b="1"/>
              <a:t>recall of 1.00 </a:t>
            </a:r>
            <a:r>
              <a:rPr lang="en-US"/>
              <a:t>for all the injected faults.</a:t>
            </a:r>
          </a:p>
          <a:p>
            <a:r>
              <a:rPr lang="en-US" b="1"/>
              <a:t>For the control-flow rules that could also be expressed using DECLARE, the KG approach produced equivalent validation results and faster query execution after the graph had been constructed.</a:t>
            </a:r>
            <a:endParaRPr lang="el-GR" b="1"/>
          </a:p>
          <a:p>
            <a:endParaRPr lang="en-US"/>
          </a:p>
          <a:p>
            <a:r>
              <a:rPr lang="en-US"/>
              <a:t>At the same time, the </a:t>
            </a:r>
            <a:r>
              <a:rPr lang="en-US" b="1"/>
              <a:t>knowledge graph allowed us to express additional role-aware and multi-hop provenance constraints </a:t>
            </a:r>
            <a:r>
              <a:rPr lang="en-US"/>
              <a:t>that were </a:t>
            </a:r>
            <a:r>
              <a:rPr lang="en-US" b="1"/>
              <a:t>not expressible using the standard DECLARE </a:t>
            </a:r>
            <a:r>
              <a:rPr lang="en-US"/>
              <a:t>templates we used.</a:t>
            </a:r>
          </a:p>
          <a:p>
            <a:endParaRPr lang="en-US"/>
          </a:p>
          <a:p>
            <a:r>
              <a:rPr lang="en-US"/>
              <a:t>There are several directions for future work.</a:t>
            </a:r>
          </a:p>
          <a:p>
            <a:r>
              <a:rPr lang="en-US"/>
              <a:t>We want to evaluate the approach on </a:t>
            </a:r>
            <a:r>
              <a:rPr lang="en-US" b="1"/>
              <a:t>additional datasets</a:t>
            </a:r>
            <a:r>
              <a:rPr lang="en-US"/>
              <a:t>, investigate </a:t>
            </a:r>
            <a:r>
              <a:rPr lang="en-US" b="1"/>
              <a:t>automated derivation of validation rules</a:t>
            </a:r>
            <a:r>
              <a:rPr lang="en-US"/>
              <a:t>, and extend the approach to </a:t>
            </a:r>
            <a:r>
              <a:rPr lang="en-US" b="1"/>
              <a:t>time-bounded validation</a:t>
            </a:r>
            <a:r>
              <a:rPr lang="en-US"/>
              <a:t>.</a:t>
            </a:r>
          </a:p>
        </p:txBody>
      </p:sp>
      <p:sp>
        <p:nvSpPr>
          <p:cNvPr id="4" name="Slide Number Placeholder 3">
            <a:extLst>
              <a:ext uri="{FF2B5EF4-FFF2-40B4-BE49-F238E27FC236}">
                <a16:creationId xmlns:a16="http://schemas.microsoft.com/office/drawing/2014/main" id="{E9F559AE-73C2-38A6-718C-B47EF547E2F3}"/>
              </a:ext>
            </a:extLst>
          </p:cNvPr>
          <p:cNvSpPr>
            <a:spLocks noGrp="1"/>
          </p:cNvSpPr>
          <p:nvPr>
            <p:ph type="sldNum" sz="quarter" idx="10"/>
          </p:nvPr>
        </p:nvSpPr>
        <p:spPr/>
        <p:txBody>
          <a:bodyPr/>
          <a:lstStyle/>
          <a:p>
            <a:fld id="{3BC7FB8B-CF41-4778-B0F3-F49F4DE36C6E}" type="slidenum">
              <a:rPr lang="en-US" smtClean="0"/>
              <a:t>15</a:t>
            </a:fld>
            <a:endParaRPr lang="en-US"/>
          </a:p>
        </p:txBody>
      </p:sp>
    </p:spTree>
    <p:extLst>
      <p:ext uri="{BB962C8B-B14F-4D97-AF65-F5344CB8AC3E}">
        <p14:creationId xmlns:p14="http://schemas.microsoft.com/office/powerpoint/2010/main" val="2019847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25D09-4BC7-9C1B-3035-C9987715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1B0E4-7A86-2E23-FE9B-188B1AFA2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1BAE3-471B-287A-35B8-0B6E856016FD}"/>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99185B8-08E5-3FB9-8C1E-C32CF48966BC}"/>
              </a:ext>
            </a:extLst>
          </p:cNvPr>
          <p:cNvSpPr>
            <a:spLocks noGrp="1"/>
          </p:cNvSpPr>
          <p:nvPr>
            <p:ph type="sldNum" sz="quarter" idx="10"/>
          </p:nvPr>
        </p:nvSpPr>
        <p:spPr/>
        <p:txBody>
          <a:bodyPr/>
          <a:lstStyle/>
          <a:p>
            <a:fld id="{3BC7FB8B-CF41-4778-B0F3-F49F4DE36C6E}" type="slidenum">
              <a:rPr lang="en-US" smtClean="0"/>
              <a:t>16</a:t>
            </a:fld>
            <a:endParaRPr lang="en-US"/>
          </a:p>
        </p:txBody>
      </p:sp>
    </p:spTree>
    <p:extLst>
      <p:ext uri="{BB962C8B-B14F-4D97-AF65-F5344CB8AC3E}">
        <p14:creationId xmlns:p14="http://schemas.microsoft.com/office/powerpoint/2010/main" val="1890361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3BCF-C2A9-0C0F-6BA2-4E94EBC72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71919-6FD5-F404-2A34-1CA726D2B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7CE90-E18D-76A5-EEC6-5523DBB17C0F}"/>
              </a:ext>
            </a:extLst>
          </p:cNvPr>
          <p:cNvSpPr>
            <a:spLocks noGrp="1"/>
          </p:cNvSpPr>
          <p:nvPr>
            <p:ph type="body" idx="1"/>
          </p:nvPr>
        </p:nvSpPr>
        <p:spPr/>
        <p:txBody>
          <a:bodyPr/>
          <a:lstStyle/>
          <a:p>
            <a:r>
              <a:rPr lang="en-US"/>
              <a:t>For the evaluation, we used the </a:t>
            </a:r>
            <a:r>
              <a:rPr lang="en-US" b="1"/>
              <a:t>BPI Challenge 2020 Domestic Declarations</a:t>
            </a:r>
            <a:r>
              <a:rPr lang="en-US"/>
              <a:t> event log.</a:t>
            </a:r>
          </a:p>
          <a:p>
            <a:r>
              <a:rPr lang="en-US"/>
              <a:t>It contains around 10,500 traces and more than 56,000 events, covering a period of two years.</a:t>
            </a:r>
          </a:p>
          <a:p>
            <a:r>
              <a:rPr lang="en-US"/>
              <a:t>From the approximately 1.54 megabyte XES file, our generated knowledge graph contains around 850,000 RDF triples.</a:t>
            </a:r>
          </a:p>
          <a:p>
            <a:r>
              <a:rPr lang="en-US"/>
              <a:t>To evaluate the validation rules, we used fault injection.</a:t>
            </a:r>
          </a:p>
          <a:p>
            <a:r>
              <a:rPr lang="en-US"/>
              <a:t>For rules R1 to R4, we introduced mutations in the XES log before constructing the knowledge graph, such as removing or exchanging events.</a:t>
            </a:r>
          </a:p>
          <a:p>
            <a:r>
              <a:rPr lang="en-US"/>
              <a:t>For R5, R5B, and R6, we introduced mutations directly in the knowledge graph, such as modifying roles or rewiring provenance relationships.</a:t>
            </a:r>
          </a:p>
          <a:p>
            <a:r>
              <a:rPr lang="en-US"/>
              <a:t>We injected 100 faults per rule in the isolated setting, and 700 faults in total for the combined setting.</a:t>
            </a:r>
          </a:p>
          <a:p>
            <a:r>
              <a:rPr lang="en-US"/>
              <a:t>The results reported here are means over ten repetitions, using a fixed random seed.</a:t>
            </a:r>
          </a:p>
        </p:txBody>
      </p:sp>
      <p:sp>
        <p:nvSpPr>
          <p:cNvPr id="4" name="Slide Number Placeholder 3">
            <a:extLst>
              <a:ext uri="{FF2B5EF4-FFF2-40B4-BE49-F238E27FC236}">
                <a16:creationId xmlns:a16="http://schemas.microsoft.com/office/drawing/2014/main" id="{E041EFA9-2ED9-5782-587A-99AF804CDB59}"/>
              </a:ext>
            </a:extLst>
          </p:cNvPr>
          <p:cNvSpPr>
            <a:spLocks noGrp="1"/>
          </p:cNvSpPr>
          <p:nvPr>
            <p:ph type="sldNum" sz="quarter" idx="10"/>
          </p:nvPr>
        </p:nvSpPr>
        <p:spPr/>
        <p:txBody>
          <a:bodyPr/>
          <a:lstStyle/>
          <a:p>
            <a:fld id="{3BC7FB8B-CF41-4778-B0F3-F49F4DE36C6E}" type="slidenum">
              <a:rPr lang="en-US" smtClean="0"/>
              <a:t>17</a:t>
            </a:fld>
            <a:endParaRPr lang="en-US"/>
          </a:p>
        </p:txBody>
      </p:sp>
    </p:spTree>
    <p:extLst>
      <p:ext uri="{BB962C8B-B14F-4D97-AF65-F5344CB8AC3E}">
        <p14:creationId xmlns:p14="http://schemas.microsoft.com/office/powerpoint/2010/main" val="3882131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7078" y="169818"/>
            <a:ext cx="11602068" cy="648736"/>
          </a:xfrm>
        </p:spPr>
        <p:txBody>
          <a:bodyPr/>
          <a:lstStyle/>
          <a:p>
            <a:r>
              <a:rPr lang="en-US" dirty="0"/>
              <a:t>Click to edit Master title style</a:t>
            </a:r>
          </a:p>
        </p:txBody>
      </p:sp>
      <p:sp>
        <p:nvSpPr>
          <p:cNvPr id="3" name="Content Placeholder 2"/>
          <p:cNvSpPr>
            <a:spLocks noGrp="1"/>
          </p:cNvSpPr>
          <p:nvPr>
            <p:ph idx="1"/>
          </p:nvPr>
        </p:nvSpPr>
        <p:spPr>
          <a:xfrm>
            <a:off x="287383" y="1027612"/>
            <a:ext cx="11193417" cy="4805018"/>
          </a:xfrm>
        </p:spPr>
        <p:txBody>
          <a:bodyPr/>
          <a:lstStyle>
            <a:lvl2pPr>
              <a:defRPr sz="1800">
                <a:solidFill>
                  <a:srgbClr val="000099"/>
                </a:solidFill>
              </a:defRPr>
            </a:lvl2pPr>
            <a:lvl3pPr>
              <a:defRPr sz="1600"/>
            </a:lvl3pPr>
            <a:lvl4pPr>
              <a:defRPr sz="14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6" name="Slide Number Placeholder 5"/>
          <p:cNvSpPr>
            <a:spLocks noGrp="1"/>
          </p:cNvSpPr>
          <p:nvPr>
            <p:ph type="sldNum" sz="quarter" idx="12"/>
          </p:nvPr>
        </p:nvSpPr>
        <p:spPr>
          <a:xfrm>
            <a:off x="11371811" y="6334299"/>
            <a:ext cx="820189" cy="517904"/>
          </a:xfrm>
        </p:spPr>
        <p:txBody>
          <a:bodyPr/>
          <a:lstStyle>
            <a:lvl1pPr>
              <a:defRPr sz="2000"/>
            </a:lvl1pPr>
          </a:lstStyle>
          <a:p>
            <a:fld id="{10545CFA-47CE-427D-A7F0-020FE1304B29}" type="slidenum">
              <a:rPr lang="en-US" smtClean="0"/>
              <a:pPr/>
              <a:t>‹#›</a:t>
            </a:fld>
            <a:endParaRPr lang="en-US" sz="2000"/>
          </a:p>
        </p:txBody>
      </p:sp>
      <p:sp>
        <p:nvSpPr>
          <p:cNvPr id="5" name="Footer Placeholder 4">
            <a:extLst>
              <a:ext uri="{FF2B5EF4-FFF2-40B4-BE49-F238E27FC236}">
                <a16:creationId xmlns:a16="http://schemas.microsoft.com/office/drawing/2014/main" id="{8ED63C28-0E52-9627-DB96-6FE942477EA2}"/>
              </a:ext>
            </a:extLst>
          </p:cNvPr>
          <p:cNvSpPr>
            <a:spLocks noGrp="1"/>
          </p:cNvSpPr>
          <p:nvPr>
            <p:ph type="ftr" sz="quarter" idx="11"/>
          </p:nvPr>
        </p:nvSpPr>
        <p:spPr>
          <a:xfrm>
            <a:off x="8251768" y="6535439"/>
            <a:ext cx="3281624" cy="268400"/>
          </a:xfrm>
          <a:prstGeom prst="rect">
            <a:avLst/>
          </a:prstGeom>
        </p:spPr>
        <p:txBody>
          <a:bodyPr/>
          <a:lstStyle>
            <a:lvl1pPr>
              <a:defRPr sz="1000">
                <a:solidFill>
                  <a:schemeClr val="tx1"/>
                </a:solidFill>
              </a:defRPr>
            </a:lvl1pPr>
          </a:lstStyle>
          <a:p>
            <a:r>
              <a:rPr lang="en-US"/>
              <a:t>Spyridon Chrysovalantis Zervos - csdp1450</a:t>
            </a:r>
            <a:endParaRPr lang="en-US" sz="1000" dirty="0"/>
          </a:p>
        </p:txBody>
      </p:sp>
    </p:spTree>
    <p:extLst>
      <p:ext uri="{BB962C8B-B14F-4D97-AF65-F5344CB8AC3E}">
        <p14:creationId xmlns:p14="http://schemas.microsoft.com/office/powerpoint/2010/main" val="110880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78194" y="2900830"/>
            <a:ext cx="8849957" cy="1362075"/>
          </a:xfrm>
        </p:spPr>
        <p:txBody>
          <a:bodyPr anchor="b"/>
          <a:lstStyle>
            <a:lvl1pPr algn="l">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678194" y="4267201"/>
            <a:ext cx="8849956"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0523914" y="174616"/>
            <a:ext cx="1524000" cy="365125"/>
          </a:xfrm>
          <a:prstGeom prst="rect">
            <a:avLst/>
          </a:prstGeom>
        </p:spPr>
        <p:txBody>
          <a:bodyPr/>
          <a:lstStyle/>
          <a:p>
            <a:r>
              <a:rPr lang="en-US"/>
              <a:t>26 Nov 2024 </a:t>
            </a:r>
            <a:endParaRPr lang="en-US" dirty="0"/>
          </a:p>
        </p:txBody>
      </p:sp>
      <p:sp>
        <p:nvSpPr>
          <p:cNvPr id="5" name="Footer Placeholder 4"/>
          <p:cNvSpPr>
            <a:spLocks noGrp="1"/>
          </p:cNvSpPr>
          <p:nvPr>
            <p:ph type="ftr" sz="quarter" idx="11"/>
          </p:nvPr>
        </p:nvSpPr>
        <p:spPr>
          <a:xfrm>
            <a:off x="8251768" y="6535439"/>
            <a:ext cx="3281624" cy="268400"/>
          </a:xfrm>
          <a:prstGeom prst="rect">
            <a:avLst/>
          </a:prstGeom>
        </p:spPr>
        <p:txBody>
          <a:bodyPr/>
          <a:lstStyle>
            <a:lvl1pPr>
              <a:defRPr sz="1000">
                <a:solidFill>
                  <a:schemeClr val="tx1"/>
                </a:solidFill>
              </a:defRPr>
            </a:lvl1pPr>
          </a:lstStyle>
          <a:p>
            <a:r>
              <a:rPr lang="en-US"/>
              <a:t>Spyridon Chrysovalantis Zervos - csdp1450</a:t>
            </a:r>
            <a:endParaRPr lang="en-US" sz="1000" dirty="0"/>
          </a:p>
        </p:txBody>
      </p:sp>
    </p:spTree>
    <p:extLst>
      <p:ext uri="{BB962C8B-B14F-4D97-AF65-F5344CB8AC3E}">
        <p14:creationId xmlns:p14="http://schemas.microsoft.com/office/powerpoint/2010/main" val="279125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7" name="Slide Number Placeholder 6"/>
          <p:cNvSpPr>
            <a:spLocks noGrp="1"/>
          </p:cNvSpPr>
          <p:nvPr>
            <p:ph type="sldNum" sz="quarter" idx="12"/>
          </p:nvPr>
        </p:nvSpPr>
        <p:spPr/>
        <p:txBody>
          <a:bodyPr/>
          <a:lstStyle/>
          <a:p>
            <a:fld id="{10545CFA-47CE-427D-A7F0-020FE1304B29}" type="slidenum">
              <a:rPr lang="en-US" smtClean="0"/>
              <a:t>‹#›</a:t>
            </a:fld>
            <a:endParaRPr lang="en-US"/>
          </a:p>
        </p:txBody>
      </p:sp>
      <p:sp>
        <p:nvSpPr>
          <p:cNvPr id="9" name="Content Placeholder 8"/>
          <p:cNvSpPr>
            <a:spLocks noGrp="1"/>
          </p:cNvSpPr>
          <p:nvPr>
            <p:ph sz="quarter" idx="13"/>
          </p:nvPr>
        </p:nvSpPr>
        <p:spPr>
          <a:xfrm>
            <a:off x="1389888" y="2313432"/>
            <a:ext cx="4559808" cy="34930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193536" y="2313431"/>
            <a:ext cx="4559808" cy="34930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38BBF947-45EB-B9E0-32D1-A952531BAE9C}"/>
              </a:ext>
            </a:extLst>
          </p:cNvPr>
          <p:cNvSpPr>
            <a:spLocks noGrp="1"/>
          </p:cNvSpPr>
          <p:nvPr>
            <p:ph type="ftr" sz="quarter" idx="11"/>
          </p:nvPr>
        </p:nvSpPr>
        <p:spPr>
          <a:xfrm>
            <a:off x="8251768" y="6535439"/>
            <a:ext cx="3281624" cy="268400"/>
          </a:xfrm>
          <a:prstGeom prst="rect">
            <a:avLst/>
          </a:prstGeom>
        </p:spPr>
        <p:txBody>
          <a:bodyPr/>
          <a:lstStyle>
            <a:lvl1pPr>
              <a:defRPr sz="1000">
                <a:solidFill>
                  <a:schemeClr val="tx1"/>
                </a:solidFill>
              </a:defRPr>
            </a:lvl1pPr>
          </a:lstStyle>
          <a:p>
            <a:r>
              <a:rPr lang="en-US"/>
              <a:t>Spyridon Chrysovalantis Zervos - csdp1450</a:t>
            </a:r>
            <a:endParaRPr lang="en-US" sz="1000" dirty="0"/>
          </a:p>
        </p:txBody>
      </p:sp>
    </p:spTree>
    <p:extLst>
      <p:ext uri="{BB962C8B-B14F-4D97-AF65-F5344CB8AC3E}">
        <p14:creationId xmlns:p14="http://schemas.microsoft.com/office/powerpoint/2010/main" val="361680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882815" y="2316009"/>
            <a:ext cx="407619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88961" y="2974695"/>
            <a:ext cx="4559808"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82450" y="2316010"/>
            <a:ext cx="4074289"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536" y="2974695"/>
            <a:ext cx="4559808"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9" name="Slide Number Placeholder 8"/>
          <p:cNvSpPr>
            <a:spLocks noGrp="1"/>
          </p:cNvSpPr>
          <p:nvPr>
            <p:ph type="sldNum" sz="quarter" idx="12"/>
          </p:nvPr>
        </p:nvSpPr>
        <p:spPr/>
        <p:txBody>
          <a:bodyPr/>
          <a:lstStyle/>
          <a:p>
            <a:fld id="{10545CFA-47CE-427D-A7F0-020FE1304B29}" type="slidenum">
              <a:rPr lang="en-US" smtClean="0"/>
              <a:t>‹#›</a:t>
            </a:fld>
            <a:endParaRPr lang="en-US"/>
          </a:p>
        </p:txBody>
      </p:sp>
      <p:sp>
        <p:nvSpPr>
          <p:cNvPr id="10" name="Footer Placeholder 4">
            <a:extLst>
              <a:ext uri="{FF2B5EF4-FFF2-40B4-BE49-F238E27FC236}">
                <a16:creationId xmlns:a16="http://schemas.microsoft.com/office/drawing/2014/main" id="{DD7DF6DA-DADE-ACE3-91D8-61EDAC40E32F}"/>
              </a:ext>
            </a:extLst>
          </p:cNvPr>
          <p:cNvSpPr>
            <a:spLocks noGrp="1"/>
          </p:cNvSpPr>
          <p:nvPr>
            <p:ph type="ftr" sz="quarter" idx="11"/>
          </p:nvPr>
        </p:nvSpPr>
        <p:spPr>
          <a:xfrm>
            <a:off x="8251768" y="6535439"/>
            <a:ext cx="3281624" cy="268400"/>
          </a:xfrm>
          <a:prstGeom prst="rect">
            <a:avLst/>
          </a:prstGeom>
        </p:spPr>
        <p:txBody>
          <a:bodyPr/>
          <a:lstStyle>
            <a:lvl1pPr>
              <a:defRPr sz="1000">
                <a:solidFill>
                  <a:schemeClr val="tx1"/>
                </a:solidFill>
              </a:defRPr>
            </a:lvl1pPr>
          </a:lstStyle>
          <a:p>
            <a:r>
              <a:rPr lang="en-US"/>
              <a:t>Spyridon Chrysovalantis Zervos - csdp1450</a:t>
            </a:r>
            <a:endParaRPr lang="en-US" sz="1000" dirty="0"/>
          </a:p>
        </p:txBody>
      </p:sp>
    </p:spTree>
    <p:extLst>
      <p:ext uri="{BB962C8B-B14F-4D97-AF65-F5344CB8AC3E}">
        <p14:creationId xmlns:p14="http://schemas.microsoft.com/office/powerpoint/2010/main" val="135722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5" name="Slide Number Placeholder 4"/>
          <p:cNvSpPr>
            <a:spLocks noGrp="1"/>
          </p:cNvSpPr>
          <p:nvPr>
            <p:ph type="sldNum" sz="quarter" idx="12"/>
          </p:nvPr>
        </p:nvSpPr>
        <p:spPr/>
        <p:txBody>
          <a:bodyPr/>
          <a:lstStyle/>
          <a:p>
            <a:fld id="{10545CFA-47CE-427D-A7F0-020FE1304B29}" type="slidenum">
              <a:rPr lang="en-US" smtClean="0"/>
              <a:t>‹#›</a:t>
            </a:fld>
            <a:endParaRPr lang="en-US"/>
          </a:p>
        </p:txBody>
      </p:sp>
      <p:sp>
        <p:nvSpPr>
          <p:cNvPr id="7" name="Footer Placeholder 4">
            <a:extLst>
              <a:ext uri="{FF2B5EF4-FFF2-40B4-BE49-F238E27FC236}">
                <a16:creationId xmlns:a16="http://schemas.microsoft.com/office/drawing/2014/main" id="{19D9632D-C0DD-CA28-80B4-A81E50A973A7}"/>
              </a:ext>
            </a:extLst>
          </p:cNvPr>
          <p:cNvSpPr>
            <a:spLocks noGrp="1"/>
          </p:cNvSpPr>
          <p:nvPr>
            <p:ph type="ftr" sz="quarter" idx="11"/>
          </p:nvPr>
        </p:nvSpPr>
        <p:spPr>
          <a:xfrm>
            <a:off x="8251768" y="6535439"/>
            <a:ext cx="3281624" cy="268400"/>
          </a:xfrm>
          <a:prstGeom prst="rect">
            <a:avLst/>
          </a:prstGeom>
        </p:spPr>
        <p:txBody>
          <a:bodyPr/>
          <a:lstStyle>
            <a:lvl1pPr>
              <a:defRPr sz="1000">
                <a:solidFill>
                  <a:schemeClr val="tx1"/>
                </a:solidFill>
              </a:defRPr>
            </a:lvl1pPr>
          </a:lstStyle>
          <a:p>
            <a:r>
              <a:rPr lang="en-US"/>
              <a:t>Spyridon Chrysovalantis Zervos - csdp1450</a:t>
            </a:r>
            <a:endParaRPr lang="en-US" sz="1000" dirty="0"/>
          </a:p>
        </p:txBody>
      </p:sp>
    </p:spTree>
    <p:extLst>
      <p:ext uri="{BB962C8B-B14F-4D97-AF65-F5344CB8AC3E}">
        <p14:creationId xmlns:p14="http://schemas.microsoft.com/office/powerpoint/2010/main" val="162212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4" name="Slide Number Placeholder 3"/>
          <p:cNvSpPr>
            <a:spLocks noGrp="1"/>
          </p:cNvSpPr>
          <p:nvPr>
            <p:ph type="sldNum" sz="quarter" idx="12"/>
          </p:nvPr>
        </p:nvSpPr>
        <p:spPr/>
        <p:txBody>
          <a:bodyPr/>
          <a:lstStyle/>
          <a:p>
            <a:fld id="{10545CFA-47CE-427D-A7F0-020FE1304B29}" type="slidenum">
              <a:rPr lang="en-US" smtClean="0"/>
              <a:t>‹#›</a:t>
            </a:fld>
            <a:endParaRPr lang="en-US"/>
          </a:p>
        </p:txBody>
      </p:sp>
      <p:sp>
        <p:nvSpPr>
          <p:cNvPr id="5" name="Footer Placeholder 4">
            <a:extLst>
              <a:ext uri="{FF2B5EF4-FFF2-40B4-BE49-F238E27FC236}">
                <a16:creationId xmlns:a16="http://schemas.microsoft.com/office/drawing/2014/main" id="{03328610-F193-175F-1790-18FB73CCDDE3}"/>
              </a:ext>
            </a:extLst>
          </p:cNvPr>
          <p:cNvSpPr>
            <a:spLocks noGrp="1"/>
          </p:cNvSpPr>
          <p:nvPr>
            <p:ph type="ftr" sz="quarter" idx="11"/>
          </p:nvPr>
        </p:nvSpPr>
        <p:spPr>
          <a:xfrm>
            <a:off x="8251768" y="6535439"/>
            <a:ext cx="3281624" cy="268400"/>
          </a:xfrm>
          <a:prstGeom prst="rect">
            <a:avLst/>
          </a:prstGeom>
        </p:spPr>
        <p:txBody>
          <a:bodyPr/>
          <a:lstStyle>
            <a:lvl1pPr>
              <a:defRPr sz="1000">
                <a:solidFill>
                  <a:schemeClr val="tx1"/>
                </a:solidFill>
              </a:defRPr>
            </a:lvl1pPr>
          </a:lstStyle>
          <a:p>
            <a:r>
              <a:rPr lang="en-US"/>
              <a:t>Spyridon Chrysovalantis Zervos - csdp1450</a:t>
            </a:r>
            <a:endParaRPr lang="en-US" sz="1000" dirty="0"/>
          </a:p>
        </p:txBody>
      </p:sp>
    </p:spTree>
    <p:extLst>
      <p:ext uri="{BB962C8B-B14F-4D97-AF65-F5344CB8AC3E}">
        <p14:creationId xmlns:p14="http://schemas.microsoft.com/office/powerpoint/2010/main" val="2548423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509872" y="0"/>
            <a:ext cx="13243109"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6" name="Rectangle 45"/>
          <p:cNvSpPr/>
          <p:nvPr/>
        </p:nvSpPr>
        <p:spPr>
          <a:xfrm>
            <a:off x="6081656" y="-21511"/>
            <a:ext cx="4905488"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ectangle 56"/>
          <p:cNvSpPr/>
          <p:nvPr/>
        </p:nvSpPr>
        <p:spPr>
          <a:xfrm>
            <a:off x="6198795" y="-21510"/>
            <a:ext cx="46736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Date Placeholder 4"/>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7" name="Slide Number Placeholder 6"/>
          <p:cNvSpPr>
            <a:spLocks noGrp="1"/>
          </p:cNvSpPr>
          <p:nvPr>
            <p:ph type="sldNum" sz="quarter" idx="12"/>
          </p:nvPr>
        </p:nvSpPr>
        <p:spPr/>
        <p:txBody>
          <a:bodyPr/>
          <a:lstStyle/>
          <a:p>
            <a:fld id="{10545CFA-47CE-427D-A7F0-020FE1304B29}" type="slidenum">
              <a:rPr lang="en-US" smtClean="0"/>
              <a:t>‹#›</a:t>
            </a:fld>
            <a:endParaRPr lang="en-US"/>
          </a:p>
        </p:txBody>
      </p:sp>
      <p:sp>
        <p:nvSpPr>
          <p:cNvPr id="58" name="Rectangle 57"/>
          <p:cNvSpPr/>
          <p:nvPr/>
        </p:nvSpPr>
        <p:spPr>
          <a:xfrm>
            <a:off x="1207429" y="601884"/>
            <a:ext cx="4749676"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Content Placeholder 2"/>
          <p:cNvSpPr>
            <a:spLocks noGrp="1"/>
          </p:cNvSpPr>
          <p:nvPr>
            <p:ph idx="1"/>
          </p:nvPr>
        </p:nvSpPr>
        <p:spPr>
          <a:xfrm>
            <a:off x="1527859" y="856527"/>
            <a:ext cx="4120587"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Rectangle 60"/>
          <p:cNvSpPr/>
          <p:nvPr/>
        </p:nvSpPr>
        <p:spPr>
          <a:xfrm>
            <a:off x="6201185" y="6088284"/>
            <a:ext cx="46736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Footer Placeholder 5"/>
          <p:cNvSpPr>
            <a:spLocks noGrp="1"/>
          </p:cNvSpPr>
          <p:nvPr>
            <p:ph type="ftr" sz="quarter" idx="11"/>
          </p:nvPr>
        </p:nvSpPr>
        <p:spPr>
          <a:xfrm>
            <a:off x="6188597" y="5724836"/>
            <a:ext cx="4658219" cy="365125"/>
          </a:xfrm>
          <a:prstGeom prst="rect">
            <a:avLst/>
          </a:prstGeom>
        </p:spPr>
        <p:txBody>
          <a:bodyPr>
            <a:normAutofit/>
          </a:bodyPr>
          <a:lstStyle/>
          <a:p>
            <a:r>
              <a:rPr lang="en-US"/>
              <a:t>Spyridon Chrysovalantis Zervos - csdp1450</a:t>
            </a:r>
          </a:p>
        </p:txBody>
      </p:sp>
      <p:sp>
        <p:nvSpPr>
          <p:cNvPr id="2" name="Title 1"/>
          <p:cNvSpPr>
            <a:spLocks noGrp="1"/>
          </p:cNvSpPr>
          <p:nvPr>
            <p:ph type="title"/>
          </p:nvPr>
        </p:nvSpPr>
        <p:spPr>
          <a:xfrm>
            <a:off x="6319777" y="2657435"/>
            <a:ext cx="4406096" cy="1463153"/>
          </a:xfrm>
        </p:spPr>
        <p:txBody>
          <a:bodyPr anchor="b">
            <a:normAutofit/>
          </a:bodyPr>
          <a:lstStyle>
            <a:lvl1pPr algn="l">
              <a:defRPr sz="2800" b="0"/>
            </a:lvl1pPr>
          </a:lstStyle>
          <a:p>
            <a:r>
              <a:rPr lang="en-US"/>
              <a:t>Click to edit Master title style</a:t>
            </a:r>
          </a:p>
        </p:txBody>
      </p:sp>
      <p:sp>
        <p:nvSpPr>
          <p:cNvPr id="4" name="Text Placeholder 3"/>
          <p:cNvSpPr>
            <a:spLocks noGrp="1"/>
          </p:cNvSpPr>
          <p:nvPr>
            <p:ph type="body" sz="half" idx="2"/>
          </p:nvPr>
        </p:nvSpPr>
        <p:spPr>
          <a:xfrm>
            <a:off x="6315456" y="4136994"/>
            <a:ext cx="4398379"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68666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509872" y="0"/>
            <a:ext cx="13243109"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94" name="Rectangle 93"/>
          <p:cNvSpPr/>
          <p:nvPr/>
        </p:nvSpPr>
        <p:spPr>
          <a:xfrm>
            <a:off x="6081656" y="-21511"/>
            <a:ext cx="4905488"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1" name="Rectangle 100"/>
          <p:cNvSpPr/>
          <p:nvPr/>
        </p:nvSpPr>
        <p:spPr>
          <a:xfrm>
            <a:off x="6198795" y="-21510"/>
            <a:ext cx="46736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2" name="Rectangle 101"/>
          <p:cNvSpPr/>
          <p:nvPr/>
        </p:nvSpPr>
        <p:spPr>
          <a:xfrm>
            <a:off x="1207429" y="601884"/>
            <a:ext cx="4749676"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 name="Rectangle 104"/>
          <p:cNvSpPr/>
          <p:nvPr/>
        </p:nvSpPr>
        <p:spPr>
          <a:xfrm>
            <a:off x="6201185" y="6088284"/>
            <a:ext cx="46736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312565" y="2660904"/>
            <a:ext cx="4401312" cy="1463040"/>
          </a:xfrm>
        </p:spPr>
        <p:txBody>
          <a:bodyPr anchor="b">
            <a:normAutofit/>
          </a:bodyPr>
          <a:lstStyle>
            <a:lvl1pPr algn="l">
              <a:defRPr sz="2800" b="0"/>
            </a:lvl1pPr>
          </a:lstStyle>
          <a:p>
            <a:r>
              <a:rPr lang="en-US"/>
              <a:t>Click to edit Master title style</a:t>
            </a:r>
          </a:p>
        </p:txBody>
      </p:sp>
      <p:sp>
        <p:nvSpPr>
          <p:cNvPr id="3" name="Picture Placeholder 2"/>
          <p:cNvSpPr>
            <a:spLocks noGrp="1"/>
          </p:cNvSpPr>
          <p:nvPr>
            <p:ph type="pic" idx="1"/>
          </p:nvPr>
        </p:nvSpPr>
        <p:spPr>
          <a:xfrm>
            <a:off x="1340278" y="693795"/>
            <a:ext cx="4479497"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312841" y="4133089"/>
            <a:ext cx="4400764"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6" name="Footer Placeholder 5"/>
          <p:cNvSpPr>
            <a:spLocks noGrp="1"/>
          </p:cNvSpPr>
          <p:nvPr>
            <p:ph type="ftr" sz="quarter" idx="11"/>
          </p:nvPr>
        </p:nvSpPr>
        <p:spPr>
          <a:xfrm>
            <a:off x="6188597" y="5724836"/>
            <a:ext cx="4658219" cy="365125"/>
          </a:xfrm>
          <a:prstGeom prst="rect">
            <a:avLst/>
          </a:prstGeom>
        </p:spPr>
        <p:txBody>
          <a:bodyPr>
            <a:normAutofit/>
          </a:bodyPr>
          <a:lstStyle/>
          <a:p>
            <a:r>
              <a:rPr lang="en-US"/>
              <a:t>Spyridon Chrysovalantis Zervos - csdp1450</a:t>
            </a:r>
          </a:p>
        </p:txBody>
      </p:sp>
      <p:sp>
        <p:nvSpPr>
          <p:cNvPr id="7" name="Slide Number Placeholder 6"/>
          <p:cNvSpPr>
            <a:spLocks noGrp="1"/>
          </p:cNvSpPr>
          <p:nvPr>
            <p:ph type="sldNum" sz="quarter" idx="12"/>
          </p:nvPr>
        </p:nvSpPr>
        <p:spPr/>
        <p:txBody>
          <a:bodyPr/>
          <a:lstStyle/>
          <a:p>
            <a:fld id="{10545CFA-47CE-427D-A7F0-020FE1304B29}" type="slidenum">
              <a:rPr lang="en-US" smtClean="0"/>
              <a:t>‹#›</a:t>
            </a:fld>
            <a:endParaRPr lang="en-US"/>
          </a:p>
        </p:txBody>
      </p:sp>
    </p:spTree>
    <p:extLst>
      <p:ext uri="{BB962C8B-B14F-4D97-AF65-F5344CB8AC3E}">
        <p14:creationId xmlns:p14="http://schemas.microsoft.com/office/powerpoint/2010/main" val="302376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5" name="Footer Placeholder 4"/>
          <p:cNvSpPr>
            <a:spLocks noGrp="1"/>
          </p:cNvSpPr>
          <p:nvPr>
            <p:ph type="ftr" sz="quarter" idx="11"/>
          </p:nvPr>
        </p:nvSpPr>
        <p:spPr>
          <a:xfrm>
            <a:off x="6625557" y="6381997"/>
            <a:ext cx="4669536" cy="365125"/>
          </a:xfrm>
          <a:prstGeom prst="rect">
            <a:avLst/>
          </a:prstGeom>
        </p:spPr>
        <p:txBody>
          <a:bodyPr/>
          <a:lstStyle/>
          <a:p>
            <a:r>
              <a:rPr lang="en-US"/>
              <a:t>Spyridon Chrysovalantis Zervos - csdp1450</a:t>
            </a:r>
          </a:p>
        </p:txBody>
      </p:sp>
      <p:sp>
        <p:nvSpPr>
          <p:cNvPr id="6" name="Slide Number Placeholder 5"/>
          <p:cNvSpPr>
            <a:spLocks noGrp="1"/>
          </p:cNvSpPr>
          <p:nvPr>
            <p:ph type="sldNum" sz="quarter" idx="12"/>
          </p:nvPr>
        </p:nvSpPr>
        <p:spPr/>
        <p:txBody>
          <a:bodyPr/>
          <a:lstStyle/>
          <a:p>
            <a:fld id="{10545CFA-47CE-427D-A7F0-020FE1304B29}" type="slidenum">
              <a:rPr lang="en-US" smtClean="0"/>
              <a:t>‹#›</a:t>
            </a:fld>
            <a:endParaRPr lang="en-US"/>
          </a:p>
        </p:txBody>
      </p:sp>
    </p:spTree>
    <p:extLst>
      <p:ext uri="{BB962C8B-B14F-4D97-AF65-F5344CB8AC3E}">
        <p14:creationId xmlns:p14="http://schemas.microsoft.com/office/powerpoint/2010/main" val="126632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1" y="1030147"/>
            <a:ext cx="1979271" cy="4780344"/>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1404395" y="1030147"/>
            <a:ext cx="7231605" cy="47803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82400" y="224493"/>
            <a:ext cx="2844800" cy="365125"/>
          </a:xfrm>
          <a:prstGeom prst="rect">
            <a:avLst/>
          </a:prstGeom>
        </p:spPr>
        <p:txBody>
          <a:bodyPr/>
          <a:lstStyle/>
          <a:p>
            <a:r>
              <a:rPr lang="en-US"/>
              <a:t>26 Nov 2024 </a:t>
            </a:r>
          </a:p>
        </p:txBody>
      </p:sp>
      <p:sp>
        <p:nvSpPr>
          <p:cNvPr id="5" name="Footer Placeholder 4"/>
          <p:cNvSpPr>
            <a:spLocks noGrp="1"/>
          </p:cNvSpPr>
          <p:nvPr>
            <p:ph type="ftr" sz="quarter" idx="11"/>
          </p:nvPr>
        </p:nvSpPr>
        <p:spPr>
          <a:xfrm>
            <a:off x="6625557" y="6381997"/>
            <a:ext cx="4669536" cy="365125"/>
          </a:xfrm>
          <a:prstGeom prst="rect">
            <a:avLst/>
          </a:prstGeom>
        </p:spPr>
        <p:txBody>
          <a:bodyPr/>
          <a:lstStyle/>
          <a:p>
            <a:r>
              <a:rPr lang="en-US"/>
              <a:t>Spyridon Chrysovalantis Zervos - csdp1450</a:t>
            </a:r>
          </a:p>
        </p:txBody>
      </p:sp>
      <p:sp>
        <p:nvSpPr>
          <p:cNvPr id="6" name="Slide Number Placeholder 5"/>
          <p:cNvSpPr>
            <a:spLocks noGrp="1"/>
          </p:cNvSpPr>
          <p:nvPr>
            <p:ph type="sldNum" sz="quarter" idx="12"/>
          </p:nvPr>
        </p:nvSpPr>
        <p:spPr/>
        <p:txBody>
          <a:bodyPr/>
          <a:lstStyle/>
          <a:p>
            <a:fld id="{10545CFA-47CE-427D-A7F0-020FE1304B29}" type="slidenum">
              <a:rPr lang="en-US" smtClean="0"/>
              <a:t>‹#›</a:t>
            </a:fld>
            <a:endParaRPr lang="en-US"/>
          </a:p>
        </p:txBody>
      </p:sp>
    </p:spTree>
    <p:extLst>
      <p:ext uri="{BB962C8B-B14F-4D97-AF65-F5344CB8AC3E}">
        <p14:creationId xmlns:p14="http://schemas.microsoft.com/office/powerpoint/2010/main" val="323660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rgbClr val="FFFFFF"/>
            </a:gs>
            <a:gs pos="2000">
              <a:schemeClr val="bg1"/>
            </a:gs>
            <a:gs pos="0">
              <a:srgbClr val="0070C0"/>
            </a:gs>
            <a:gs pos="100000">
              <a:srgbClr val="800000"/>
            </a:gs>
          </a:gsLst>
          <a:lin ang="5400000" scaled="0"/>
          <a:tileRect/>
        </a:gradFill>
        <a:effectLst/>
      </p:bgPr>
    </p:bg>
    <p:spTree>
      <p:nvGrpSpPr>
        <p:cNvPr id="1" name=""/>
        <p:cNvGrpSpPr/>
        <p:nvPr/>
      </p:nvGrpSpPr>
      <p:grpSpPr>
        <a:xfrm>
          <a:off x="0" y="0"/>
          <a:ext cx="0" cy="0"/>
          <a:chOff x="0" y="0"/>
          <a:chExt cx="0" cy="0"/>
        </a:xfrm>
      </p:grpSpPr>
      <p:sp>
        <p:nvSpPr>
          <p:cNvPr id="66" name="Rectangle 65"/>
          <p:cNvSpPr/>
          <p:nvPr/>
        </p:nvSpPr>
        <p:spPr>
          <a:xfrm>
            <a:off x="609600" y="333488"/>
            <a:ext cx="10972800" cy="6185647"/>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Rectangle 70"/>
          <p:cNvSpPr/>
          <p:nvPr/>
        </p:nvSpPr>
        <p:spPr>
          <a:xfrm>
            <a:off x="0" y="6487076"/>
            <a:ext cx="12192000" cy="4074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85000"/>
                    <a:lumOff val="15000"/>
                  </a:schemeClr>
                </a:solidFill>
              </a:rPr>
              <a:t>eScience 2026 – 1</a:t>
            </a:r>
            <a:r>
              <a:rPr lang="en-US" sz="1400" baseline="30000">
                <a:solidFill>
                  <a:schemeClr val="tx1">
                    <a:lumMod val="85000"/>
                    <a:lumOff val="15000"/>
                  </a:schemeClr>
                </a:solidFill>
              </a:rPr>
              <a:t>st</a:t>
            </a:r>
            <a:r>
              <a:rPr lang="en-US" sz="1400">
                <a:solidFill>
                  <a:schemeClr val="tx1">
                    <a:lumMod val="85000"/>
                    <a:lumOff val="15000"/>
                  </a:schemeClr>
                </a:solidFill>
              </a:rPr>
              <a:t> GDSKA Workshop, Naples, Italy – V. Zervos</a:t>
            </a:r>
            <a:endParaRPr lang="en-US" sz="1400" dirty="0">
              <a:solidFill>
                <a:schemeClr val="tx1">
                  <a:lumMod val="85000"/>
                  <a:lumOff val="15000"/>
                </a:schemeClr>
              </a:solidFill>
            </a:endParaRPr>
          </a:p>
        </p:txBody>
      </p:sp>
      <p:sp>
        <p:nvSpPr>
          <p:cNvPr id="2" name="Title Placeholder 1"/>
          <p:cNvSpPr>
            <a:spLocks noGrp="1"/>
          </p:cNvSpPr>
          <p:nvPr>
            <p:ph type="title"/>
          </p:nvPr>
        </p:nvSpPr>
        <p:spPr>
          <a:xfrm>
            <a:off x="133002" y="220817"/>
            <a:ext cx="11827350" cy="6487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33002" y="1127151"/>
            <a:ext cx="11827350" cy="508873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533392" y="6487077"/>
            <a:ext cx="658608" cy="365125"/>
          </a:xfrm>
          <a:prstGeom prst="rect">
            <a:avLst/>
          </a:prstGeom>
        </p:spPr>
        <p:txBody>
          <a:bodyPr vert="horz" lIns="91440" tIns="45720" rIns="91440" bIns="45720" rtlCol="0" anchor="ctr"/>
          <a:lstStyle>
            <a:lvl1pPr algn="r">
              <a:defRPr sz="1000" b="1">
                <a:solidFill>
                  <a:schemeClr val="tx1">
                    <a:lumMod val="85000"/>
                    <a:lumOff val="15000"/>
                  </a:schemeClr>
                </a:solidFill>
              </a:defRPr>
            </a:lvl1pPr>
          </a:lstStyle>
          <a:p>
            <a:fld id="{10545CFA-47CE-427D-A7F0-020FE1304B29}" type="slidenum">
              <a:rPr lang="en-US" smtClean="0"/>
              <a:t>‹#›</a:t>
            </a:fld>
            <a:endParaRPr lang="en-US"/>
          </a:p>
        </p:txBody>
      </p:sp>
      <p:pic>
        <p:nvPicPr>
          <p:cNvPr id="11" name="Picture 3"/>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rcRect t="-1" r="55715" b="4893"/>
          <a:stretch>
            <a:fillRect/>
          </a:stretch>
        </p:blipFill>
        <p:spPr bwMode="auto">
          <a:xfrm>
            <a:off x="2076656" y="6372968"/>
            <a:ext cx="412544" cy="4037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Εικόνα 3" descr="ISL at ICS-FORTH (@ISL_ICS_FORTH) / Posts / X">
            <a:extLst>
              <a:ext uri="{FF2B5EF4-FFF2-40B4-BE49-F238E27FC236}">
                <a16:creationId xmlns:a16="http://schemas.microsoft.com/office/drawing/2014/main" id="{80EC74B0-D270-F776-5A57-05E5151C4FE2}"/>
              </a:ext>
            </a:extLst>
          </p:cNvPr>
          <p:cNvPicPr>
            <a:picLocks noChangeAspect="1"/>
          </p:cNvPicPr>
          <p:nvPr userDrawn="1"/>
        </p:nvPicPr>
        <p:blipFill>
          <a:blip r:embed="rId13"/>
          <a:srcRect l="10823" t="17164" r="8659" b="21217"/>
          <a:stretch>
            <a:fillRect/>
          </a:stretch>
        </p:blipFill>
        <p:spPr>
          <a:xfrm>
            <a:off x="1441759" y="6376210"/>
            <a:ext cx="501895" cy="384072"/>
          </a:xfrm>
          <a:prstGeom prst="rect">
            <a:avLst/>
          </a:prstGeom>
        </p:spPr>
      </p:pic>
      <p:pic>
        <p:nvPicPr>
          <p:cNvPr id="5" name="Εικόνα 4" descr="Institute of Computer Science (ICS), FORTH | IESL-FORTH">
            <a:extLst>
              <a:ext uri="{FF2B5EF4-FFF2-40B4-BE49-F238E27FC236}">
                <a16:creationId xmlns:a16="http://schemas.microsoft.com/office/drawing/2014/main" id="{6BA82795-A45A-81F4-55AE-F69333E42C59}"/>
              </a:ext>
            </a:extLst>
          </p:cNvPr>
          <p:cNvPicPr>
            <a:picLocks noChangeAspect="1"/>
          </p:cNvPicPr>
          <p:nvPr userDrawn="1"/>
        </p:nvPicPr>
        <p:blipFill>
          <a:blip r:embed="rId14"/>
          <a:srcRect l="7899" t="35768" r="7729" b="36620"/>
          <a:stretch>
            <a:fillRect/>
          </a:stretch>
        </p:blipFill>
        <p:spPr>
          <a:xfrm>
            <a:off x="133002" y="6376210"/>
            <a:ext cx="1175755" cy="384793"/>
          </a:xfrm>
          <a:prstGeom prst="rect">
            <a:avLst/>
          </a:prstGeom>
        </p:spPr>
      </p:pic>
    </p:spTree>
    <p:extLst>
      <p:ext uri="{BB962C8B-B14F-4D97-AF65-F5344CB8AC3E}">
        <p14:creationId xmlns:p14="http://schemas.microsoft.com/office/powerpoint/2010/main" val="387707988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spcBef>
          <a:spcPct val="0"/>
        </a:spcBef>
        <a:buNone/>
        <a:defRPr sz="3600" kern="1200">
          <a:solidFill>
            <a:srgbClr val="0070C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rgbClr val="002060"/>
        </a:buClr>
        <a:buSzPct val="76000"/>
        <a:buFont typeface="Wingdings" panose="05000000000000000000" pitchFamily="2" charset="2"/>
        <a:buChar char="q"/>
        <a:defRPr sz="2400" kern="1200">
          <a:solidFill>
            <a:schemeClr val="tx2"/>
          </a:solidFill>
          <a:latin typeface="+mn-lt"/>
          <a:ea typeface="+mn-ea"/>
          <a:cs typeface="+mn-cs"/>
        </a:defRPr>
      </a:lvl1pPr>
      <a:lvl2pPr marL="640080" indent="-274320" algn="l" defTabSz="914400" rtl="0" eaLnBrk="1" latinLnBrk="0" hangingPunct="1">
        <a:spcBef>
          <a:spcPct val="20000"/>
        </a:spcBef>
        <a:buClr>
          <a:srgbClr val="0070C0"/>
        </a:buClr>
        <a:buSzPct val="76000"/>
        <a:buFont typeface="Wingdings" panose="05000000000000000000" pitchFamily="2" charset="2"/>
        <a:buChar char="Ø"/>
        <a:defRPr sz="2200" kern="1200">
          <a:solidFill>
            <a:schemeClr val="tx2"/>
          </a:solidFill>
          <a:latin typeface="+mn-lt"/>
          <a:ea typeface="+mn-ea"/>
          <a:cs typeface="+mn-cs"/>
        </a:defRPr>
      </a:lvl2pPr>
      <a:lvl3pPr marL="914400" indent="-228600" algn="l" defTabSz="914400" rtl="0" eaLnBrk="1" latinLnBrk="0" hangingPunct="1">
        <a:spcBef>
          <a:spcPct val="20000"/>
        </a:spcBef>
        <a:buClr>
          <a:srgbClr val="00B0F0"/>
        </a:buClr>
        <a:buSzPct val="76000"/>
        <a:buFont typeface="Wingdings" panose="05000000000000000000" pitchFamily="2" charset="2"/>
        <a:buChar char="v"/>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org&amp;utm_campaign=index&amp;utm_content=thumbnai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6982" y="869040"/>
            <a:ext cx="9538036" cy="2713318"/>
          </a:xfrm>
        </p:spPr>
        <p:txBody>
          <a:bodyPr>
            <a:normAutofit/>
          </a:bodyPr>
          <a:lstStyle/>
          <a:p>
            <a:pPr algn="ctr"/>
            <a:r>
              <a:rPr lang="en-US" b="1"/>
              <a:t>Knowledge Graph-Based Workflow Validation Using PROV Graphs</a:t>
            </a:r>
            <a:endParaRPr lang="en-US" sz="2800" dirty="0"/>
          </a:p>
        </p:txBody>
      </p:sp>
      <p:sp>
        <p:nvSpPr>
          <p:cNvPr id="3" name="Subtitle 2"/>
          <p:cNvSpPr>
            <a:spLocks noGrp="1"/>
          </p:cNvSpPr>
          <p:nvPr>
            <p:ph type="body" idx="1"/>
          </p:nvPr>
        </p:nvSpPr>
        <p:spPr>
          <a:xfrm>
            <a:off x="2166753" y="3938452"/>
            <a:ext cx="7858494" cy="2050508"/>
          </a:xfrm>
        </p:spPr>
        <p:txBody>
          <a:bodyPr>
            <a:normAutofit fontScale="92500"/>
          </a:bodyPr>
          <a:lstStyle/>
          <a:p>
            <a:pPr algn="ctr"/>
            <a:r>
              <a:rPr lang="en-US" sz="2400"/>
              <a:t>Valantis Zervos, Chrysostomos Zeginis, Dimitris Plexousakis</a:t>
            </a:r>
          </a:p>
          <a:p>
            <a:pPr algn="ctr"/>
            <a:endParaRPr lang="en-US" sz="2400"/>
          </a:p>
          <a:p>
            <a:pPr algn="ctr"/>
            <a:r>
              <a:rPr lang="en-US" sz="2400"/>
              <a:t>Presenter:</a:t>
            </a:r>
          </a:p>
          <a:p>
            <a:pPr algn="ctr"/>
            <a:r>
              <a:rPr lang="en-US" sz="2400" b="1"/>
              <a:t>Valantis Zervos</a:t>
            </a:r>
          </a:p>
          <a:p>
            <a:pPr algn="ctr"/>
            <a:r>
              <a:rPr lang="en-US" sz="2400" i="1"/>
              <a:t>vzervos@ics.forth.gr</a:t>
            </a:r>
            <a:endParaRPr lang="en-US" i="1" dirty="0"/>
          </a:p>
        </p:txBody>
      </p:sp>
      <p:sp>
        <p:nvSpPr>
          <p:cNvPr id="4" name="Θέση αριθμού διαφάνειας 3">
            <a:extLst>
              <a:ext uri="{FF2B5EF4-FFF2-40B4-BE49-F238E27FC236}">
                <a16:creationId xmlns:a16="http://schemas.microsoft.com/office/drawing/2014/main" id="{2FE85E21-B767-FEEC-1479-861CD630C44C}"/>
              </a:ext>
            </a:extLst>
          </p:cNvPr>
          <p:cNvSpPr>
            <a:spLocks noGrp="1"/>
          </p:cNvSpPr>
          <p:nvPr>
            <p:ph type="sldNum" sz="quarter" idx="4294967295"/>
          </p:nvPr>
        </p:nvSpPr>
        <p:spPr>
          <a:xfrm>
            <a:off x="11533392" y="6487077"/>
            <a:ext cx="658608" cy="365125"/>
          </a:xfrm>
        </p:spPr>
        <p:txBody>
          <a:bodyPr/>
          <a:lstStyle/>
          <a:p>
            <a:fld id="{10545CFA-47CE-427D-A7F0-020FE1304B29}" type="slidenum">
              <a:rPr lang="en-US" smtClean="0"/>
              <a:t>1</a:t>
            </a:fld>
            <a:endParaRPr lang="en-US"/>
          </a:p>
        </p:txBody>
      </p:sp>
      <p:sp>
        <p:nvSpPr>
          <p:cNvPr id="6" name="Ορθογώνιο 5">
            <a:extLst>
              <a:ext uri="{FF2B5EF4-FFF2-40B4-BE49-F238E27FC236}">
                <a16:creationId xmlns:a16="http://schemas.microsoft.com/office/drawing/2014/main" id="{3326DC9F-AFFB-E869-9C2C-E6C4F9176DAC}"/>
              </a:ext>
            </a:extLst>
          </p:cNvPr>
          <p:cNvSpPr>
            <a:spLocks noGrp="1" noRot="1" noMove="1" noResize="1" noEditPoints="1" noAdjustHandles="1" noChangeArrowheads="1" noChangeShapeType="1"/>
          </p:cNvSpPr>
          <p:nvPr/>
        </p:nvSpPr>
        <p:spPr>
          <a:xfrm>
            <a:off x="11834949" y="6433457"/>
            <a:ext cx="300445" cy="3135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212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14AD8-661E-3760-168F-F87A01AE93E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515AC10-9BE7-7676-2985-B20373519A0B}"/>
              </a:ext>
            </a:extLst>
          </p:cNvPr>
          <p:cNvSpPr>
            <a:spLocks noGrp="1"/>
          </p:cNvSpPr>
          <p:nvPr>
            <p:ph type="title"/>
          </p:nvPr>
        </p:nvSpPr>
        <p:spPr>
          <a:xfrm>
            <a:off x="281796" y="365125"/>
            <a:ext cx="11072004" cy="572279"/>
          </a:xfrm>
        </p:spPr>
        <p:txBody>
          <a:bodyPr>
            <a:noAutofit/>
          </a:bodyPr>
          <a:lstStyle/>
          <a:p>
            <a:r>
              <a:rPr lang="en-US"/>
              <a:t>Basic Terminology</a:t>
            </a:r>
            <a:endParaRPr lang="en-US">
              <a:solidFill>
                <a:srgbClr val="0070C0"/>
              </a:solidFill>
            </a:endParaRPr>
          </a:p>
        </p:txBody>
      </p:sp>
      <p:sp>
        <p:nvSpPr>
          <p:cNvPr id="5" name="Θέση αριθμού διαφάνειας 4">
            <a:extLst>
              <a:ext uri="{FF2B5EF4-FFF2-40B4-BE49-F238E27FC236}">
                <a16:creationId xmlns:a16="http://schemas.microsoft.com/office/drawing/2014/main" id="{ED4F9A0E-0CE3-0147-E369-5D189BEDCA57}"/>
              </a:ext>
            </a:extLst>
          </p:cNvPr>
          <p:cNvSpPr>
            <a:spLocks noGrp="1"/>
          </p:cNvSpPr>
          <p:nvPr>
            <p:ph type="sldNum" sz="quarter" idx="12"/>
          </p:nvPr>
        </p:nvSpPr>
        <p:spPr/>
        <p:txBody>
          <a:bodyPr/>
          <a:lstStyle/>
          <a:p>
            <a:fld id="{471F11AF-D0A7-4657-81D8-0FFACDC29794}" type="slidenum">
              <a:rPr lang="en-US" smtClean="0"/>
              <a:t>2</a:t>
            </a:fld>
            <a:endParaRPr lang="en-US"/>
          </a:p>
        </p:txBody>
      </p:sp>
      <p:pic>
        <p:nvPicPr>
          <p:cNvPr id="6" name="Εικόνα 5">
            <a:extLst>
              <a:ext uri="{FF2B5EF4-FFF2-40B4-BE49-F238E27FC236}">
                <a16:creationId xmlns:a16="http://schemas.microsoft.com/office/drawing/2014/main" id="{26290570-0A13-7808-8218-AD0724F0CD0C}"/>
              </a:ext>
            </a:extLst>
          </p:cNvPr>
          <p:cNvPicPr>
            <a:picLocks noChangeAspect="1"/>
          </p:cNvPicPr>
          <p:nvPr/>
        </p:nvPicPr>
        <p:blipFill>
          <a:blip r:embed="rId3"/>
          <a:srcRect t="2123" b="1993"/>
          <a:stretch>
            <a:fillRect/>
          </a:stretch>
        </p:blipFill>
        <p:spPr>
          <a:xfrm>
            <a:off x="5647783" y="882852"/>
            <a:ext cx="6174103" cy="3700390"/>
          </a:xfrm>
          <a:prstGeom prst="rect">
            <a:avLst/>
          </a:prstGeom>
        </p:spPr>
      </p:pic>
      <p:sp>
        <p:nvSpPr>
          <p:cNvPr id="3" name="Content Placeholder 2">
            <a:extLst>
              <a:ext uri="{FF2B5EF4-FFF2-40B4-BE49-F238E27FC236}">
                <a16:creationId xmlns:a16="http://schemas.microsoft.com/office/drawing/2014/main" id="{9337A692-5313-731E-3A05-EB35EE614F31}"/>
              </a:ext>
            </a:extLst>
          </p:cNvPr>
          <p:cNvSpPr>
            <a:spLocks noGrp="1"/>
          </p:cNvSpPr>
          <p:nvPr>
            <p:ph idx="1"/>
          </p:nvPr>
        </p:nvSpPr>
        <p:spPr>
          <a:xfrm>
            <a:off x="307855" y="1020789"/>
            <a:ext cx="5263921" cy="5667393"/>
          </a:xfrm>
        </p:spPr>
        <p:txBody>
          <a:bodyPr>
            <a:noAutofit/>
          </a:bodyPr>
          <a:lstStyle/>
          <a:p>
            <a:pPr fontAlgn="base"/>
            <a:r>
              <a:rPr lang="en-US" sz="2800" b="1"/>
              <a:t>Workflow</a:t>
            </a:r>
          </a:p>
          <a:p>
            <a:pPr lvl="1" fontAlgn="base"/>
            <a:r>
              <a:rPr lang="en-US" sz="2200"/>
              <a:t>ordered tasks with inputs and outputs</a:t>
            </a:r>
          </a:p>
          <a:p>
            <a:pPr fontAlgn="base"/>
            <a:r>
              <a:rPr lang="en-US" sz="2800" b="1"/>
              <a:t>Knowledge Graph</a:t>
            </a:r>
          </a:p>
          <a:p>
            <a:pPr lvl="1" fontAlgn="base"/>
            <a:r>
              <a:rPr lang="en-US" sz="2200"/>
              <a:t>entities connected by relationships </a:t>
            </a:r>
          </a:p>
          <a:p>
            <a:pPr fontAlgn="base"/>
            <a:r>
              <a:rPr lang="en-US" sz="2800" b="1"/>
              <a:t>RDF</a:t>
            </a:r>
          </a:p>
          <a:p>
            <a:pPr lvl="1" fontAlgn="base"/>
            <a:r>
              <a:rPr lang="en-US" sz="2200"/>
              <a:t>triples (subject, predicate, object) </a:t>
            </a:r>
          </a:p>
          <a:p>
            <a:pPr lvl="1" fontAlgn="base"/>
            <a:r>
              <a:rPr lang="en-US" sz="2200"/>
              <a:t>Example: (TaskA, uses, DatasetB) </a:t>
            </a:r>
          </a:p>
          <a:p>
            <a:pPr lvl="1" fontAlgn="base"/>
            <a:r>
              <a:rPr lang="en-US" sz="2200"/>
              <a:t>Enables structured, machine-readable relationships</a:t>
            </a:r>
            <a:endParaRPr lang="en-US" sz="1000"/>
          </a:p>
        </p:txBody>
      </p:sp>
      <p:pic>
        <p:nvPicPr>
          <p:cNvPr id="4" name="Picture 2" descr="The Anatomy of a Content Knowledge Graph | Schema App Solutions">
            <a:extLst>
              <a:ext uri="{FF2B5EF4-FFF2-40B4-BE49-F238E27FC236}">
                <a16:creationId xmlns:a16="http://schemas.microsoft.com/office/drawing/2014/main" id="{47596B17-7C06-7C0F-AD46-B282931471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8806" b="17517"/>
          <a:stretch>
            <a:fillRect/>
          </a:stretch>
        </p:blipFill>
        <p:spPr bwMode="auto">
          <a:xfrm>
            <a:off x="5778410" y="4755980"/>
            <a:ext cx="5455353" cy="1736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006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47793-9D0E-300E-D1FB-7A81E54A9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B99B0-95D6-EED3-AC39-E7074B4F2715}"/>
              </a:ext>
            </a:extLst>
          </p:cNvPr>
          <p:cNvSpPr>
            <a:spLocks noGrp="1"/>
          </p:cNvSpPr>
          <p:nvPr>
            <p:ph type="title"/>
          </p:nvPr>
        </p:nvSpPr>
        <p:spPr/>
        <p:txBody>
          <a:bodyPr/>
          <a:lstStyle/>
          <a:p>
            <a:r>
              <a:rPr lang="en-US"/>
              <a:t>From Traces to Provenance</a:t>
            </a:r>
          </a:p>
        </p:txBody>
      </p:sp>
      <p:sp>
        <p:nvSpPr>
          <p:cNvPr id="4" name="Θέση αριθμού διαφάνειας 3">
            <a:extLst>
              <a:ext uri="{FF2B5EF4-FFF2-40B4-BE49-F238E27FC236}">
                <a16:creationId xmlns:a16="http://schemas.microsoft.com/office/drawing/2014/main" id="{FF40A68C-4833-E57B-FCC0-C301305E07C1}"/>
              </a:ext>
            </a:extLst>
          </p:cNvPr>
          <p:cNvSpPr>
            <a:spLocks noGrp="1"/>
          </p:cNvSpPr>
          <p:nvPr>
            <p:ph type="sldNum" sz="quarter" idx="12"/>
          </p:nvPr>
        </p:nvSpPr>
        <p:spPr/>
        <p:txBody>
          <a:bodyPr/>
          <a:lstStyle/>
          <a:p>
            <a:fld id="{10545CFA-47CE-427D-A7F0-020FE1304B29}" type="slidenum">
              <a:rPr lang="en-US" smtClean="0"/>
              <a:t>3</a:t>
            </a:fld>
            <a:endParaRPr lang="en-US"/>
          </a:p>
        </p:txBody>
      </p:sp>
      <p:sp>
        <p:nvSpPr>
          <p:cNvPr id="9" name="Content Placeholder 2">
            <a:extLst>
              <a:ext uri="{FF2B5EF4-FFF2-40B4-BE49-F238E27FC236}">
                <a16:creationId xmlns:a16="http://schemas.microsoft.com/office/drawing/2014/main" id="{315F9ECB-CD39-3CA7-D119-381FF1E10A60}"/>
              </a:ext>
            </a:extLst>
          </p:cNvPr>
          <p:cNvSpPr>
            <a:spLocks noGrp="1"/>
          </p:cNvSpPr>
          <p:nvPr>
            <p:ph idx="1"/>
          </p:nvPr>
        </p:nvSpPr>
        <p:spPr>
          <a:xfrm>
            <a:off x="307854" y="1020789"/>
            <a:ext cx="8071871" cy="5667393"/>
          </a:xfrm>
        </p:spPr>
        <p:txBody>
          <a:bodyPr>
            <a:noAutofit/>
          </a:bodyPr>
          <a:lstStyle/>
          <a:p>
            <a:pPr fontAlgn="base"/>
            <a:r>
              <a:rPr lang="en-US" sz="2800" b="1"/>
              <a:t>Execution traces </a:t>
            </a:r>
            <a:r>
              <a:rPr lang="en-US" sz="2800"/>
              <a:t>record what happens during workflow runs </a:t>
            </a:r>
          </a:p>
          <a:p>
            <a:pPr lvl="1" fontAlgn="base"/>
            <a:r>
              <a:rPr lang="en-US" sz="2200"/>
              <a:t>Support replay, profiling, and debugging tasks </a:t>
            </a:r>
          </a:p>
          <a:p>
            <a:pPr lvl="1" fontAlgn="base"/>
            <a:r>
              <a:rPr lang="en-US" sz="2200"/>
              <a:t>Often engine-specific and semantically limited</a:t>
            </a:r>
          </a:p>
          <a:p>
            <a:pPr fontAlgn="base"/>
            <a:r>
              <a:rPr lang="en-US" sz="2800" b="1"/>
              <a:t>Provenance</a:t>
            </a:r>
            <a:r>
              <a:rPr lang="en-US" sz="2800"/>
              <a:t> is the metadata describing what, when, where, how, and who of execution </a:t>
            </a:r>
          </a:p>
          <a:p>
            <a:pPr lvl="1" fontAlgn="base"/>
            <a:r>
              <a:rPr lang="en-US" sz="2200"/>
              <a:t>Adds</a:t>
            </a:r>
            <a:r>
              <a:rPr lang="en-US" sz="2200" b="1"/>
              <a:t> </a:t>
            </a:r>
            <a:r>
              <a:rPr lang="en-US" sz="2200"/>
              <a:t>structured and interoperable context </a:t>
            </a:r>
          </a:p>
          <a:p>
            <a:pPr lvl="1" fontAlgn="base"/>
            <a:r>
              <a:rPr lang="en-US" sz="2200"/>
              <a:t>Enables cross-system analysis</a:t>
            </a:r>
            <a:r>
              <a:rPr lang="en-US" sz="2400" b="1"/>
              <a:t> </a:t>
            </a:r>
          </a:p>
        </p:txBody>
      </p:sp>
      <p:pic>
        <p:nvPicPr>
          <p:cNvPr id="3074" name="Picture 2" descr="Workflow process icon simple thin outline | Premium Vector">
            <a:extLst>
              <a:ext uri="{FF2B5EF4-FFF2-40B4-BE49-F238E27FC236}">
                <a16:creationId xmlns:a16="http://schemas.microsoft.com/office/drawing/2014/main" id="{B099229D-3E0B-B40D-D9A4-9DD4991EB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5510" y="1020789"/>
            <a:ext cx="4151712" cy="4151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809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500"/>
                                        <p:tgtEl>
                                          <p:spTgt spid="9">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500"/>
                                        <p:tgtEl>
                                          <p:spTgt spid="9">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fade">
                                      <p:cBhvr>
                                        <p:cTn id="24"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02E3E-2F64-EB27-226B-05C69A8FC1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4129F-820D-8725-D676-BD313424FFA1}"/>
              </a:ext>
            </a:extLst>
          </p:cNvPr>
          <p:cNvSpPr>
            <a:spLocks noGrp="1"/>
          </p:cNvSpPr>
          <p:nvPr>
            <p:ph type="title"/>
          </p:nvPr>
        </p:nvSpPr>
        <p:spPr/>
        <p:txBody>
          <a:bodyPr/>
          <a:lstStyle/>
          <a:p>
            <a:r>
              <a:rPr lang="en-US"/>
              <a:t>Classical Validation</a:t>
            </a:r>
            <a:endParaRPr lang="en-US" dirty="0"/>
          </a:p>
        </p:txBody>
      </p:sp>
      <p:sp>
        <p:nvSpPr>
          <p:cNvPr id="4" name="Θέση αριθμού διαφάνειας 3">
            <a:extLst>
              <a:ext uri="{FF2B5EF4-FFF2-40B4-BE49-F238E27FC236}">
                <a16:creationId xmlns:a16="http://schemas.microsoft.com/office/drawing/2014/main" id="{DA7E454A-E145-096F-168E-9D6CE8BBC23D}"/>
              </a:ext>
            </a:extLst>
          </p:cNvPr>
          <p:cNvSpPr>
            <a:spLocks noGrp="1"/>
          </p:cNvSpPr>
          <p:nvPr>
            <p:ph type="sldNum" sz="quarter" idx="12"/>
          </p:nvPr>
        </p:nvSpPr>
        <p:spPr/>
        <p:txBody>
          <a:bodyPr/>
          <a:lstStyle/>
          <a:p>
            <a:fld id="{10545CFA-47CE-427D-A7F0-020FE1304B29}" type="slidenum">
              <a:rPr lang="en-US" smtClean="0"/>
              <a:t>4</a:t>
            </a:fld>
            <a:endParaRPr lang="en-US"/>
          </a:p>
        </p:txBody>
      </p:sp>
      <p:sp>
        <p:nvSpPr>
          <p:cNvPr id="9" name="Content Placeholder 2">
            <a:extLst>
              <a:ext uri="{FF2B5EF4-FFF2-40B4-BE49-F238E27FC236}">
                <a16:creationId xmlns:a16="http://schemas.microsoft.com/office/drawing/2014/main" id="{3E0B9187-A640-5C5B-E0AB-F1312A43762D}"/>
              </a:ext>
            </a:extLst>
          </p:cNvPr>
          <p:cNvSpPr>
            <a:spLocks noGrp="1"/>
          </p:cNvSpPr>
          <p:nvPr>
            <p:ph idx="1"/>
          </p:nvPr>
        </p:nvSpPr>
        <p:spPr>
          <a:xfrm>
            <a:off x="307854" y="1020789"/>
            <a:ext cx="10900077" cy="1638105"/>
          </a:xfrm>
        </p:spPr>
        <p:txBody>
          <a:bodyPr>
            <a:noAutofit/>
          </a:bodyPr>
          <a:lstStyle/>
          <a:p>
            <a:pPr lvl="0"/>
            <a:r>
              <a:rPr lang="en-US" sz="2200"/>
              <a:t>Operates directly on event logs and case-based traces to check activity order, timestamps, resources, roles, and attributes.</a:t>
            </a:r>
          </a:p>
          <a:p>
            <a:pPr lvl="0"/>
            <a:r>
              <a:rPr lang="en-US" sz="2200"/>
              <a:t>Uses procedural logic and event correlation to reconstruct relationships and identify workflow violations.</a:t>
            </a:r>
          </a:p>
        </p:txBody>
      </p:sp>
      <p:pic>
        <p:nvPicPr>
          <p:cNvPr id="2052" name="Picture 4" descr="Download Check Mark, Tick Mark, Check. Royalty-Free Vector Graphic - Pixabay">
            <a:extLst>
              <a:ext uri="{FF2B5EF4-FFF2-40B4-BE49-F238E27FC236}">
                <a16:creationId xmlns:a16="http://schemas.microsoft.com/office/drawing/2014/main" id="{D7390D4D-04E2-BB82-5EC1-52D7F43B54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0344" y="2841473"/>
            <a:ext cx="1187149" cy="116477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etter x Generic color fill icon | Freepik">
            <a:extLst>
              <a:ext uri="{FF2B5EF4-FFF2-40B4-BE49-F238E27FC236}">
                <a16:creationId xmlns:a16="http://schemas.microsoft.com/office/drawing/2014/main" id="{23D302A6-84B3-757E-CD16-548662B8AE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20344" y="5061964"/>
            <a:ext cx="1164770" cy="116477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707DD57-31F4-4E03-0165-9EBD778C7BE0}"/>
              </a:ext>
            </a:extLst>
          </p:cNvPr>
          <p:cNvSpPr txBox="1">
            <a:spLocks/>
          </p:cNvSpPr>
          <p:nvPr/>
        </p:nvSpPr>
        <p:spPr>
          <a:xfrm>
            <a:off x="307854" y="2658894"/>
            <a:ext cx="9512052" cy="3859472"/>
          </a:xfrm>
          <a:prstGeom prst="rect">
            <a:avLst/>
          </a:prstGeom>
        </p:spPr>
        <p:txBody>
          <a:bodyPr vert="horz" lIns="91440" tIns="45720" rIns="91440" bIns="45720" rtlCol="0">
            <a:noAutofit/>
          </a:bodyPr>
          <a:lstStyle>
            <a:lvl1pPr marL="342900" indent="-274320" algn="l" defTabSz="914400" rtl="0" eaLnBrk="1" latinLnBrk="0" hangingPunct="1">
              <a:spcBef>
                <a:spcPct val="20000"/>
              </a:spcBef>
              <a:buClr>
                <a:srgbClr val="002060"/>
              </a:buClr>
              <a:buSzPct val="76000"/>
              <a:buFont typeface="Wingdings" panose="05000000000000000000" pitchFamily="2" charset="2"/>
              <a:buChar char="q"/>
              <a:defRPr sz="2400" kern="1200">
                <a:solidFill>
                  <a:schemeClr val="tx2"/>
                </a:solidFill>
                <a:latin typeface="+mn-lt"/>
                <a:ea typeface="+mn-ea"/>
                <a:cs typeface="+mn-cs"/>
              </a:defRPr>
            </a:lvl1pPr>
            <a:lvl2pPr marL="640080" indent="-274320" algn="l" defTabSz="914400" rtl="0" eaLnBrk="1" latinLnBrk="0" hangingPunct="1">
              <a:spcBef>
                <a:spcPct val="20000"/>
              </a:spcBef>
              <a:buClr>
                <a:srgbClr val="0070C0"/>
              </a:buClr>
              <a:buSzPct val="76000"/>
              <a:buFont typeface="Wingdings" panose="05000000000000000000" pitchFamily="2" charset="2"/>
              <a:buChar char="Ø"/>
              <a:defRPr sz="1800" kern="1200">
                <a:solidFill>
                  <a:srgbClr val="000099"/>
                </a:solidFill>
                <a:latin typeface="+mn-lt"/>
                <a:ea typeface="+mn-ea"/>
                <a:cs typeface="+mn-cs"/>
              </a:defRPr>
            </a:lvl2pPr>
            <a:lvl3pPr marL="914400" indent="-228600" algn="l" defTabSz="914400" rtl="0" eaLnBrk="1" latinLnBrk="0" hangingPunct="1">
              <a:spcBef>
                <a:spcPct val="20000"/>
              </a:spcBef>
              <a:buClr>
                <a:srgbClr val="00B0F0"/>
              </a:buClr>
              <a:buSzPct val="76000"/>
              <a:buFont typeface="Wingdings" panose="05000000000000000000" pitchFamily="2" charset="2"/>
              <a:buChar char="v"/>
              <a:defRPr sz="16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2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fontAlgn="base"/>
            <a:r>
              <a:rPr lang="en-US"/>
              <a:t>It successfully…</a:t>
            </a:r>
          </a:p>
          <a:p>
            <a:pPr lvl="1" fontAlgn="base"/>
            <a:r>
              <a:rPr lang="en-US" sz="2400">
                <a:solidFill>
                  <a:srgbClr val="00B050"/>
                </a:solidFill>
              </a:rPr>
              <a:t>Ensures </a:t>
            </a:r>
            <a:r>
              <a:rPr lang="en-US" sz="2400" b="1">
                <a:solidFill>
                  <a:srgbClr val="00B050"/>
                </a:solidFill>
              </a:rPr>
              <a:t>structural correctness and execution feasibility </a:t>
            </a:r>
          </a:p>
          <a:p>
            <a:pPr lvl="1" fontAlgn="base"/>
            <a:r>
              <a:rPr lang="en-US" sz="2400">
                <a:solidFill>
                  <a:srgbClr val="00B050"/>
                </a:solidFill>
              </a:rPr>
              <a:t>Detects </a:t>
            </a:r>
            <a:r>
              <a:rPr lang="en-US" sz="2400" b="1">
                <a:solidFill>
                  <a:srgbClr val="00B050"/>
                </a:solidFill>
              </a:rPr>
              <a:t>missing dependencies </a:t>
            </a:r>
            <a:r>
              <a:rPr lang="en-US" sz="2400">
                <a:solidFill>
                  <a:srgbClr val="00B050"/>
                </a:solidFill>
              </a:rPr>
              <a:t>and invalid control flows </a:t>
            </a:r>
          </a:p>
          <a:p>
            <a:pPr fontAlgn="base"/>
            <a:endParaRPr lang="en-US" sz="2800"/>
          </a:p>
          <a:p>
            <a:pPr fontAlgn="base"/>
            <a:r>
              <a:rPr lang="en-US" sz="2800"/>
              <a:t>But…</a:t>
            </a:r>
          </a:p>
          <a:p>
            <a:pPr lvl="1" fontAlgn="base"/>
            <a:r>
              <a:rPr lang="en-US" sz="2400">
                <a:solidFill>
                  <a:srgbClr val="C00000"/>
                </a:solidFill>
              </a:rPr>
              <a:t>Struggles with </a:t>
            </a:r>
            <a:r>
              <a:rPr lang="en-US" sz="2400" b="1">
                <a:solidFill>
                  <a:srgbClr val="C00000"/>
                </a:solidFill>
              </a:rPr>
              <a:t>complex</a:t>
            </a:r>
            <a:r>
              <a:rPr lang="en-US" sz="2400">
                <a:solidFill>
                  <a:srgbClr val="C00000"/>
                </a:solidFill>
              </a:rPr>
              <a:t> relational checks,</a:t>
            </a:r>
            <a:r>
              <a:rPr lang="en-US" sz="2400" b="1">
                <a:solidFill>
                  <a:srgbClr val="C00000"/>
                </a:solidFill>
              </a:rPr>
              <a:t> multi-step dependency</a:t>
            </a:r>
            <a:r>
              <a:rPr lang="en-US" sz="2400">
                <a:solidFill>
                  <a:srgbClr val="C00000"/>
                </a:solidFill>
              </a:rPr>
              <a:t> paths, and attribute- or provenance-aware constraints that require </a:t>
            </a:r>
            <a:r>
              <a:rPr lang="en-US" sz="2400" b="1">
                <a:solidFill>
                  <a:srgbClr val="C00000"/>
                </a:solidFill>
              </a:rPr>
              <a:t>procedural reconstruction</a:t>
            </a:r>
            <a:r>
              <a:rPr lang="en-US" sz="2400">
                <a:solidFill>
                  <a:srgbClr val="C00000"/>
                </a:solidFill>
              </a:rPr>
              <a:t>. </a:t>
            </a:r>
          </a:p>
        </p:txBody>
      </p:sp>
    </p:spTree>
    <p:extLst>
      <p:ext uri="{BB962C8B-B14F-4D97-AF65-F5344CB8AC3E}">
        <p14:creationId xmlns:p14="http://schemas.microsoft.com/office/powerpoint/2010/main" val="3461656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2052"/>
                                        </p:tgtEl>
                                        <p:attrNameLst>
                                          <p:attrName>style.visibility</p:attrName>
                                        </p:attrNameLst>
                                      </p:cBhvr>
                                      <p:to>
                                        <p:strVal val="visible"/>
                                      </p:to>
                                    </p:set>
                                    <p:animEffect transition="in" filter="barn(inVertical)">
                                      <p:cBhvr>
                                        <p:cTn id="24" dur="500"/>
                                        <p:tgtEl>
                                          <p:spTgt spid="205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2054"/>
                                        </p:tgtEl>
                                        <p:attrNameLst>
                                          <p:attrName>style.visibility</p:attrName>
                                        </p:attrNameLst>
                                      </p:cBhvr>
                                      <p:to>
                                        <p:strVal val="visible"/>
                                      </p:to>
                                    </p:set>
                                    <p:animEffect transition="in" filter="barn(inVertical)">
                                      <p:cBhvr>
                                        <p:cTn id="35"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EE8B5-378C-FD75-5F38-08D9B8C90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D864E-0741-9587-9A16-C10774F45452}"/>
              </a:ext>
            </a:extLst>
          </p:cNvPr>
          <p:cNvSpPr>
            <a:spLocks noGrp="1"/>
          </p:cNvSpPr>
          <p:nvPr>
            <p:ph type="title"/>
          </p:nvPr>
        </p:nvSpPr>
        <p:spPr/>
        <p:txBody>
          <a:bodyPr/>
          <a:lstStyle/>
          <a:p>
            <a:r>
              <a:rPr lang="en-US"/>
              <a:t>What if?</a:t>
            </a:r>
            <a:endParaRPr lang="en-US" dirty="0"/>
          </a:p>
        </p:txBody>
      </p:sp>
      <p:sp>
        <p:nvSpPr>
          <p:cNvPr id="4" name="Θέση αριθμού διαφάνειας 3">
            <a:extLst>
              <a:ext uri="{FF2B5EF4-FFF2-40B4-BE49-F238E27FC236}">
                <a16:creationId xmlns:a16="http://schemas.microsoft.com/office/drawing/2014/main" id="{13EAB87E-2C18-8059-7282-AC30C8B5C94E}"/>
              </a:ext>
            </a:extLst>
          </p:cNvPr>
          <p:cNvSpPr>
            <a:spLocks noGrp="1"/>
          </p:cNvSpPr>
          <p:nvPr>
            <p:ph type="sldNum" sz="quarter" idx="12"/>
          </p:nvPr>
        </p:nvSpPr>
        <p:spPr/>
        <p:txBody>
          <a:bodyPr/>
          <a:lstStyle/>
          <a:p>
            <a:fld id="{10545CFA-47CE-427D-A7F0-020FE1304B29}" type="slidenum">
              <a:rPr lang="en-US" smtClean="0"/>
              <a:t>5</a:t>
            </a:fld>
            <a:endParaRPr lang="en-US"/>
          </a:p>
        </p:txBody>
      </p:sp>
      <p:sp>
        <p:nvSpPr>
          <p:cNvPr id="9" name="Content Placeholder 2">
            <a:extLst>
              <a:ext uri="{FF2B5EF4-FFF2-40B4-BE49-F238E27FC236}">
                <a16:creationId xmlns:a16="http://schemas.microsoft.com/office/drawing/2014/main" id="{DD0F92CA-3FEA-539E-8CCB-99C6D9F4DF0D}"/>
              </a:ext>
            </a:extLst>
          </p:cNvPr>
          <p:cNvSpPr>
            <a:spLocks noGrp="1"/>
          </p:cNvSpPr>
          <p:nvPr>
            <p:ph idx="1"/>
          </p:nvPr>
        </p:nvSpPr>
        <p:spPr>
          <a:xfrm>
            <a:off x="307854" y="1020789"/>
            <a:ext cx="6085689" cy="5667393"/>
          </a:xfrm>
        </p:spPr>
        <p:txBody>
          <a:bodyPr>
            <a:noAutofit/>
          </a:bodyPr>
          <a:lstStyle/>
          <a:p>
            <a:pPr fontAlgn="base"/>
            <a:r>
              <a:rPr lang="en-US" sz="2600"/>
              <a:t>Represent workflow executions as </a:t>
            </a:r>
            <a:r>
              <a:rPr lang="en-US" sz="2600" b="1"/>
              <a:t>interconnected PROV-aligned knowledge graphs. </a:t>
            </a:r>
          </a:p>
          <a:p>
            <a:pPr lvl="1" fontAlgn="base"/>
            <a:r>
              <a:rPr lang="en-US" sz="2000"/>
              <a:t>Explicitly link activities, cases, agents, roles, and attributes. </a:t>
            </a:r>
          </a:p>
          <a:p>
            <a:pPr fontAlgn="base"/>
            <a:r>
              <a:rPr lang="en-US" sz="2600"/>
              <a:t>Express validation rules as </a:t>
            </a:r>
            <a:r>
              <a:rPr lang="en-US" sz="2600" b="1"/>
              <a:t>graph patterns</a:t>
            </a:r>
            <a:r>
              <a:rPr lang="en-US" sz="2600"/>
              <a:t> over execution relationships. </a:t>
            </a:r>
          </a:p>
          <a:p>
            <a:pPr fontAlgn="base"/>
            <a:r>
              <a:rPr lang="en-US" sz="2600"/>
              <a:t>Trace </a:t>
            </a:r>
            <a:r>
              <a:rPr lang="en-US" sz="2600" b="1"/>
              <a:t>multi-step dependencies </a:t>
            </a:r>
            <a:r>
              <a:rPr lang="en-US" sz="2600"/>
              <a:t>to detect complex workflow violations.</a:t>
            </a:r>
          </a:p>
        </p:txBody>
      </p:sp>
      <p:pic>
        <p:nvPicPr>
          <p:cNvPr id="7" name="Εικόνα 6">
            <a:extLst>
              <a:ext uri="{FF2B5EF4-FFF2-40B4-BE49-F238E27FC236}">
                <a16:creationId xmlns:a16="http://schemas.microsoft.com/office/drawing/2014/main" id="{A0DCDD95-6E40-18C1-0DBF-792175E65196}"/>
              </a:ext>
            </a:extLst>
          </p:cNvPr>
          <p:cNvPicPr>
            <a:picLocks noChangeAspect="1"/>
          </p:cNvPicPr>
          <p:nvPr/>
        </p:nvPicPr>
        <p:blipFill>
          <a:blip r:embed="rId3"/>
          <a:stretch>
            <a:fillRect/>
          </a:stretch>
        </p:blipFill>
        <p:spPr>
          <a:xfrm>
            <a:off x="6615235" y="169818"/>
            <a:ext cx="5267940" cy="6441439"/>
          </a:xfrm>
          <a:prstGeom prst="rect">
            <a:avLst/>
          </a:prstGeom>
        </p:spPr>
      </p:pic>
    </p:spTree>
    <p:extLst>
      <p:ext uri="{BB962C8B-B14F-4D97-AF65-F5344CB8AC3E}">
        <p14:creationId xmlns:p14="http://schemas.microsoft.com/office/powerpoint/2010/main" val="3770515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fade">
                                      <p:cBhvr>
                                        <p:cTn id="16" dur="500"/>
                                        <p:tgtEl>
                                          <p:spTgt spid="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2C7F8-C703-C7D0-E4EA-5D26CA412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5821B-F778-14E4-755C-29624A0FDE2C}"/>
              </a:ext>
            </a:extLst>
          </p:cNvPr>
          <p:cNvSpPr>
            <a:spLocks noGrp="1"/>
          </p:cNvSpPr>
          <p:nvPr>
            <p:ph type="title"/>
          </p:nvPr>
        </p:nvSpPr>
        <p:spPr/>
        <p:txBody>
          <a:bodyPr/>
          <a:lstStyle/>
          <a:p>
            <a:r>
              <a:rPr lang="en-US"/>
              <a:t>XES Elements to KG Entities</a:t>
            </a:r>
            <a:endParaRPr lang="en-US" dirty="0"/>
          </a:p>
        </p:txBody>
      </p:sp>
      <p:sp>
        <p:nvSpPr>
          <p:cNvPr id="4" name="Θέση αριθμού διαφάνειας 3">
            <a:extLst>
              <a:ext uri="{FF2B5EF4-FFF2-40B4-BE49-F238E27FC236}">
                <a16:creationId xmlns:a16="http://schemas.microsoft.com/office/drawing/2014/main" id="{444BCCEB-B518-1DEC-8823-2E0827890082}"/>
              </a:ext>
            </a:extLst>
          </p:cNvPr>
          <p:cNvSpPr>
            <a:spLocks noGrp="1"/>
          </p:cNvSpPr>
          <p:nvPr>
            <p:ph type="sldNum" sz="quarter" idx="12"/>
          </p:nvPr>
        </p:nvSpPr>
        <p:spPr/>
        <p:txBody>
          <a:bodyPr/>
          <a:lstStyle/>
          <a:p>
            <a:fld id="{10545CFA-47CE-427D-A7F0-020FE1304B29}" type="slidenum">
              <a:rPr lang="en-US" smtClean="0"/>
              <a:t>6</a:t>
            </a:fld>
            <a:endParaRPr lang="en-US"/>
          </a:p>
        </p:txBody>
      </p:sp>
      <p:graphicFrame>
        <p:nvGraphicFramePr>
          <p:cNvPr id="36" name="Πίνακας 35">
            <a:extLst>
              <a:ext uri="{FF2B5EF4-FFF2-40B4-BE49-F238E27FC236}">
                <a16:creationId xmlns:a16="http://schemas.microsoft.com/office/drawing/2014/main" id="{957D3F3F-A689-2BE3-7B33-E439234916AF}"/>
              </a:ext>
            </a:extLst>
          </p:cNvPr>
          <p:cNvGraphicFramePr>
            <a:graphicFrameLocks noGrp="1"/>
          </p:cNvGraphicFramePr>
          <p:nvPr>
            <p:extLst>
              <p:ext uri="{D42A27DB-BD31-4B8C-83A1-F6EECF244321}">
                <p14:modId xmlns:p14="http://schemas.microsoft.com/office/powerpoint/2010/main" val="2879275321"/>
              </p:ext>
            </p:extLst>
          </p:nvPr>
        </p:nvGraphicFramePr>
        <p:xfrm>
          <a:off x="247078" y="818554"/>
          <a:ext cx="11727207" cy="5541785"/>
        </p:xfrm>
        <a:graphic>
          <a:graphicData uri="http://schemas.openxmlformats.org/drawingml/2006/table">
            <a:tbl>
              <a:tblPr firstRow="1" bandRow="1">
                <a:tableStyleId>{5C22544A-7EE6-4342-B048-85BDC9FD1C3A}</a:tableStyleId>
              </a:tblPr>
              <a:tblGrid>
                <a:gridCol w="2501039">
                  <a:extLst>
                    <a:ext uri="{9D8B030D-6E8A-4147-A177-3AD203B41FA5}">
                      <a16:colId xmlns:a16="http://schemas.microsoft.com/office/drawing/2014/main" val="1954135175"/>
                    </a:ext>
                  </a:extLst>
                </a:gridCol>
                <a:gridCol w="5996740">
                  <a:extLst>
                    <a:ext uri="{9D8B030D-6E8A-4147-A177-3AD203B41FA5}">
                      <a16:colId xmlns:a16="http://schemas.microsoft.com/office/drawing/2014/main" val="1407539724"/>
                    </a:ext>
                  </a:extLst>
                </a:gridCol>
                <a:gridCol w="3229428">
                  <a:extLst>
                    <a:ext uri="{9D8B030D-6E8A-4147-A177-3AD203B41FA5}">
                      <a16:colId xmlns:a16="http://schemas.microsoft.com/office/drawing/2014/main" val="2484379133"/>
                    </a:ext>
                  </a:extLst>
                </a:gridCol>
              </a:tblGrid>
              <a:tr h="380665">
                <a:tc>
                  <a:txBody>
                    <a:bodyPr/>
                    <a:lstStyle/>
                    <a:p>
                      <a:r>
                        <a:rPr lang="en-US"/>
                        <a:t>Concept (XES)</a:t>
                      </a:r>
                    </a:p>
                  </a:txBody>
                  <a:tcPr>
                    <a:solidFill>
                      <a:srgbClr val="00B0F0"/>
                    </a:solidFill>
                  </a:tcPr>
                </a:tc>
                <a:tc>
                  <a:txBody>
                    <a:bodyPr/>
                    <a:lstStyle/>
                    <a:p>
                      <a:r>
                        <a:rPr lang="en-US"/>
                        <a:t>Meaning</a:t>
                      </a:r>
                    </a:p>
                  </a:txBody>
                  <a:tcPr>
                    <a:solidFill>
                      <a:srgbClr val="00B0F0"/>
                    </a:solidFill>
                  </a:tcPr>
                </a:tc>
                <a:tc>
                  <a:txBody>
                    <a:bodyPr/>
                    <a:lstStyle/>
                    <a:p>
                      <a:r>
                        <a:rPr lang="en-US"/>
                        <a:t>PROV / KG Representation</a:t>
                      </a:r>
                    </a:p>
                  </a:txBody>
                  <a:tcPr>
                    <a:solidFill>
                      <a:srgbClr val="00B0F0"/>
                    </a:solidFill>
                  </a:tcPr>
                </a:tc>
                <a:extLst>
                  <a:ext uri="{0D108BD9-81ED-4DB2-BD59-A6C34878D82A}">
                    <a16:rowId xmlns:a16="http://schemas.microsoft.com/office/drawing/2014/main" val="106202218"/>
                  </a:ext>
                </a:extLst>
              </a:tr>
              <a:tr h="657038">
                <a:tc>
                  <a:txBody>
                    <a:bodyPr/>
                    <a:lstStyle/>
                    <a:p>
                      <a:r>
                        <a:rPr lang="en-US" sz="2200">
                          <a:solidFill>
                            <a:schemeClr val="bg1">
                              <a:lumMod val="95000"/>
                            </a:schemeClr>
                          </a:solidFill>
                        </a:rPr>
                        <a:t>Trace / Case</a:t>
                      </a:r>
                    </a:p>
                  </a:txBody>
                  <a:tcPr>
                    <a:solidFill>
                      <a:srgbClr val="00B0F0"/>
                    </a:solidFill>
                  </a:tcPr>
                </a:tc>
                <a:tc>
                  <a:txBody>
                    <a:bodyPr/>
                    <a:lstStyle/>
                    <a:p>
                      <a:r>
                        <a:rPr lang="en-US" sz="2050">
                          <a:solidFill>
                            <a:schemeClr val="bg1">
                              <a:lumMod val="95000"/>
                            </a:schemeClr>
                          </a:solidFill>
                        </a:rPr>
                        <a:t>A single process execution (e.g., a declaration case)</a:t>
                      </a:r>
                    </a:p>
                  </a:txBody>
                  <a:tcPr>
                    <a:solidFill>
                      <a:srgbClr val="00B0F0"/>
                    </a:solidFill>
                  </a:tcPr>
                </a:tc>
                <a:tc>
                  <a:txBody>
                    <a:bodyPr/>
                    <a:lstStyle/>
                    <a:p>
                      <a:r>
                        <a:rPr lang="en-US" sz="2200">
                          <a:solidFill>
                            <a:schemeClr val="bg1">
                              <a:lumMod val="95000"/>
                            </a:schemeClr>
                          </a:solidFill>
                        </a:rPr>
                        <a:t>prov:Entity (workflow case)</a:t>
                      </a:r>
                    </a:p>
                  </a:txBody>
                  <a:tcPr>
                    <a:solidFill>
                      <a:srgbClr val="00B0F0"/>
                    </a:solidFill>
                  </a:tcPr>
                </a:tc>
                <a:extLst>
                  <a:ext uri="{0D108BD9-81ED-4DB2-BD59-A6C34878D82A}">
                    <a16:rowId xmlns:a16="http://schemas.microsoft.com/office/drawing/2014/main" val="2408239689"/>
                  </a:ext>
                </a:extLst>
              </a:tr>
              <a:tr h="657038">
                <a:tc>
                  <a:txBody>
                    <a:bodyPr/>
                    <a:lstStyle/>
                    <a:p>
                      <a:r>
                        <a:rPr lang="en-US" sz="2200">
                          <a:solidFill>
                            <a:schemeClr val="bg1">
                              <a:lumMod val="95000"/>
                            </a:schemeClr>
                          </a:solidFill>
                        </a:rPr>
                        <a:t>Event</a:t>
                      </a:r>
                    </a:p>
                  </a:txBody>
                  <a:tcPr>
                    <a:solidFill>
                      <a:srgbClr val="00B0F0"/>
                    </a:solidFill>
                  </a:tcPr>
                </a:tc>
                <a:tc>
                  <a:txBody>
                    <a:bodyPr/>
                    <a:lstStyle/>
                    <a:p>
                      <a:r>
                        <a:rPr lang="en-US" sz="2050">
                          <a:solidFill>
                            <a:schemeClr val="bg1">
                              <a:lumMod val="95000"/>
                            </a:schemeClr>
                          </a:solidFill>
                        </a:rPr>
                        <a:t>An activity executed within a trace</a:t>
                      </a:r>
                    </a:p>
                  </a:txBody>
                  <a:tcPr>
                    <a:solidFill>
                      <a:srgbClr val="00B0F0"/>
                    </a:solidFill>
                  </a:tcPr>
                </a:tc>
                <a:tc>
                  <a:txBody>
                    <a:bodyPr/>
                    <a:lstStyle/>
                    <a:p>
                      <a:r>
                        <a:rPr lang="en-US" sz="2200">
                          <a:solidFill>
                            <a:schemeClr val="bg1">
                              <a:lumMod val="95000"/>
                            </a:schemeClr>
                          </a:solidFill>
                        </a:rPr>
                        <a:t>prov:Activity (process step)</a:t>
                      </a:r>
                    </a:p>
                  </a:txBody>
                  <a:tcPr>
                    <a:solidFill>
                      <a:srgbClr val="00B0F0"/>
                    </a:solidFill>
                  </a:tcPr>
                </a:tc>
                <a:extLst>
                  <a:ext uri="{0D108BD9-81ED-4DB2-BD59-A6C34878D82A}">
                    <a16:rowId xmlns:a16="http://schemas.microsoft.com/office/drawing/2014/main" val="3530123366"/>
                  </a:ext>
                </a:extLst>
              </a:tr>
              <a:tr h="657038">
                <a:tc>
                  <a:txBody>
                    <a:bodyPr/>
                    <a:lstStyle/>
                    <a:p>
                      <a:r>
                        <a:rPr lang="en-US" sz="2200">
                          <a:solidFill>
                            <a:schemeClr val="bg1">
                              <a:lumMod val="95000"/>
                            </a:schemeClr>
                          </a:solidFill>
                        </a:rPr>
                        <a:t>Resource / Role</a:t>
                      </a:r>
                    </a:p>
                  </a:txBody>
                  <a:tcPr>
                    <a:solidFill>
                      <a:srgbClr val="00B0F0"/>
                    </a:solidFill>
                  </a:tcPr>
                </a:tc>
                <a:tc>
                  <a:txBody>
                    <a:bodyPr/>
                    <a:lstStyle/>
                    <a:p>
                      <a:r>
                        <a:rPr lang="en-US" sz="2050">
                          <a:solidFill>
                            <a:schemeClr val="bg1">
                              <a:lumMod val="95000"/>
                            </a:schemeClr>
                          </a:solidFill>
                        </a:rPr>
                        <a:t>The actor or organizational role associated with an event</a:t>
                      </a:r>
                    </a:p>
                  </a:txBody>
                  <a:tcPr>
                    <a:solidFill>
                      <a:srgbClr val="00B0F0"/>
                    </a:solidFill>
                  </a:tcPr>
                </a:tc>
                <a:tc>
                  <a:txBody>
                    <a:bodyPr/>
                    <a:lstStyle/>
                    <a:p>
                      <a:r>
                        <a:rPr lang="en-US" sz="2200">
                          <a:solidFill>
                            <a:schemeClr val="bg1">
                              <a:lumMod val="95000"/>
                            </a:schemeClr>
                          </a:solidFill>
                        </a:rPr>
                        <a:t>prov:Agent</a:t>
                      </a:r>
                    </a:p>
                  </a:txBody>
                  <a:tcPr>
                    <a:solidFill>
                      <a:srgbClr val="00B0F0"/>
                    </a:solidFill>
                  </a:tcPr>
                </a:tc>
                <a:extLst>
                  <a:ext uri="{0D108BD9-81ED-4DB2-BD59-A6C34878D82A}">
                    <a16:rowId xmlns:a16="http://schemas.microsoft.com/office/drawing/2014/main" val="1221099484"/>
                  </a:ext>
                </a:extLst>
              </a:tr>
              <a:tr h="657038">
                <a:tc>
                  <a:txBody>
                    <a:bodyPr/>
                    <a:lstStyle/>
                    <a:p>
                      <a:r>
                        <a:rPr lang="en-US" sz="2200">
                          <a:solidFill>
                            <a:schemeClr val="bg1">
                              <a:lumMod val="95000"/>
                            </a:schemeClr>
                          </a:solidFill>
                        </a:rPr>
                        <a:t>Timestamp</a:t>
                      </a:r>
                    </a:p>
                  </a:txBody>
                  <a:tcPr>
                    <a:solidFill>
                      <a:srgbClr val="00B0F0"/>
                    </a:solidFill>
                  </a:tcPr>
                </a:tc>
                <a:tc>
                  <a:txBody>
                    <a:bodyPr/>
                    <a:lstStyle/>
                    <a:p>
                      <a:r>
                        <a:rPr lang="en-US" sz="2050">
                          <a:solidFill>
                            <a:schemeClr val="bg1">
                              <a:lumMod val="95000"/>
                            </a:schemeClr>
                          </a:solidFill>
                        </a:rPr>
                        <a:t>Additional case-level or event-level metadata</a:t>
                      </a:r>
                    </a:p>
                  </a:txBody>
                  <a:tcPr>
                    <a:solidFill>
                      <a:srgbClr val="00B0F0"/>
                    </a:solidFill>
                  </a:tcPr>
                </a:tc>
                <a:tc>
                  <a:txBody>
                    <a:bodyPr/>
                    <a:lstStyle/>
                    <a:p>
                      <a:r>
                        <a:rPr lang="en-US" sz="2200">
                          <a:solidFill>
                            <a:schemeClr val="bg1">
                              <a:lumMod val="95000"/>
                            </a:schemeClr>
                          </a:solidFill>
                        </a:rPr>
                        <a:t>prov:startedAtTime / endedAtTime</a:t>
                      </a:r>
                    </a:p>
                  </a:txBody>
                  <a:tcPr>
                    <a:solidFill>
                      <a:srgbClr val="00B0F0"/>
                    </a:solidFill>
                  </a:tcPr>
                </a:tc>
                <a:extLst>
                  <a:ext uri="{0D108BD9-81ED-4DB2-BD59-A6C34878D82A}">
                    <a16:rowId xmlns:a16="http://schemas.microsoft.com/office/drawing/2014/main" val="4214376840"/>
                  </a:ext>
                </a:extLst>
              </a:tr>
              <a:tr h="938626">
                <a:tc>
                  <a:txBody>
                    <a:bodyPr/>
                    <a:lstStyle/>
                    <a:p>
                      <a:r>
                        <a:rPr lang="en-US" sz="2200">
                          <a:solidFill>
                            <a:schemeClr val="bg1">
                              <a:lumMod val="95000"/>
                            </a:schemeClr>
                          </a:solidFill>
                        </a:rPr>
                        <a:t>Event order</a:t>
                      </a:r>
                    </a:p>
                  </a:txBody>
                  <a:tcPr>
                    <a:solidFill>
                      <a:srgbClr val="00B0F0"/>
                    </a:solidFill>
                  </a:tcPr>
                </a:tc>
                <a:tc>
                  <a:txBody>
                    <a:bodyPr/>
                    <a:lstStyle/>
                    <a:p>
                      <a:r>
                        <a:rPr lang="en-US" sz="2050">
                          <a:solidFill>
                            <a:schemeClr val="bg1">
                              <a:lumMod val="95000"/>
                            </a:schemeClr>
                          </a:solidFill>
                        </a:rPr>
                        <a:t>The chronological sequence in which activities occur during a process execution.</a:t>
                      </a:r>
                    </a:p>
                  </a:txBody>
                  <a:tcPr>
                    <a:solidFill>
                      <a:srgbClr val="00B0F0"/>
                    </a:solidFill>
                  </a:tcPr>
                </a:tc>
                <a:tc>
                  <a:txBody>
                    <a:bodyPr/>
                    <a:lstStyle/>
                    <a:p>
                      <a:r>
                        <a:rPr lang="en-US" sz="2200">
                          <a:solidFill>
                            <a:schemeClr val="bg1">
                              <a:lumMod val="95000"/>
                            </a:schemeClr>
                          </a:solidFill>
                        </a:rPr>
                        <a:t>prov:wasInformedBy between activities</a:t>
                      </a:r>
                    </a:p>
                  </a:txBody>
                  <a:tcPr>
                    <a:solidFill>
                      <a:srgbClr val="00B0F0"/>
                    </a:solidFill>
                  </a:tcPr>
                </a:tc>
                <a:extLst>
                  <a:ext uri="{0D108BD9-81ED-4DB2-BD59-A6C34878D82A}">
                    <a16:rowId xmlns:a16="http://schemas.microsoft.com/office/drawing/2014/main" val="3869004502"/>
                  </a:ext>
                </a:extLst>
              </a:tr>
              <a:tr h="1220214">
                <a:tc>
                  <a:txBody>
                    <a:bodyPr/>
                    <a:lstStyle/>
                    <a:p>
                      <a:r>
                        <a:rPr lang="en-US" sz="2200">
                          <a:solidFill>
                            <a:schemeClr val="bg1">
                              <a:lumMod val="95000"/>
                            </a:schemeClr>
                          </a:solidFill>
                        </a:rPr>
                        <a:t>Case membership</a:t>
                      </a:r>
                    </a:p>
                  </a:txBody>
                  <a:tcPr>
                    <a:solidFill>
                      <a:srgbClr val="00B0F0"/>
                    </a:solidFill>
                  </a:tcPr>
                </a:tc>
                <a:tc>
                  <a:txBody>
                    <a:bodyPr/>
                    <a:lstStyle/>
                    <a:p>
                      <a:r>
                        <a:rPr lang="en-US" sz="2050">
                          <a:solidFill>
                            <a:schemeClr val="bg1">
                              <a:lumMod val="95000"/>
                            </a:schemeClr>
                          </a:solidFill>
                        </a:rPr>
                        <a:t>The relationship connecting an individual event or activity to its specific workflow trace or case instance.</a:t>
                      </a:r>
                    </a:p>
                  </a:txBody>
                  <a:tcPr>
                    <a:solidFill>
                      <a:srgbClr val="00B0F0"/>
                    </a:solidFill>
                  </a:tcPr>
                </a:tc>
                <a:tc>
                  <a:txBody>
                    <a:bodyPr/>
                    <a:lstStyle/>
                    <a:p>
                      <a:r>
                        <a:rPr lang="en-US" sz="2200">
                          <a:solidFill>
                            <a:schemeClr val="bg1">
                              <a:lumMod val="95000"/>
                            </a:schemeClr>
                          </a:solidFill>
                        </a:rPr>
                        <a:t>wf:belongsToCase</a:t>
                      </a:r>
                    </a:p>
                  </a:txBody>
                  <a:tcPr>
                    <a:solidFill>
                      <a:srgbClr val="00B0F0"/>
                    </a:solidFill>
                  </a:tcPr>
                </a:tc>
                <a:extLst>
                  <a:ext uri="{0D108BD9-81ED-4DB2-BD59-A6C34878D82A}">
                    <a16:rowId xmlns:a16="http://schemas.microsoft.com/office/drawing/2014/main" val="1441413624"/>
                  </a:ext>
                </a:extLst>
              </a:tr>
            </a:tbl>
          </a:graphicData>
        </a:graphic>
      </p:graphicFrame>
    </p:spTree>
    <p:extLst>
      <p:ext uri="{BB962C8B-B14F-4D97-AF65-F5344CB8AC3E}">
        <p14:creationId xmlns:p14="http://schemas.microsoft.com/office/powerpoint/2010/main" val="575423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F79D9-3F90-D504-2E6B-82AEDA1C4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82E34-E438-7050-3FBD-BE6109F796F2}"/>
              </a:ext>
            </a:extLst>
          </p:cNvPr>
          <p:cNvSpPr>
            <a:spLocks noGrp="1"/>
          </p:cNvSpPr>
          <p:nvPr>
            <p:ph type="title"/>
          </p:nvPr>
        </p:nvSpPr>
        <p:spPr/>
        <p:txBody>
          <a:bodyPr/>
          <a:lstStyle/>
          <a:p>
            <a:r>
              <a:rPr lang="en-US"/>
              <a:t>Research questions</a:t>
            </a:r>
            <a:endParaRPr lang="en-US" dirty="0"/>
          </a:p>
        </p:txBody>
      </p:sp>
      <p:sp>
        <p:nvSpPr>
          <p:cNvPr id="4" name="Θέση αριθμού διαφάνειας 3">
            <a:extLst>
              <a:ext uri="{FF2B5EF4-FFF2-40B4-BE49-F238E27FC236}">
                <a16:creationId xmlns:a16="http://schemas.microsoft.com/office/drawing/2014/main" id="{F66F776A-E2C2-75B1-7512-DF07FC4A75A6}"/>
              </a:ext>
            </a:extLst>
          </p:cNvPr>
          <p:cNvSpPr>
            <a:spLocks noGrp="1"/>
          </p:cNvSpPr>
          <p:nvPr>
            <p:ph type="sldNum" sz="quarter" idx="12"/>
          </p:nvPr>
        </p:nvSpPr>
        <p:spPr/>
        <p:txBody>
          <a:bodyPr/>
          <a:lstStyle/>
          <a:p>
            <a:fld id="{10545CFA-47CE-427D-A7F0-020FE1304B29}" type="slidenum">
              <a:rPr lang="en-US" smtClean="0"/>
              <a:t>7</a:t>
            </a:fld>
            <a:endParaRPr lang="en-US"/>
          </a:p>
        </p:txBody>
      </p:sp>
      <p:sp>
        <p:nvSpPr>
          <p:cNvPr id="9" name="Content Placeholder 2">
            <a:extLst>
              <a:ext uri="{FF2B5EF4-FFF2-40B4-BE49-F238E27FC236}">
                <a16:creationId xmlns:a16="http://schemas.microsoft.com/office/drawing/2014/main" id="{B74CED66-165F-0951-C7C7-C0456CC3F4F7}"/>
              </a:ext>
            </a:extLst>
          </p:cNvPr>
          <p:cNvSpPr>
            <a:spLocks noGrp="1"/>
          </p:cNvSpPr>
          <p:nvPr>
            <p:ph idx="1"/>
          </p:nvPr>
        </p:nvSpPr>
        <p:spPr>
          <a:xfrm>
            <a:off x="301322" y="818554"/>
            <a:ext cx="11317364" cy="5667393"/>
          </a:xfrm>
        </p:spPr>
        <p:txBody>
          <a:bodyPr>
            <a:noAutofit/>
          </a:bodyPr>
          <a:lstStyle/>
          <a:p>
            <a:pPr fontAlgn="base"/>
            <a:r>
              <a:rPr lang="en-US" sz="3200"/>
              <a:t>RQ1: </a:t>
            </a:r>
          </a:p>
          <a:p>
            <a:pPr lvl="1" fontAlgn="base"/>
            <a:r>
              <a:rPr lang="en-US" sz="2400"/>
              <a:t>How effectively can </a:t>
            </a:r>
            <a:r>
              <a:rPr lang="en-US" sz="2400" b="1"/>
              <a:t>XES logs </a:t>
            </a:r>
            <a:r>
              <a:rPr lang="en-US" sz="2400"/>
              <a:t>be transformed </a:t>
            </a:r>
            <a:r>
              <a:rPr lang="en-US" sz="2400" b="1"/>
              <a:t>into validation-ready PROV knowledge graphs</a:t>
            </a:r>
            <a:r>
              <a:rPr lang="en-US" sz="2400"/>
              <a:t>? </a:t>
            </a:r>
          </a:p>
          <a:p>
            <a:pPr fontAlgn="base"/>
            <a:r>
              <a:rPr lang="en-US" sz="3200"/>
              <a:t>RQ2: </a:t>
            </a:r>
          </a:p>
          <a:p>
            <a:pPr lvl="1" fontAlgn="base"/>
            <a:r>
              <a:rPr lang="en-US" sz="2400" b="1"/>
              <a:t>Can KGs detect diverse workflow violations </a:t>
            </a:r>
            <a:r>
              <a:rPr lang="en-US" sz="2400"/>
              <a:t>through graph-based validation rules? </a:t>
            </a:r>
          </a:p>
          <a:p>
            <a:pPr fontAlgn="base"/>
            <a:r>
              <a:rPr lang="en-US" sz="3200"/>
              <a:t>RQ3: </a:t>
            </a:r>
          </a:p>
          <a:p>
            <a:pPr lvl="1" fontAlgn="base"/>
            <a:r>
              <a:rPr lang="en-US" sz="2400"/>
              <a:t>What are </a:t>
            </a:r>
            <a:r>
              <a:rPr lang="en-US" sz="2400" b="1"/>
              <a:t>the performance costs of KG construction and SPARQL-based validation</a:t>
            </a:r>
            <a:r>
              <a:rPr lang="en-US" sz="2400"/>
              <a:t>? </a:t>
            </a:r>
          </a:p>
          <a:p>
            <a:pPr fontAlgn="base"/>
            <a:r>
              <a:rPr lang="en-US" sz="3200"/>
              <a:t>RQ4: </a:t>
            </a:r>
          </a:p>
          <a:p>
            <a:pPr lvl="1" fontAlgn="base"/>
            <a:r>
              <a:rPr lang="en-US" sz="2400"/>
              <a:t>How does KG-based validation </a:t>
            </a:r>
            <a:r>
              <a:rPr lang="en-US" sz="2400" b="1"/>
              <a:t>compare with classical log-based validation</a:t>
            </a:r>
            <a:r>
              <a:rPr lang="en-US" sz="2400"/>
              <a:t>?</a:t>
            </a:r>
            <a:endParaRPr lang="en-US" sz="1600" b="1">
              <a:solidFill>
                <a:srgbClr val="C00000"/>
              </a:solidFill>
            </a:endParaRPr>
          </a:p>
        </p:txBody>
      </p:sp>
    </p:spTree>
    <p:extLst>
      <p:ext uri="{BB962C8B-B14F-4D97-AF65-F5344CB8AC3E}">
        <p14:creationId xmlns:p14="http://schemas.microsoft.com/office/powerpoint/2010/main" val="3612832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500"/>
                                        <p:tgtEl>
                                          <p:spTgt spid="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fade">
                                      <p:cBhvr>
                                        <p:cTn id="23" dur="500"/>
                                        <p:tgtEl>
                                          <p:spTgt spid="9">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500"/>
                                        <p:tgtEl>
                                          <p:spTgt spid="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Effect transition="in" filter="fade">
                                      <p:cBhvr>
                                        <p:cTn id="31" dur="500"/>
                                        <p:tgtEl>
                                          <p:spTgt spid="9">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9">
                                            <p:txEl>
                                              <p:pRg st="7" end="7"/>
                                            </p:txEl>
                                          </p:spTgt>
                                        </p:tgtEl>
                                        <p:attrNameLst>
                                          <p:attrName>style.visibility</p:attrName>
                                        </p:attrNameLst>
                                      </p:cBhvr>
                                      <p:to>
                                        <p:strVal val="visible"/>
                                      </p:to>
                                    </p:set>
                                    <p:animEffect transition="in" filter="fade">
                                      <p:cBhvr>
                                        <p:cTn id="34"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D0217-12C3-7086-E732-04B71B4EB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2DAFD-B1E1-221B-1BE3-8E45EB5A69E6}"/>
              </a:ext>
            </a:extLst>
          </p:cNvPr>
          <p:cNvSpPr>
            <a:spLocks noGrp="1"/>
          </p:cNvSpPr>
          <p:nvPr>
            <p:ph type="title"/>
          </p:nvPr>
        </p:nvSpPr>
        <p:spPr/>
        <p:txBody>
          <a:bodyPr/>
          <a:lstStyle/>
          <a:p>
            <a:r>
              <a:rPr lang="en-US"/>
              <a:t>Dataset &amp; Methodology</a:t>
            </a:r>
            <a:endParaRPr lang="en-US" dirty="0"/>
          </a:p>
        </p:txBody>
      </p:sp>
      <p:sp>
        <p:nvSpPr>
          <p:cNvPr id="4" name="Θέση αριθμού διαφάνειας 3">
            <a:extLst>
              <a:ext uri="{FF2B5EF4-FFF2-40B4-BE49-F238E27FC236}">
                <a16:creationId xmlns:a16="http://schemas.microsoft.com/office/drawing/2014/main" id="{83E6053F-105A-D3DB-EF35-56E9601CD2CD}"/>
              </a:ext>
            </a:extLst>
          </p:cNvPr>
          <p:cNvSpPr>
            <a:spLocks noGrp="1"/>
          </p:cNvSpPr>
          <p:nvPr>
            <p:ph type="sldNum" sz="quarter" idx="12"/>
          </p:nvPr>
        </p:nvSpPr>
        <p:spPr/>
        <p:txBody>
          <a:bodyPr/>
          <a:lstStyle/>
          <a:p>
            <a:fld id="{10545CFA-47CE-427D-A7F0-020FE1304B29}" type="slidenum">
              <a:rPr lang="en-US" smtClean="0"/>
              <a:t>8</a:t>
            </a:fld>
            <a:endParaRPr lang="en-US"/>
          </a:p>
        </p:txBody>
      </p:sp>
      <p:sp>
        <p:nvSpPr>
          <p:cNvPr id="9" name="Content Placeholder 2">
            <a:extLst>
              <a:ext uri="{FF2B5EF4-FFF2-40B4-BE49-F238E27FC236}">
                <a16:creationId xmlns:a16="http://schemas.microsoft.com/office/drawing/2014/main" id="{6C58B88B-8219-8EBD-D8EE-65CD1D3921FA}"/>
              </a:ext>
            </a:extLst>
          </p:cNvPr>
          <p:cNvSpPr>
            <a:spLocks noGrp="1"/>
          </p:cNvSpPr>
          <p:nvPr>
            <p:ph idx="1"/>
          </p:nvPr>
        </p:nvSpPr>
        <p:spPr>
          <a:xfrm>
            <a:off x="301322" y="818554"/>
            <a:ext cx="10900077" cy="5667393"/>
          </a:xfrm>
        </p:spPr>
        <p:txBody>
          <a:bodyPr>
            <a:noAutofit/>
          </a:bodyPr>
          <a:lstStyle/>
          <a:p>
            <a:pPr fontAlgn="base"/>
            <a:r>
              <a:rPr lang="en-US" sz="2800"/>
              <a:t>BPI Challenge 2020 – Domestic Declarations</a:t>
            </a:r>
          </a:p>
          <a:p>
            <a:pPr lvl="1" fontAlgn="base"/>
            <a:r>
              <a:rPr lang="en-US" sz="2400" b="1"/>
              <a:t>10,500 traces</a:t>
            </a:r>
            <a:r>
              <a:rPr lang="en-US" sz="2400"/>
              <a:t>, 56,437 events over two years </a:t>
            </a:r>
          </a:p>
          <a:p>
            <a:pPr lvl="1" fontAlgn="base"/>
            <a:r>
              <a:rPr lang="en-US" sz="2400"/>
              <a:t>XES file: ~1.54 MB, </a:t>
            </a:r>
            <a:r>
              <a:rPr lang="en-US" sz="2400" b="1"/>
              <a:t>generated KG: ~850,000 RDF triples</a:t>
            </a:r>
            <a:r>
              <a:rPr lang="en-US" sz="2400"/>
              <a:t> </a:t>
            </a:r>
          </a:p>
          <a:p>
            <a:pPr fontAlgn="base"/>
            <a:r>
              <a:rPr lang="en-US" sz="2800"/>
              <a:t>Fault Injection</a:t>
            </a:r>
          </a:p>
          <a:p>
            <a:pPr lvl="1" fontAlgn="base"/>
            <a:r>
              <a:rPr lang="en-US" sz="2400" b="1"/>
              <a:t>R1–R4</a:t>
            </a:r>
            <a:r>
              <a:rPr lang="en-US" sz="2400"/>
              <a:t>: Mutations on XES log </a:t>
            </a:r>
            <a:r>
              <a:rPr lang="en-US" sz="2400" b="1"/>
              <a:t>before KG construction </a:t>
            </a:r>
            <a:r>
              <a:rPr lang="en-US" sz="2400"/>
              <a:t>(event removal, activity exchange) </a:t>
            </a:r>
          </a:p>
          <a:p>
            <a:pPr lvl="1" fontAlgn="base"/>
            <a:r>
              <a:rPr lang="en-US" sz="2400" b="1"/>
              <a:t>R5, R5B, R6</a:t>
            </a:r>
            <a:r>
              <a:rPr lang="en-US" sz="2400"/>
              <a:t>: Mutations on KG </a:t>
            </a:r>
            <a:r>
              <a:rPr lang="en-US" sz="2400" b="1"/>
              <a:t>after conversion </a:t>
            </a:r>
            <a:r>
              <a:rPr lang="en-US" sz="2400"/>
              <a:t>(role/resource modification, provenance rewiring) </a:t>
            </a:r>
          </a:p>
          <a:p>
            <a:pPr lvl="1" fontAlgn="base"/>
            <a:r>
              <a:rPr lang="en-US" sz="2400" b="1"/>
              <a:t>100 faults per rule </a:t>
            </a:r>
            <a:r>
              <a:rPr lang="en-US" sz="2400"/>
              <a:t>(isolated), 700 total in combined setting </a:t>
            </a:r>
          </a:p>
          <a:p>
            <a:pPr lvl="1" fontAlgn="base"/>
            <a:r>
              <a:rPr lang="en-US" sz="2400" b="1"/>
              <a:t>Results are means over 10 repeats</a:t>
            </a:r>
            <a:r>
              <a:rPr lang="en-US" sz="2400"/>
              <a:t>, fixed random seed (42) </a:t>
            </a:r>
            <a:endParaRPr lang="en-US" sz="2400" b="1"/>
          </a:p>
          <a:p>
            <a:pPr fontAlgn="base"/>
            <a:r>
              <a:rPr lang="en-US" sz="2800"/>
              <a:t>Setup</a:t>
            </a:r>
          </a:p>
          <a:p>
            <a:pPr lvl="1" fontAlgn="base"/>
            <a:r>
              <a:rPr lang="en-US" sz="2400"/>
              <a:t>Intel Core Ultra 7 155H, 32 GB RAM, Windows 11</a:t>
            </a:r>
          </a:p>
        </p:txBody>
      </p:sp>
    </p:spTree>
    <p:extLst>
      <p:ext uri="{BB962C8B-B14F-4D97-AF65-F5344CB8AC3E}">
        <p14:creationId xmlns:p14="http://schemas.microsoft.com/office/powerpoint/2010/main" val="669034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29FC2-DD38-4793-258C-7E32AD9E6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2B149-0C09-037C-F5FE-30F6573ED60E}"/>
              </a:ext>
            </a:extLst>
          </p:cNvPr>
          <p:cNvSpPr>
            <a:spLocks noGrp="1"/>
          </p:cNvSpPr>
          <p:nvPr>
            <p:ph type="title"/>
          </p:nvPr>
        </p:nvSpPr>
        <p:spPr/>
        <p:txBody>
          <a:bodyPr/>
          <a:lstStyle/>
          <a:p>
            <a:r>
              <a:rPr lang="en-US"/>
              <a:t>Validation Rules</a:t>
            </a:r>
            <a:endParaRPr lang="en-US" dirty="0"/>
          </a:p>
        </p:txBody>
      </p:sp>
      <p:sp>
        <p:nvSpPr>
          <p:cNvPr id="4" name="Θέση αριθμού διαφάνειας 3">
            <a:extLst>
              <a:ext uri="{FF2B5EF4-FFF2-40B4-BE49-F238E27FC236}">
                <a16:creationId xmlns:a16="http://schemas.microsoft.com/office/drawing/2014/main" id="{A8AC92D4-2325-AFBE-50E5-2E887C0C429F}"/>
              </a:ext>
            </a:extLst>
          </p:cNvPr>
          <p:cNvSpPr>
            <a:spLocks noGrp="1"/>
          </p:cNvSpPr>
          <p:nvPr>
            <p:ph type="sldNum" sz="quarter" idx="12"/>
          </p:nvPr>
        </p:nvSpPr>
        <p:spPr/>
        <p:txBody>
          <a:bodyPr/>
          <a:lstStyle/>
          <a:p>
            <a:fld id="{10545CFA-47CE-427D-A7F0-020FE1304B29}" type="slidenum">
              <a:rPr lang="en-US" smtClean="0"/>
              <a:t>9</a:t>
            </a:fld>
            <a:endParaRPr lang="en-US"/>
          </a:p>
        </p:txBody>
      </p:sp>
      <p:graphicFrame>
        <p:nvGraphicFramePr>
          <p:cNvPr id="6" name="Θέση περιεχομένου 5">
            <a:extLst>
              <a:ext uri="{FF2B5EF4-FFF2-40B4-BE49-F238E27FC236}">
                <a16:creationId xmlns:a16="http://schemas.microsoft.com/office/drawing/2014/main" id="{3E15DFC3-CC2A-BA75-CE67-095038F16F69}"/>
              </a:ext>
            </a:extLst>
          </p:cNvPr>
          <p:cNvGraphicFramePr>
            <a:graphicFrameLocks noGrp="1"/>
          </p:cNvGraphicFramePr>
          <p:nvPr>
            <p:ph idx="1"/>
            <p:extLst>
              <p:ext uri="{D42A27DB-BD31-4B8C-83A1-F6EECF244321}">
                <p14:modId xmlns:p14="http://schemas.microsoft.com/office/powerpoint/2010/main" val="1380358854"/>
              </p:ext>
            </p:extLst>
          </p:nvPr>
        </p:nvGraphicFramePr>
        <p:xfrm>
          <a:off x="287337" y="857299"/>
          <a:ext cx="11454719" cy="4645919"/>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131848">
                  <a:extLst>
                    <a:ext uri="{9D8B030D-6E8A-4147-A177-3AD203B41FA5}">
                      <a16:colId xmlns:a16="http://schemas.microsoft.com/office/drawing/2014/main" val="4212719066"/>
                    </a:ext>
                  </a:extLst>
                </a:gridCol>
                <a:gridCol w="7601444">
                  <a:extLst>
                    <a:ext uri="{9D8B030D-6E8A-4147-A177-3AD203B41FA5}">
                      <a16:colId xmlns:a16="http://schemas.microsoft.com/office/drawing/2014/main" val="2231461016"/>
                    </a:ext>
                  </a:extLst>
                </a:gridCol>
                <a:gridCol w="2721427">
                  <a:extLst>
                    <a:ext uri="{9D8B030D-6E8A-4147-A177-3AD203B41FA5}">
                      <a16:colId xmlns:a16="http://schemas.microsoft.com/office/drawing/2014/main" val="3670016665"/>
                    </a:ext>
                  </a:extLst>
                </a:gridCol>
              </a:tblGrid>
              <a:tr h="527598">
                <a:tc>
                  <a:txBody>
                    <a:bodyPr/>
                    <a:lstStyle/>
                    <a:p>
                      <a:r>
                        <a:rPr lang="en-US" sz="2200"/>
                        <a:t>Rule</a:t>
                      </a:r>
                    </a:p>
                  </a:txBody>
                  <a:tcPr>
                    <a:solidFill>
                      <a:srgbClr val="00B0F0"/>
                    </a:solidFill>
                  </a:tcPr>
                </a:tc>
                <a:tc>
                  <a:txBody>
                    <a:bodyPr/>
                    <a:lstStyle/>
                    <a:p>
                      <a:r>
                        <a:rPr lang="en-US" sz="2200"/>
                        <a:t>KG Interpretation</a:t>
                      </a:r>
                    </a:p>
                  </a:txBody>
                  <a:tcPr>
                    <a:solidFill>
                      <a:srgbClr val="00B0F0"/>
                    </a:solidFill>
                  </a:tcPr>
                </a:tc>
                <a:tc>
                  <a:txBody>
                    <a:bodyPr/>
                    <a:lstStyle/>
                    <a:p>
                      <a:r>
                        <a:rPr lang="en-US" sz="2200"/>
                        <a:t>DECLARE Template</a:t>
                      </a:r>
                    </a:p>
                  </a:txBody>
                  <a:tcPr>
                    <a:solidFill>
                      <a:srgbClr val="00B0F0"/>
                    </a:solidFill>
                  </a:tcPr>
                </a:tc>
                <a:extLst>
                  <a:ext uri="{0D108BD9-81ED-4DB2-BD59-A6C34878D82A}">
                    <a16:rowId xmlns:a16="http://schemas.microsoft.com/office/drawing/2014/main" val="3402297928"/>
                  </a:ext>
                </a:extLst>
              </a:tr>
              <a:tr h="527598">
                <a:tc>
                  <a:txBody>
                    <a:bodyPr/>
                    <a:lstStyle/>
                    <a:p>
                      <a:r>
                        <a:rPr lang="en-US" sz="2200">
                          <a:solidFill>
                            <a:schemeClr val="bg1">
                              <a:lumMod val="95000"/>
                            </a:schemeClr>
                          </a:solidFill>
                        </a:rPr>
                        <a:t>R1</a:t>
                      </a:r>
                    </a:p>
                  </a:txBody>
                  <a:tcPr>
                    <a:solidFill>
                      <a:srgbClr val="00B0F0"/>
                    </a:solidFill>
                  </a:tcPr>
                </a:tc>
                <a:tc>
                  <a:txBody>
                    <a:bodyPr/>
                    <a:lstStyle/>
                    <a:p>
                      <a:r>
                        <a:rPr lang="en-US" sz="2200">
                          <a:solidFill>
                            <a:schemeClr val="bg1">
                              <a:lumMod val="95000"/>
                            </a:schemeClr>
                          </a:solidFill>
                        </a:rPr>
                        <a:t>At least </a:t>
                      </a:r>
                      <a:r>
                        <a:rPr lang="en-US" sz="2200" b="1">
                          <a:solidFill>
                            <a:schemeClr val="bg1">
                              <a:lumMod val="95000"/>
                            </a:schemeClr>
                          </a:solidFill>
                        </a:rPr>
                        <a:t>one submission S per trace</a:t>
                      </a:r>
                    </a:p>
                  </a:txBody>
                  <a:tcPr>
                    <a:solidFill>
                      <a:srgbClr val="00B0F0"/>
                    </a:solidFill>
                  </a:tcPr>
                </a:tc>
                <a:tc>
                  <a:txBody>
                    <a:bodyPr/>
                    <a:lstStyle/>
                    <a:p>
                      <a:r>
                        <a:rPr lang="en-US" sz="2200">
                          <a:solidFill>
                            <a:schemeClr val="bg1">
                              <a:lumMod val="95000"/>
                            </a:schemeClr>
                          </a:solidFill>
                        </a:rPr>
                        <a:t>Existence(S)</a:t>
                      </a:r>
                    </a:p>
                  </a:txBody>
                  <a:tcPr>
                    <a:solidFill>
                      <a:srgbClr val="00B0F0"/>
                    </a:solidFill>
                  </a:tcPr>
                </a:tc>
                <a:extLst>
                  <a:ext uri="{0D108BD9-81ED-4DB2-BD59-A6C34878D82A}">
                    <a16:rowId xmlns:a16="http://schemas.microsoft.com/office/drawing/2014/main" val="349692061"/>
                  </a:ext>
                </a:extLst>
              </a:tr>
              <a:tr h="527598">
                <a:tc>
                  <a:txBody>
                    <a:bodyPr/>
                    <a:lstStyle/>
                    <a:p>
                      <a:r>
                        <a:rPr lang="en-US" sz="2200">
                          <a:solidFill>
                            <a:schemeClr val="bg1">
                              <a:lumMod val="95000"/>
                            </a:schemeClr>
                          </a:solidFill>
                        </a:rPr>
                        <a:t>R2</a:t>
                      </a:r>
                    </a:p>
                  </a:txBody>
                  <a:tcPr>
                    <a:solidFill>
                      <a:srgbClr val="00B0F0"/>
                    </a:solidFill>
                  </a:tcPr>
                </a:tc>
                <a:tc>
                  <a:txBody>
                    <a:bodyPr/>
                    <a:lstStyle/>
                    <a:p>
                      <a:r>
                        <a:rPr lang="en-US" sz="2200">
                          <a:solidFill>
                            <a:schemeClr val="bg1">
                              <a:lumMod val="95000"/>
                            </a:schemeClr>
                          </a:solidFill>
                        </a:rPr>
                        <a:t>Each approval A </a:t>
                      </a:r>
                      <a:r>
                        <a:rPr lang="en-US" sz="2200" b="1">
                          <a:solidFill>
                            <a:schemeClr val="bg1">
                              <a:lumMod val="95000"/>
                            </a:schemeClr>
                          </a:solidFill>
                        </a:rPr>
                        <a:t>eventually followed by</a:t>
                      </a:r>
                      <a:r>
                        <a:rPr lang="en-US" sz="2200">
                          <a:solidFill>
                            <a:schemeClr val="bg1">
                              <a:lumMod val="95000"/>
                            </a:schemeClr>
                          </a:solidFill>
                        </a:rPr>
                        <a:t> request R</a:t>
                      </a:r>
                    </a:p>
                  </a:txBody>
                  <a:tcPr>
                    <a:solidFill>
                      <a:srgbClr val="00B0F0"/>
                    </a:solidFill>
                  </a:tcPr>
                </a:tc>
                <a:tc>
                  <a:txBody>
                    <a:bodyPr/>
                    <a:lstStyle/>
                    <a:p>
                      <a:r>
                        <a:rPr lang="en-US" sz="2200">
                          <a:solidFill>
                            <a:schemeClr val="bg1">
                              <a:lumMod val="95000"/>
                            </a:schemeClr>
                          </a:solidFill>
                        </a:rPr>
                        <a:t>Response(A, R)</a:t>
                      </a:r>
                    </a:p>
                  </a:txBody>
                  <a:tcPr>
                    <a:solidFill>
                      <a:srgbClr val="00B0F0"/>
                    </a:solidFill>
                  </a:tcPr>
                </a:tc>
                <a:extLst>
                  <a:ext uri="{0D108BD9-81ED-4DB2-BD59-A6C34878D82A}">
                    <a16:rowId xmlns:a16="http://schemas.microsoft.com/office/drawing/2014/main" val="3973787757"/>
                  </a:ext>
                </a:extLst>
              </a:tr>
              <a:tr h="527598">
                <a:tc>
                  <a:txBody>
                    <a:bodyPr/>
                    <a:lstStyle/>
                    <a:p>
                      <a:r>
                        <a:rPr lang="en-US" sz="2200">
                          <a:solidFill>
                            <a:schemeClr val="bg1">
                              <a:lumMod val="95000"/>
                            </a:schemeClr>
                          </a:solidFill>
                        </a:rPr>
                        <a:t>R3</a:t>
                      </a:r>
                    </a:p>
                  </a:txBody>
                  <a:tcPr>
                    <a:solidFill>
                      <a:srgbClr val="00B0F0"/>
                    </a:solidFill>
                  </a:tcPr>
                </a:tc>
                <a:tc>
                  <a:txBody>
                    <a:bodyPr/>
                    <a:lstStyle/>
                    <a:p>
                      <a:r>
                        <a:rPr lang="en-US" sz="2200">
                          <a:solidFill>
                            <a:schemeClr val="bg1">
                              <a:lumMod val="95000"/>
                            </a:schemeClr>
                          </a:solidFill>
                        </a:rPr>
                        <a:t>Each payment P </a:t>
                      </a:r>
                      <a:r>
                        <a:rPr lang="en-US" sz="2200" b="1">
                          <a:solidFill>
                            <a:schemeClr val="bg1">
                              <a:lumMod val="95000"/>
                            </a:schemeClr>
                          </a:solidFill>
                        </a:rPr>
                        <a:t>has an earlier </a:t>
                      </a:r>
                      <a:r>
                        <a:rPr lang="en-US" sz="2200">
                          <a:solidFill>
                            <a:schemeClr val="bg1">
                              <a:lumMod val="95000"/>
                            </a:schemeClr>
                          </a:solidFill>
                        </a:rPr>
                        <a:t>request R</a:t>
                      </a:r>
                    </a:p>
                  </a:txBody>
                  <a:tcPr>
                    <a:solidFill>
                      <a:srgbClr val="00B0F0"/>
                    </a:solidFill>
                  </a:tcPr>
                </a:tc>
                <a:tc>
                  <a:txBody>
                    <a:bodyPr/>
                    <a:lstStyle/>
                    <a:p>
                      <a:r>
                        <a:rPr lang="en-US" sz="2200">
                          <a:solidFill>
                            <a:schemeClr val="bg1">
                              <a:lumMod val="95000"/>
                            </a:schemeClr>
                          </a:solidFill>
                        </a:rPr>
                        <a:t>Precedence(R, P)</a:t>
                      </a:r>
                    </a:p>
                  </a:txBody>
                  <a:tcPr>
                    <a:solidFill>
                      <a:srgbClr val="00B0F0"/>
                    </a:solidFill>
                  </a:tcPr>
                </a:tc>
                <a:extLst>
                  <a:ext uri="{0D108BD9-81ED-4DB2-BD59-A6C34878D82A}">
                    <a16:rowId xmlns:a16="http://schemas.microsoft.com/office/drawing/2014/main" val="2495310523"/>
                  </a:ext>
                </a:extLst>
              </a:tr>
              <a:tr h="527598">
                <a:tc>
                  <a:txBody>
                    <a:bodyPr/>
                    <a:lstStyle/>
                    <a:p>
                      <a:r>
                        <a:rPr lang="en-US" sz="2200">
                          <a:solidFill>
                            <a:schemeClr val="bg1">
                              <a:lumMod val="95000"/>
                            </a:schemeClr>
                          </a:solidFill>
                        </a:rPr>
                        <a:t>R4</a:t>
                      </a:r>
                    </a:p>
                  </a:txBody>
                  <a:tcPr>
                    <a:solidFill>
                      <a:srgbClr val="00B0F0"/>
                    </a:solidFill>
                  </a:tcPr>
                </a:tc>
                <a:tc>
                  <a:txBody>
                    <a:bodyPr/>
                    <a:lstStyle/>
                    <a:p>
                      <a:r>
                        <a:rPr lang="en-US" sz="2200">
                          <a:solidFill>
                            <a:schemeClr val="bg1">
                              <a:lumMod val="95000"/>
                            </a:schemeClr>
                          </a:solidFill>
                        </a:rPr>
                        <a:t>R </a:t>
                      </a:r>
                      <a:r>
                        <a:rPr lang="en-US" sz="2200" b="1">
                          <a:solidFill>
                            <a:schemeClr val="bg1">
                              <a:lumMod val="95000"/>
                            </a:schemeClr>
                          </a:solidFill>
                        </a:rPr>
                        <a:t>eventually followed by </a:t>
                      </a:r>
                      <a:r>
                        <a:rPr lang="en-US" sz="2200">
                          <a:solidFill>
                            <a:schemeClr val="bg1">
                              <a:lumMod val="95000"/>
                            </a:schemeClr>
                          </a:solidFill>
                        </a:rPr>
                        <a:t>P, </a:t>
                      </a:r>
                      <a:r>
                        <a:rPr lang="en-US" sz="2200" b="1">
                          <a:solidFill>
                            <a:schemeClr val="bg1">
                              <a:lumMod val="95000"/>
                            </a:schemeClr>
                          </a:solidFill>
                        </a:rPr>
                        <a:t>and</a:t>
                      </a:r>
                      <a:r>
                        <a:rPr lang="en-US" sz="2200">
                          <a:solidFill>
                            <a:schemeClr val="bg1">
                              <a:lumMod val="95000"/>
                            </a:schemeClr>
                          </a:solidFill>
                        </a:rPr>
                        <a:t> P </a:t>
                      </a:r>
                      <a:r>
                        <a:rPr lang="en-US" sz="2200" b="1">
                          <a:solidFill>
                            <a:schemeClr val="bg1">
                              <a:lumMod val="95000"/>
                            </a:schemeClr>
                          </a:solidFill>
                        </a:rPr>
                        <a:t>has earlier </a:t>
                      </a:r>
                      <a:r>
                        <a:rPr lang="en-US" sz="2200">
                          <a:solidFill>
                            <a:schemeClr val="bg1">
                              <a:lumMod val="95000"/>
                            </a:schemeClr>
                          </a:solidFill>
                        </a:rPr>
                        <a:t>R</a:t>
                      </a:r>
                    </a:p>
                  </a:txBody>
                  <a:tcPr>
                    <a:solidFill>
                      <a:srgbClr val="00B0F0"/>
                    </a:solidFill>
                  </a:tcPr>
                </a:tc>
                <a:tc>
                  <a:txBody>
                    <a:bodyPr/>
                    <a:lstStyle/>
                    <a:p>
                      <a:r>
                        <a:rPr lang="en-US" sz="2200">
                          <a:solidFill>
                            <a:schemeClr val="bg1">
                              <a:lumMod val="95000"/>
                            </a:schemeClr>
                          </a:solidFill>
                        </a:rPr>
                        <a:t>Succession(R, P)</a:t>
                      </a:r>
                    </a:p>
                  </a:txBody>
                  <a:tcPr>
                    <a:solidFill>
                      <a:srgbClr val="00B0F0"/>
                    </a:solidFill>
                  </a:tcPr>
                </a:tc>
                <a:extLst>
                  <a:ext uri="{0D108BD9-81ED-4DB2-BD59-A6C34878D82A}">
                    <a16:rowId xmlns:a16="http://schemas.microsoft.com/office/drawing/2014/main" val="1912201675"/>
                  </a:ext>
                </a:extLst>
              </a:tr>
              <a:tr h="910649">
                <a:tc>
                  <a:txBody>
                    <a:bodyPr/>
                    <a:lstStyle/>
                    <a:p>
                      <a:r>
                        <a:rPr lang="en-US" sz="2200">
                          <a:solidFill>
                            <a:schemeClr val="bg1">
                              <a:lumMod val="95000"/>
                            </a:schemeClr>
                          </a:solidFill>
                        </a:rPr>
                        <a:t>R5/R5B</a:t>
                      </a:r>
                    </a:p>
                  </a:txBody>
                  <a:tcPr>
                    <a:solidFill>
                      <a:srgbClr val="00B0F0"/>
                    </a:solidFill>
                  </a:tcPr>
                </a:tc>
                <a:tc>
                  <a:txBody>
                    <a:bodyPr/>
                    <a:lstStyle/>
                    <a:p>
                      <a:r>
                        <a:rPr lang="en-US" sz="2200">
                          <a:solidFill>
                            <a:schemeClr val="bg1">
                              <a:lumMod val="95000"/>
                            </a:schemeClr>
                          </a:solidFill>
                        </a:rPr>
                        <a:t>R</a:t>
                      </a:r>
                      <a:r>
                        <a:rPr lang="el-GR" sz="2200">
                          <a:solidFill>
                            <a:schemeClr val="bg1">
                              <a:lumMod val="95000"/>
                            </a:schemeClr>
                          </a:solidFill>
                        </a:rPr>
                        <a:t>5: </a:t>
                      </a:r>
                      <a:r>
                        <a:rPr lang="en-US" sz="2200">
                          <a:solidFill>
                            <a:schemeClr val="bg1">
                              <a:lumMod val="95000"/>
                            </a:schemeClr>
                          </a:solidFill>
                        </a:rPr>
                        <a:t>Payment </a:t>
                      </a:r>
                      <a:r>
                        <a:rPr lang="en-US" sz="2200" b="1">
                          <a:solidFill>
                            <a:schemeClr val="bg1">
                              <a:lumMod val="95000"/>
                            </a:schemeClr>
                          </a:solidFill>
                        </a:rPr>
                        <a:t>must be handled by </a:t>
                      </a:r>
                      <a:r>
                        <a:rPr lang="en-US" sz="2200">
                          <a:solidFill>
                            <a:schemeClr val="bg1">
                              <a:lumMod val="95000"/>
                            </a:schemeClr>
                          </a:solidFill>
                        </a:rPr>
                        <a:t>SYSTEM only</a:t>
                      </a:r>
                    </a:p>
                    <a:p>
                      <a:r>
                        <a:rPr lang="en-US" sz="2200">
                          <a:solidFill>
                            <a:schemeClr val="bg1">
                              <a:lumMod val="95000"/>
                            </a:schemeClr>
                          </a:solidFill>
                        </a:rPr>
                        <a:t>R5B: </a:t>
                      </a:r>
                      <a:r>
                        <a:rPr lang="en-US" sz="2200" b="1">
                          <a:solidFill>
                            <a:schemeClr val="bg1">
                              <a:lumMod val="95000"/>
                            </a:schemeClr>
                          </a:solidFill>
                        </a:rPr>
                        <a:t>No</a:t>
                      </a:r>
                      <a:r>
                        <a:rPr lang="en-US" sz="2200">
                          <a:solidFill>
                            <a:schemeClr val="bg1">
                              <a:lumMod val="95000"/>
                            </a:schemeClr>
                          </a:solidFill>
                        </a:rPr>
                        <a:t> EMPLOYEE role </a:t>
                      </a:r>
                      <a:r>
                        <a:rPr lang="en-US" sz="2200" b="1">
                          <a:solidFill>
                            <a:schemeClr val="bg1">
                              <a:lumMod val="95000"/>
                            </a:schemeClr>
                          </a:solidFill>
                        </a:rPr>
                        <a:t>should handle </a:t>
                      </a:r>
                      <a:r>
                        <a:rPr lang="en-US" sz="2200">
                          <a:solidFill>
                            <a:schemeClr val="bg1">
                              <a:lumMod val="95000"/>
                            </a:schemeClr>
                          </a:solidFill>
                        </a:rPr>
                        <a:t>a payment</a:t>
                      </a:r>
                    </a:p>
                  </a:txBody>
                  <a:tcPr>
                    <a:solidFill>
                      <a:srgbClr val="00B0F0"/>
                    </a:solidFill>
                  </a:tcPr>
                </a:tc>
                <a:tc>
                  <a:txBody>
                    <a:bodyPr/>
                    <a:lstStyle/>
                    <a:p>
                      <a:pPr algn="ctr"/>
                      <a:r>
                        <a:rPr lang="en-US" sz="2200" b="1">
                          <a:solidFill>
                            <a:schemeClr val="bg1">
                              <a:lumMod val="95000"/>
                            </a:schemeClr>
                          </a:solidFill>
                        </a:rPr>
                        <a:t>-</a:t>
                      </a:r>
                    </a:p>
                  </a:txBody>
                  <a:tcPr>
                    <a:solidFill>
                      <a:srgbClr val="00B0F0"/>
                    </a:solidFill>
                  </a:tcPr>
                </a:tc>
                <a:extLst>
                  <a:ext uri="{0D108BD9-81ED-4DB2-BD59-A6C34878D82A}">
                    <a16:rowId xmlns:a16="http://schemas.microsoft.com/office/drawing/2014/main" val="328407408"/>
                  </a:ext>
                </a:extLst>
              </a:tr>
              <a:tr h="910649">
                <a:tc>
                  <a:txBody>
                    <a:bodyPr/>
                    <a:lstStyle/>
                    <a:p>
                      <a:r>
                        <a:rPr lang="en-US" sz="2200">
                          <a:solidFill>
                            <a:schemeClr val="bg1">
                              <a:lumMod val="95000"/>
                            </a:schemeClr>
                          </a:solidFill>
                        </a:rPr>
                        <a:t>R6</a:t>
                      </a:r>
                    </a:p>
                  </a:txBody>
                  <a:tcPr>
                    <a:solidFill>
                      <a:srgbClr val="00B0F0"/>
                    </a:solidFill>
                  </a:tcPr>
                </a:tc>
                <a:tc>
                  <a:txBody>
                    <a:bodyPr/>
                    <a:lstStyle/>
                    <a:p>
                      <a:r>
                        <a:rPr lang="en-US" sz="2200">
                          <a:solidFill>
                            <a:schemeClr val="bg1">
                              <a:lumMod val="95000"/>
                            </a:schemeClr>
                          </a:solidFill>
                        </a:rPr>
                        <a:t>Payment </a:t>
                      </a:r>
                      <a:r>
                        <a:rPr lang="en-US" sz="2200" b="1">
                          <a:solidFill>
                            <a:schemeClr val="bg1">
                              <a:lumMod val="95000"/>
                            </a:schemeClr>
                          </a:solidFill>
                        </a:rPr>
                        <a:t>must be linked </a:t>
                      </a:r>
                      <a:r>
                        <a:rPr lang="en-US" sz="2200">
                          <a:solidFill>
                            <a:schemeClr val="bg1">
                              <a:lumMod val="95000"/>
                            </a:schemeClr>
                          </a:solidFill>
                        </a:rPr>
                        <a:t>via prov:wasInformedBy path </a:t>
                      </a:r>
                      <a:r>
                        <a:rPr lang="en-US" sz="2200" b="1">
                          <a:solidFill>
                            <a:schemeClr val="bg1">
                              <a:lumMod val="95000"/>
                            </a:schemeClr>
                          </a:solidFill>
                        </a:rPr>
                        <a:t>to</a:t>
                      </a:r>
                      <a:r>
                        <a:rPr lang="en-US" sz="2200">
                          <a:solidFill>
                            <a:schemeClr val="bg1">
                              <a:lumMod val="95000"/>
                            </a:schemeClr>
                          </a:solidFill>
                        </a:rPr>
                        <a:t> a submission → approval → request path (intermediate actions allowed)</a:t>
                      </a:r>
                    </a:p>
                  </a:txBody>
                  <a:tcPr>
                    <a:solidFill>
                      <a:srgbClr val="00B0F0"/>
                    </a:solidFill>
                  </a:tcPr>
                </a:tc>
                <a:tc>
                  <a:txBody>
                    <a:bodyPr/>
                    <a:lstStyle/>
                    <a:p>
                      <a:pPr algn="ctr"/>
                      <a:r>
                        <a:rPr lang="en-US" sz="2200" b="1">
                          <a:solidFill>
                            <a:schemeClr val="bg1">
                              <a:lumMod val="95000"/>
                            </a:schemeClr>
                          </a:solidFill>
                        </a:rPr>
                        <a:t>-</a:t>
                      </a:r>
                    </a:p>
                  </a:txBody>
                  <a:tcPr>
                    <a:solidFill>
                      <a:srgbClr val="00B0F0"/>
                    </a:solidFill>
                  </a:tcPr>
                </a:tc>
                <a:extLst>
                  <a:ext uri="{0D108BD9-81ED-4DB2-BD59-A6C34878D82A}">
                    <a16:rowId xmlns:a16="http://schemas.microsoft.com/office/drawing/2014/main" val="105804688"/>
                  </a:ext>
                </a:extLst>
              </a:tr>
            </a:tbl>
          </a:graphicData>
        </a:graphic>
      </p:graphicFrame>
      <p:sp>
        <p:nvSpPr>
          <p:cNvPr id="7" name="Content Placeholder 2">
            <a:extLst>
              <a:ext uri="{FF2B5EF4-FFF2-40B4-BE49-F238E27FC236}">
                <a16:creationId xmlns:a16="http://schemas.microsoft.com/office/drawing/2014/main" id="{2E00DCF9-BFCD-4F78-3F55-58D3AE37840F}"/>
              </a:ext>
            </a:extLst>
          </p:cNvPr>
          <p:cNvSpPr txBox="1">
            <a:spLocks/>
          </p:cNvSpPr>
          <p:nvPr/>
        </p:nvSpPr>
        <p:spPr>
          <a:xfrm>
            <a:off x="301322" y="5522093"/>
            <a:ext cx="11440734" cy="776514"/>
          </a:xfrm>
          <a:prstGeom prst="rect">
            <a:avLst/>
          </a:prstGeom>
        </p:spPr>
        <p:txBody>
          <a:bodyPr vert="horz" lIns="91440" tIns="45720" rIns="91440" bIns="45720" rtlCol="0">
            <a:noAutofit/>
          </a:bodyPr>
          <a:lstStyle>
            <a:lvl1pPr marL="342900" indent="-274320" algn="l" defTabSz="914400" rtl="0" eaLnBrk="1" latinLnBrk="0" hangingPunct="1">
              <a:spcBef>
                <a:spcPct val="20000"/>
              </a:spcBef>
              <a:buClr>
                <a:srgbClr val="002060"/>
              </a:buClr>
              <a:buSzPct val="76000"/>
              <a:buFont typeface="Wingdings" panose="05000000000000000000" pitchFamily="2" charset="2"/>
              <a:buChar char="q"/>
              <a:defRPr sz="2400" kern="1200">
                <a:solidFill>
                  <a:schemeClr val="tx2"/>
                </a:solidFill>
                <a:latin typeface="+mn-lt"/>
                <a:ea typeface="+mn-ea"/>
                <a:cs typeface="+mn-cs"/>
              </a:defRPr>
            </a:lvl1pPr>
            <a:lvl2pPr marL="640080" indent="-274320" algn="l" defTabSz="914400" rtl="0" eaLnBrk="1" latinLnBrk="0" hangingPunct="1">
              <a:spcBef>
                <a:spcPct val="20000"/>
              </a:spcBef>
              <a:buClr>
                <a:srgbClr val="0070C0"/>
              </a:buClr>
              <a:buSzPct val="76000"/>
              <a:buFont typeface="Wingdings" panose="05000000000000000000" pitchFamily="2" charset="2"/>
              <a:buChar char="Ø"/>
              <a:defRPr sz="1800" kern="1200">
                <a:solidFill>
                  <a:srgbClr val="000099"/>
                </a:solidFill>
                <a:latin typeface="+mn-lt"/>
                <a:ea typeface="+mn-ea"/>
                <a:cs typeface="+mn-cs"/>
              </a:defRPr>
            </a:lvl2pPr>
            <a:lvl3pPr marL="914400" indent="-228600" algn="l" defTabSz="914400" rtl="0" eaLnBrk="1" latinLnBrk="0" hangingPunct="1">
              <a:spcBef>
                <a:spcPct val="20000"/>
              </a:spcBef>
              <a:buClr>
                <a:srgbClr val="00B0F0"/>
              </a:buClr>
              <a:buSzPct val="76000"/>
              <a:buFont typeface="Wingdings" panose="05000000000000000000" pitchFamily="2" charset="2"/>
              <a:buChar char="v"/>
              <a:defRPr sz="16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2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fontAlgn="base">
              <a:buNone/>
            </a:pPr>
            <a:r>
              <a:rPr lang="en-US" sz="2000"/>
              <a:t>S = Submitted, A = Final Approved, R = Request Payment, P = Payment Handled. </a:t>
            </a:r>
          </a:p>
          <a:p>
            <a:pPr marL="68580" indent="0" fontAlgn="base">
              <a:buNone/>
            </a:pPr>
            <a:r>
              <a:rPr lang="en-US" sz="2000" b="1"/>
              <a:t>R5, R5B, and R6 are not expressible in standard pm4py DECLARE templates</a:t>
            </a:r>
            <a:r>
              <a:rPr lang="en-US" sz="2000"/>
              <a:t>.</a:t>
            </a:r>
            <a:endParaRPr lang="en-US" sz="1800"/>
          </a:p>
        </p:txBody>
      </p:sp>
    </p:spTree>
    <p:extLst>
      <p:ext uri="{BB962C8B-B14F-4D97-AF65-F5344CB8AC3E}">
        <p14:creationId xmlns:p14="http://schemas.microsoft.com/office/powerpoint/2010/main" val="3289074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6836B-81C5-592D-E480-21153378E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9D16F-E451-ACE3-6A46-3D79A37F53AB}"/>
              </a:ext>
            </a:extLst>
          </p:cNvPr>
          <p:cNvSpPr>
            <a:spLocks noGrp="1"/>
          </p:cNvSpPr>
          <p:nvPr>
            <p:ph type="title"/>
          </p:nvPr>
        </p:nvSpPr>
        <p:spPr>
          <a:xfrm>
            <a:off x="369367" y="199333"/>
            <a:ext cx="3671779" cy="648736"/>
          </a:xfrm>
        </p:spPr>
        <p:txBody>
          <a:bodyPr/>
          <a:lstStyle/>
          <a:p>
            <a:r>
              <a:rPr lang="en-US"/>
              <a:t>The Pipeline</a:t>
            </a:r>
            <a:endParaRPr lang="en-US" dirty="0"/>
          </a:p>
        </p:txBody>
      </p:sp>
      <p:grpSp>
        <p:nvGrpSpPr>
          <p:cNvPr id="42" name="Ομάδα 41">
            <a:extLst>
              <a:ext uri="{FF2B5EF4-FFF2-40B4-BE49-F238E27FC236}">
                <a16:creationId xmlns:a16="http://schemas.microsoft.com/office/drawing/2014/main" id="{40FA865A-EE58-570B-674E-01F3C20DFD6D}"/>
              </a:ext>
            </a:extLst>
          </p:cNvPr>
          <p:cNvGrpSpPr/>
          <p:nvPr/>
        </p:nvGrpSpPr>
        <p:grpSpPr>
          <a:xfrm>
            <a:off x="849085" y="1062798"/>
            <a:ext cx="3614058" cy="5271501"/>
            <a:chOff x="8856615" y="351557"/>
            <a:chExt cx="2855125" cy="5849306"/>
          </a:xfrm>
        </p:grpSpPr>
        <p:grpSp>
          <p:nvGrpSpPr>
            <p:cNvPr id="6" name="Ομάδα 5">
              <a:extLst>
                <a:ext uri="{FF2B5EF4-FFF2-40B4-BE49-F238E27FC236}">
                  <a16:creationId xmlns:a16="http://schemas.microsoft.com/office/drawing/2014/main" id="{79B0E575-9C81-0523-67AD-6151EC380233}"/>
                </a:ext>
              </a:extLst>
            </p:cNvPr>
            <p:cNvGrpSpPr/>
            <p:nvPr/>
          </p:nvGrpSpPr>
          <p:grpSpPr>
            <a:xfrm>
              <a:off x="8856616" y="351557"/>
              <a:ext cx="2854827" cy="1158821"/>
              <a:chOff x="8516983" y="351557"/>
              <a:chExt cx="2854828" cy="1412168"/>
            </a:xfrm>
          </p:grpSpPr>
          <p:sp>
            <p:nvSpPr>
              <p:cNvPr id="3" name="Ορθογώνιο: Στρογγύλεμα γωνιών 2">
                <a:extLst>
                  <a:ext uri="{FF2B5EF4-FFF2-40B4-BE49-F238E27FC236}">
                    <a16:creationId xmlns:a16="http://schemas.microsoft.com/office/drawing/2014/main" id="{157670E6-2621-826E-CC34-1019F99E641C}"/>
                  </a:ext>
                </a:extLst>
              </p:cNvPr>
              <p:cNvSpPr/>
              <p:nvPr/>
            </p:nvSpPr>
            <p:spPr>
              <a:xfrm>
                <a:off x="8516983" y="351557"/>
                <a:ext cx="2854828" cy="933994"/>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t>XES Event Log</a:t>
                </a:r>
              </a:p>
            </p:txBody>
          </p:sp>
          <p:sp>
            <p:nvSpPr>
              <p:cNvPr id="5" name="Βέλος: Κάτω 4">
                <a:extLst>
                  <a:ext uri="{FF2B5EF4-FFF2-40B4-BE49-F238E27FC236}">
                    <a16:creationId xmlns:a16="http://schemas.microsoft.com/office/drawing/2014/main" id="{3897570C-5C01-3143-ADE7-DD4EEC389CEE}"/>
                  </a:ext>
                </a:extLst>
              </p:cNvPr>
              <p:cNvSpPr/>
              <p:nvPr/>
            </p:nvSpPr>
            <p:spPr>
              <a:xfrm>
                <a:off x="9320645" y="1397965"/>
                <a:ext cx="1247503" cy="365760"/>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Ομάδα 19">
              <a:extLst>
                <a:ext uri="{FF2B5EF4-FFF2-40B4-BE49-F238E27FC236}">
                  <a16:creationId xmlns:a16="http://schemas.microsoft.com/office/drawing/2014/main" id="{D761DB2E-D98C-87E1-143E-2FA0BCA03564}"/>
                </a:ext>
              </a:extLst>
            </p:cNvPr>
            <p:cNvGrpSpPr/>
            <p:nvPr/>
          </p:nvGrpSpPr>
          <p:grpSpPr>
            <a:xfrm>
              <a:off x="8856913" y="1669224"/>
              <a:ext cx="2854827" cy="1158821"/>
              <a:chOff x="8516983" y="351557"/>
              <a:chExt cx="2854828" cy="1412168"/>
            </a:xfrm>
          </p:grpSpPr>
          <p:sp>
            <p:nvSpPr>
              <p:cNvPr id="21" name="Ορθογώνιο: Στρογγύλεμα γωνιών 20">
                <a:extLst>
                  <a:ext uri="{FF2B5EF4-FFF2-40B4-BE49-F238E27FC236}">
                    <a16:creationId xmlns:a16="http://schemas.microsoft.com/office/drawing/2014/main" id="{C1048C3A-A75D-88A3-2D34-10FCA59FF2AF}"/>
                  </a:ext>
                </a:extLst>
              </p:cNvPr>
              <p:cNvSpPr/>
              <p:nvPr/>
            </p:nvSpPr>
            <p:spPr>
              <a:xfrm>
                <a:off x="8516983" y="351557"/>
                <a:ext cx="2854828" cy="933994"/>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t>Mapping (XES </a:t>
                </a:r>
                <a:r>
                  <a:rPr lang="en-US" sz="2000" b="1">
                    <a:sym typeface="Wingdings" panose="05000000000000000000" pitchFamily="2" charset="2"/>
                  </a:rPr>
                  <a:t> KG)</a:t>
                </a:r>
                <a:endParaRPr lang="en-US" sz="2000" b="1"/>
              </a:p>
            </p:txBody>
          </p:sp>
          <p:sp>
            <p:nvSpPr>
              <p:cNvPr id="22" name="Βέλος: Κάτω 21">
                <a:extLst>
                  <a:ext uri="{FF2B5EF4-FFF2-40B4-BE49-F238E27FC236}">
                    <a16:creationId xmlns:a16="http://schemas.microsoft.com/office/drawing/2014/main" id="{BD9342AB-2CD8-B96B-82F9-472E53599271}"/>
                  </a:ext>
                </a:extLst>
              </p:cNvPr>
              <p:cNvSpPr/>
              <p:nvPr/>
            </p:nvSpPr>
            <p:spPr>
              <a:xfrm>
                <a:off x="9320645" y="1397965"/>
                <a:ext cx="1247503" cy="365760"/>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Ομάδα 22">
              <a:extLst>
                <a:ext uri="{FF2B5EF4-FFF2-40B4-BE49-F238E27FC236}">
                  <a16:creationId xmlns:a16="http://schemas.microsoft.com/office/drawing/2014/main" id="{036C023B-31DD-5843-A533-05186C7E2CC4}"/>
                </a:ext>
              </a:extLst>
            </p:cNvPr>
            <p:cNvGrpSpPr/>
            <p:nvPr/>
          </p:nvGrpSpPr>
          <p:grpSpPr>
            <a:xfrm>
              <a:off x="8856616" y="2920291"/>
              <a:ext cx="2854827" cy="1158821"/>
              <a:chOff x="8516983" y="351557"/>
              <a:chExt cx="2854828" cy="1412168"/>
            </a:xfrm>
          </p:grpSpPr>
          <p:sp>
            <p:nvSpPr>
              <p:cNvPr id="24" name="Ορθογώνιο: Στρογγύλεμα γωνιών 23">
                <a:extLst>
                  <a:ext uri="{FF2B5EF4-FFF2-40B4-BE49-F238E27FC236}">
                    <a16:creationId xmlns:a16="http://schemas.microsoft.com/office/drawing/2014/main" id="{FD5001C4-2ECB-7AD3-9D83-C65F52BE7053}"/>
                  </a:ext>
                </a:extLst>
              </p:cNvPr>
              <p:cNvSpPr/>
              <p:nvPr/>
            </p:nvSpPr>
            <p:spPr>
              <a:xfrm>
                <a:off x="8516983" y="351557"/>
                <a:ext cx="2854828" cy="933994"/>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t>Provenance KG</a:t>
                </a:r>
              </a:p>
            </p:txBody>
          </p:sp>
          <p:sp>
            <p:nvSpPr>
              <p:cNvPr id="25" name="Βέλος: Κάτω 24">
                <a:extLst>
                  <a:ext uri="{FF2B5EF4-FFF2-40B4-BE49-F238E27FC236}">
                    <a16:creationId xmlns:a16="http://schemas.microsoft.com/office/drawing/2014/main" id="{09DEAB14-6FA3-7214-BE9E-7FA0D600D13D}"/>
                  </a:ext>
                </a:extLst>
              </p:cNvPr>
              <p:cNvSpPr/>
              <p:nvPr/>
            </p:nvSpPr>
            <p:spPr>
              <a:xfrm>
                <a:off x="9320645" y="1397965"/>
                <a:ext cx="1247503" cy="365760"/>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Ομάδα 25">
              <a:extLst>
                <a:ext uri="{FF2B5EF4-FFF2-40B4-BE49-F238E27FC236}">
                  <a16:creationId xmlns:a16="http://schemas.microsoft.com/office/drawing/2014/main" id="{0BE027D1-7801-AD76-6AE5-86748F0E5AD9}"/>
                </a:ext>
              </a:extLst>
            </p:cNvPr>
            <p:cNvGrpSpPr/>
            <p:nvPr/>
          </p:nvGrpSpPr>
          <p:grpSpPr>
            <a:xfrm>
              <a:off x="8856615" y="4171358"/>
              <a:ext cx="2854827" cy="1158821"/>
              <a:chOff x="8516983" y="351557"/>
              <a:chExt cx="2854828" cy="1412168"/>
            </a:xfrm>
          </p:grpSpPr>
          <p:sp>
            <p:nvSpPr>
              <p:cNvPr id="27" name="Ορθογώνιο: Στρογγύλεμα γωνιών 26">
                <a:extLst>
                  <a:ext uri="{FF2B5EF4-FFF2-40B4-BE49-F238E27FC236}">
                    <a16:creationId xmlns:a16="http://schemas.microsoft.com/office/drawing/2014/main" id="{663BD971-7662-1E84-0ACD-D13CBC500577}"/>
                  </a:ext>
                </a:extLst>
              </p:cNvPr>
              <p:cNvSpPr/>
              <p:nvPr/>
            </p:nvSpPr>
            <p:spPr>
              <a:xfrm>
                <a:off x="8516983" y="351557"/>
                <a:ext cx="2854828" cy="933994"/>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t>Validation Rules</a:t>
                </a:r>
              </a:p>
            </p:txBody>
          </p:sp>
          <p:sp>
            <p:nvSpPr>
              <p:cNvPr id="28" name="Βέλος: Κάτω 27">
                <a:extLst>
                  <a:ext uri="{FF2B5EF4-FFF2-40B4-BE49-F238E27FC236}">
                    <a16:creationId xmlns:a16="http://schemas.microsoft.com/office/drawing/2014/main" id="{2B98EC05-9557-7A32-A895-C67DD2E6371F}"/>
                  </a:ext>
                </a:extLst>
              </p:cNvPr>
              <p:cNvSpPr/>
              <p:nvPr/>
            </p:nvSpPr>
            <p:spPr>
              <a:xfrm>
                <a:off x="9320645" y="1397965"/>
                <a:ext cx="1247503" cy="365760"/>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Ορθογώνιο: Στρογγύλεμα γωνιών 29">
              <a:extLst>
                <a:ext uri="{FF2B5EF4-FFF2-40B4-BE49-F238E27FC236}">
                  <a16:creationId xmlns:a16="http://schemas.microsoft.com/office/drawing/2014/main" id="{EE1BAB23-16EA-DBEE-EA7E-63C1715D05FB}"/>
                </a:ext>
              </a:extLst>
            </p:cNvPr>
            <p:cNvSpPr/>
            <p:nvPr/>
          </p:nvSpPr>
          <p:spPr>
            <a:xfrm>
              <a:off x="8856615" y="5434430"/>
              <a:ext cx="2854827" cy="766433"/>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t>Violation Report</a:t>
              </a:r>
            </a:p>
          </p:txBody>
        </p:sp>
      </p:grpSp>
      <p:sp>
        <p:nvSpPr>
          <p:cNvPr id="10" name="TextBox 9">
            <a:extLst>
              <a:ext uri="{FF2B5EF4-FFF2-40B4-BE49-F238E27FC236}">
                <a16:creationId xmlns:a16="http://schemas.microsoft.com/office/drawing/2014/main" id="{32C894A4-B7ED-5DCD-D5E6-EDFB66129469}"/>
              </a:ext>
            </a:extLst>
          </p:cNvPr>
          <p:cNvSpPr txBox="1"/>
          <p:nvPr/>
        </p:nvSpPr>
        <p:spPr>
          <a:xfrm>
            <a:off x="4680859" y="948678"/>
            <a:ext cx="7441472" cy="5632311"/>
          </a:xfrm>
          <a:prstGeom prst="rect">
            <a:avLst/>
          </a:prstGeom>
          <a:noFill/>
        </p:spPr>
        <p:txBody>
          <a:bodyPr wrap="square">
            <a:spAutoFit/>
          </a:bodyPr>
          <a:lstStyle/>
          <a:p>
            <a:pPr marL="342900" lvl="0" indent="-342900">
              <a:buFont typeface="+mj-lt"/>
              <a:buAutoNum type="arabicPeriod"/>
            </a:pPr>
            <a:r>
              <a:rPr lang="en-US" sz="2000" b="1"/>
              <a:t>XES event log:</a:t>
            </a:r>
            <a:r>
              <a:rPr lang="en-US" sz="2000"/>
              <a:t> Input process executions containing traces, events, timestamps, activities, agents, and XES attributes.</a:t>
            </a:r>
          </a:p>
          <a:p>
            <a:pPr marL="342900" lvl="0" indent="-342900">
              <a:buFont typeface="+mj-lt"/>
              <a:buAutoNum type="arabicPeriod"/>
            </a:pPr>
            <a:endParaRPr lang="en-US" sz="2000"/>
          </a:p>
          <a:p>
            <a:pPr marL="342900" lvl="0" indent="-342900">
              <a:buFont typeface="+mj-lt"/>
              <a:buAutoNum type="arabicPeriod"/>
            </a:pPr>
            <a:r>
              <a:rPr lang="en-US" sz="2000" b="1"/>
              <a:t>Mapping XES to KG:</a:t>
            </a:r>
            <a:r>
              <a:rPr lang="en-US" sz="2000"/>
              <a:t> Python incrementally converts each trace into RDF, generating stable URIs and preserving missing attributes. </a:t>
            </a:r>
          </a:p>
          <a:p>
            <a:pPr marL="342900" lvl="0" indent="-342900">
              <a:buFont typeface="+mj-lt"/>
              <a:buAutoNum type="arabicPeriod"/>
            </a:pPr>
            <a:endParaRPr lang="en-US" sz="2000"/>
          </a:p>
          <a:p>
            <a:pPr marL="342900" lvl="0" indent="-342900">
              <a:buFont typeface="+mj-lt"/>
              <a:buAutoNum type="arabicPeriod"/>
            </a:pPr>
            <a:r>
              <a:rPr lang="en-US" sz="2000" b="1"/>
              <a:t>Provenance KG:</a:t>
            </a:r>
            <a:r>
              <a:rPr lang="en-US" sz="2000"/>
              <a:t> RDF encodes event ordering with </a:t>
            </a:r>
            <a:r>
              <a:rPr lang="en-US" sz="2000">
                <a:latin typeface="+mn-lt"/>
              </a:rPr>
              <a:t>prov:wasInformedBy</a:t>
            </a:r>
            <a:r>
              <a:rPr lang="en-US" sz="2000"/>
              <a:t> and case membership with </a:t>
            </a:r>
            <a:r>
              <a:rPr lang="en-US" sz="2000">
                <a:latin typeface="+mn-lt"/>
              </a:rPr>
              <a:t>wf:belongsToCase</a:t>
            </a:r>
            <a:r>
              <a:rPr lang="en-US" sz="2000"/>
              <a:t>. </a:t>
            </a:r>
          </a:p>
          <a:p>
            <a:pPr marL="342900" lvl="0" indent="-342900">
              <a:buFont typeface="+mj-lt"/>
              <a:buAutoNum type="arabicPeriod"/>
            </a:pPr>
            <a:endParaRPr lang="en-US" sz="2000"/>
          </a:p>
          <a:p>
            <a:pPr marL="342900" lvl="0" indent="-342900">
              <a:buFont typeface="+mj-lt"/>
              <a:buAutoNum type="arabicPeriod"/>
            </a:pPr>
            <a:r>
              <a:rPr lang="en-US" sz="2000" b="1"/>
              <a:t>Validation rules:</a:t>
            </a:r>
            <a:r>
              <a:rPr lang="en-US" sz="2000"/>
              <a:t> Six </a:t>
            </a:r>
            <a:r>
              <a:rPr lang="en-US" sz="2000" b="1"/>
              <a:t>SPARQL 1.1 </a:t>
            </a:r>
            <a:r>
              <a:rPr lang="en-US" sz="2000"/>
              <a:t>rules execute on </a:t>
            </a:r>
            <a:r>
              <a:rPr lang="en-US" sz="2000" b="1"/>
              <a:t>Fuseki</a:t>
            </a:r>
            <a:r>
              <a:rPr lang="en-US" sz="2000"/>
              <a:t>, detecting violations and returning the involved entities. </a:t>
            </a:r>
          </a:p>
          <a:p>
            <a:pPr marL="342900" lvl="0" indent="-342900">
              <a:buFont typeface="+mj-lt"/>
              <a:buAutoNum type="arabicPeriod"/>
            </a:pPr>
            <a:endParaRPr lang="en-US" sz="2000"/>
          </a:p>
          <a:p>
            <a:pPr marL="342900" lvl="0" indent="-342900">
              <a:buFont typeface="+mj-lt"/>
              <a:buAutoNum type="arabicPeriod"/>
            </a:pPr>
            <a:r>
              <a:rPr lang="en-US" sz="2000" b="1"/>
              <a:t>Validation report:</a:t>
            </a:r>
            <a:r>
              <a:rPr lang="en-US" sz="2000"/>
              <a:t> Detected violations are exported as a structured JSON report for analysis and identification of incomplete executions. </a:t>
            </a:r>
          </a:p>
        </p:txBody>
      </p:sp>
    </p:spTree>
    <p:extLst>
      <p:ext uri="{BB962C8B-B14F-4D97-AF65-F5344CB8AC3E}">
        <p14:creationId xmlns:p14="http://schemas.microsoft.com/office/powerpoint/2010/main" val="2347151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D58FB-1086-5979-D8E2-F89B940B4478}"/>
            </a:ext>
          </a:extLst>
        </p:cNvPr>
        <p:cNvGrpSpPr/>
        <p:nvPr/>
      </p:nvGrpSpPr>
      <p:grpSpPr>
        <a:xfrm>
          <a:off x="0" y="0"/>
          <a:ext cx="0" cy="0"/>
          <a:chOff x="0" y="0"/>
          <a:chExt cx="0" cy="0"/>
        </a:xfrm>
      </p:grpSpPr>
      <p:sp>
        <p:nvSpPr>
          <p:cNvPr id="4" name="Θέση αριθμού διαφάνειας 3">
            <a:extLst>
              <a:ext uri="{FF2B5EF4-FFF2-40B4-BE49-F238E27FC236}">
                <a16:creationId xmlns:a16="http://schemas.microsoft.com/office/drawing/2014/main" id="{BB6A8D55-438B-D93A-2BAE-6AA9618F9BF6}"/>
              </a:ext>
            </a:extLst>
          </p:cNvPr>
          <p:cNvSpPr>
            <a:spLocks noGrp="1"/>
          </p:cNvSpPr>
          <p:nvPr>
            <p:ph type="sldNum" sz="quarter" idx="12"/>
          </p:nvPr>
        </p:nvSpPr>
        <p:spPr>
          <a:xfrm>
            <a:off x="11006051" y="6135149"/>
            <a:ext cx="820189" cy="517904"/>
          </a:xfrm>
        </p:spPr>
        <p:txBody>
          <a:bodyPr/>
          <a:lstStyle/>
          <a:p>
            <a:fld id="{10545CFA-47CE-427D-A7F0-020FE1304B29}" type="slidenum">
              <a:rPr lang="en-US" smtClean="0"/>
              <a:t>11</a:t>
            </a:fld>
            <a:endParaRPr lang="en-US"/>
          </a:p>
        </p:txBody>
      </p:sp>
      <p:pic>
        <p:nvPicPr>
          <p:cNvPr id="39" name="Εικόνα 38">
            <a:extLst>
              <a:ext uri="{FF2B5EF4-FFF2-40B4-BE49-F238E27FC236}">
                <a16:creationId xmlns:a16="http://schemas.microsoft.com/office/drawing/2014/main" id="{3F009485-A89B-31FA-E191-C95065E33C32}"/>
              </a:ext>
            </a:extLst>
          </p:cNvPr>
          <p:cNvPicPr>
            <a:picLocks noChangeAspect="1"/>
          </p:cNvPicPr>
          <p:nvPr/>
        </p:nvPicPr>
        <p:blipFill>
          <a:blip r:embed="rId3"/>
          <a:srcRect t="6003" r="52143" b="52408"/>
          <a:stretch>
            <a:fillRect/>
          </a:stretch>
        </p:blipFill>
        <p:spPr>
          <a:xfrm>
            <a:off x="6242471" y="415802"/>
            <a:ext cx="2393288" cy="3947923"/>
          </a:xfrm>
          <a:prstGeom prst="rect">
            <a:avLst/>
          </a:prstGeom>
        </p:spPr>
      </p:pic>
      <p:pic>
        <p:nvPicPr>
          <p:cNvPr id="41" name="Εικόνα 40">
            <a:extLst>
              <a:ext uri="{FF2B5EF4-FFF2-40B4-BE49-F238E27FC236}">
                <a16:creationId xmlns:a16="http://schemas.microsoft.com/office/drawing/2014/main" id="{2E3D9F94-F393-7593-B6B3-5F9322FA809B}"/>
              </a:ext>
            </a:extLst>
          </p:cNvPr>
          <p:cNvPicPr>
            <a:picLocks noChangeAspect="1"/>
          </p:cNvPicPr>
          <p:nvPr/>
        </p:nvPicPr>
        <p:blipFill>
          <a:blip r:embed="rId3"/>
          <a:srcRect l="52474" t="6097" r="1387" b="52556"/>
          <a:stretch>
            <a:fillRect/>
          </a:stretch>
        </p:blipFill>
        <p:spPr>
          <a:xfrm>
            <a:off x="9303052" y="416694"/>
            <a:ext cx="2393281" cy="4074804"/>
          </a:xfrm>
          <a:prstGeom prst="rect">
            <a:avLst/>
          </a:prstGeom>
        </p:spPr>
      </p:pic>
      <p:sp>
        <p:nvSpPr>
          <p:cNvPr id="43" name="Title 1">
            <a:extLst>
              <a:ext uri="{FF2B5EF4-FFF2-40B4-BE49-F238E27FC236}">
                <a16:creationId xmlns:a16="http://schemas.microsoft.com/office/drawing/2014/main" id="{33D2738C-61BD-1645-AB01-DF343BFC683B}"/>
              </a:ext>
            </a:extLst>
          </p:cNvPr>
          <p:cNvSpPr txBox="1">
            <a:spLocks/>
          </p:cNvSpPr>
          <p:nvPr/>
        </p:nvSpPr>
        <p:spPr>
          <a:xfrm>
            <a:off x="365760" y="204947"/>
            <a:ext cx="10007499" cy="648736"/>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kern="1200">
                <a:solidFill>
                  <a:srgbClr val="0070C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The Experiment</a:t>
            </a:r>
            <a:endParaRPr lang="en-US" dirty="0"/>
          </a:p>
        </p:txBody>
      </p:sp>
      <p:sp>
        <p:nvSpPr>
          <p:cNvPr id="46" name="Content Placeholder 2">
            <a:extLst>
              <a:ext uri="{FF2B5EF4-FFF2-40B4-BE49-F238E27FC236}">
                <a16:creationId xmlns:a16="http://schemas.microsoft.com/office/drawing/2014/main" id="{D904B76D-6B56-1729-3665-0B77DC05BFDE}"/>
              </a:ext>
            </a:extLst>
          </p:cNvPr>
          <p:cNvSpPr>
            <a:spLocks noGrp="1"/>
          </p:cNvSpPr>
          <p:nvPr>
            <p:ph idx="1"/>
          </p:nvPr>
        </p:nvSpPr>
        <p:spPr>
          <a:xfrm>
            <a:off x="5719330" y="4534510"/>
            <a:ext cx="3439569" cy="1674943"/>
          </a:xfrm>
        </p:spPr>
        <p:txBody>
          <a:bodyPr>
            <a:noAutofit/>
          </a:bodyPr>
          <a:lstStyle/>
          <a:p>
            <a:pPr marL="68580" indent="0" algn="ctr" fontAlgn="base">
              <a:buNone/>
            </a:pPr>
            <a:r>
              <a:rPr lang="en-US" b="1" i="1"/>
              <a:t>Measuring</a:t>
            </a:r>
          </a:p>
          <a:p>
            <a:pPr lvl="1" fontAlgn="base"/>
            <a:r>
              <a:rPr lang="en-US" sz="2000" b="1" i="1"/>
              <a:t>Validation Time</a:t>
            </a:r>
          </a:p>
          <a:p>
            <a:pPr lvl="1" fontAlgn="base"/>
            <a:r>
              <a:rPr lang="en-US" sz="2000" b="1" i="1"/>
              <a:t>Violated Cases</a:t>
            </a:r>
          </a:p>
          <a:p>
            <a:pPr lvl="1" fontAlgn="base"/>
            <a:r>
              <a:rPr lang="en-US" sz="2000" b="1" i="1"/>
              <a:t>Injected-fault recall</a:t>
            </a:r>
          </a:p>
        </p:txBody>
      </p:sp>
      <p:sp>
        <p:nvSpPr>
          <p:cNvPr id="49" name="Content Placeholder 2">
            <a:extLst>
              <a:ext uri="{FF2B5EF4-FFF2-40B4-BE49-F238E27FC236}">
                <a16:creationId xmlns:a16="http://schemas.microsoft.com/office/drawing/2014/main" id="{E2043676-7052-81E1-F4BC-EA4799B8B33B}"/>
              </a:ext>
            </a:extLst>
          </p:cNvPr>
          <p:cNvSpPr txBox="1">
            <a:spLocks/>
          </p:cNvSpPr>
          <p:nvPr/>
        </p:nvSpPr>
        <p:spPr>
          <a:xfrm>
            <a:off x="8779907" y="4534511"/>
            <a:ext cx="3439569" cy="1674943"/>
          </a:xfrm>
          <a:prstGeom prst="rect">
            <a:avLst/>
          </a:prstGeom>
        </p:spPr>
        <p:txBody>
          <a:bodyPr vert="horz" lIns="91440" tIns="45720" rIns="91440" bIns="45720" rtlCol="0">
            <a:noAutofit/>
          </a:bodyPr>
          <a:lstStyle>
            <a:lvl1pPr marL="342900" indent="-274320" algn="l" defTabSz="914400" rtl="0" eaLnBrk="1" latinLnBrk="0" hangingPunct="1">
              <a:spcBef>
                <a:spcPct val="20000"/>
              </a:spcBef>
              <a:buClr>
                <a:srgbClr val="002060"/>
              </a:buClr>
              <a:buSzPct val="76000"/>
              <a:buFont typeface="Wingdings" panose="05000000000000000000" pitchFamily="2" charset="2"/>
              <a:buChar char="q"/>
              <a:defRPr sz="2400" kern="1200">
                <a:solidFill>
                  <a:schemeClr val="tx2"/>
                </a:solidFill>
                <a:latin typeface="+mn-lt"/>
                <a:ea typeface="+mn-ea"/>
                <a:cs typeface="+mn-cs"/>
              </a:defRPr>
            </a:lvl1pPr>
            <a:lvl2pPr marL="640080" indent="-274320" algn="l" defTabSz="914400" rtl="0" eaLnBrk="1" latinLnBrk="0" hangingPunct="1">
              <a:spcBef>
                <a:spcPct val="20000"/>
              </a:spcBef>
              <a:buClr>
                <a:srgbClr val="0070C0"/>
              </a:buClr>
              <a:buSzPct val="76000"/>
              <a:buFont typeface="Wingdings" panose="05000000000000000000" pitchFamily="2" charset="2"/>
              <a:buChar char="Ø"/>
              <a:defRPr sz="1800" kern="1200">
                <a:solidFill>
                  <a:srgbClr val="000099"/>
                </a:solidFill>
                <a:latin typeface="+mn-lt"/>
                <a:ea typeface="+mn-ea"/>
                <a:cs typeface="+mn-cs"/>
              </a:defRPr>
            </a:lvl2pPr>
            <a:lvl3pPr marL="914400" indent="-228600" algn="l" defTabSz="914400" rtl="0" eaLnBrk="1" latinLnBrk="0" hangingPunct="1">
              <a:spcBef>
                <a:spcPct val="20000"/>
              </a:spcBef>
              <a:buClr>
                <a:srgbClr val="00B0F0"/>
              </a:buClr>
              <a:buSzPct val="76000"/>
              <a:buFont typeface="Wingdings" panose="05000000000000000000" pitchFamily="2" charset="2"/>
              <a:buChar char="v"/>
              <a:defRPr sz="16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2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lgn="ctr" fontAlgn="base">
              <a:buFont typeface="Wingdings" panose="05000000000000000000" pitchFamily="2" charset="2"/>
              <a:buNone/>
            </a:pPr>
            <a:r>
              <a:rPr lang="en-US" b="1" i="1"/>
              <a:t>Measuring</a:t>
            </a:r>
          </a:p>
          <a:p>
            <a:pPr lvl="1" fontAlgn="base"/>
            <a:r>
              <a:rPr lang="en-US" sz="2000" b="1" i="1"/>
              <a:t>Graph Size</a:t>
            </a:r>
          </a:p>
          <a:p>
            <a:pPr lvl="1" fontAlgn="base"/>
            <a:r>
              <a:rPr lang="en-US" sz="2000" b="1" i="1"/>
              <a:t>Execution Time</a:t>
            </a:r>
          </a:p>
          <a:p>
            <a:pPr lvl="1" fontAlgn="base"/>
            <a:r>
              <a:rPr lang="en-US" sz="2000" b="1" i="1"/>
              <a:t>Recall</a:t>
            </a:r>
          </a:p>
        </p:txBody>
      </p:sp>
      <p:sp>
        <p:nvSpPr>
          <p:cNvPr id="10" name="TextBox 9">
            <a:extLst>
              <a:ext uri="{FF2B5EF4-FFF2-40B4-BE49-F238E27FC236}">
                <a16:creationId xmlns:a16="http://schemas.microsoft.com/office/drawing/2014/main" id="{7C11781A-37B1-9273-B920-BDC7BE9C25E9}"/>
              </a:ext>
            </a:extLst>
          </p:cNvPr>
          <p:cNvSpPr txBox="1"/>
          <p:nvPr/>
        </p:nvSpPr>
        <p:spPr>
          <a:xfrm>
            <a:off x="142057" y="1063679"/>
            <a:ext cx="5707177" cy="5016758"/>
          </a:xfrm>
          <a:prstGeom prst="rect">
            <a:avLst/>
          </a:prstGeom>
          <a:noFill/>
        </p:spPr>
        <p:txBody>
          <a:bodyPr wrap="square">
            <a:spAutoFit/>
          </a:bodyPr>
          <a:lstStyle/>
          <a:p>
            <a:pPr lvl="0" algn="ctr"/>
            <a:r>
              <a:rPr lang="en-US" sz="2000" b="1"/>
              <a:t>Part 1</a:t>
            </a:r>
            <a:r>
              <a:rPr lang="en-US" sz="2000"/>
              <a:t> </a:t>
            </a:r>
            <a:r>
              <a:rPr lang="en-US" sz="2000" b="1"/>
              <a:t>measures agreement between KG validation and DECLARE </a:t>
            </a:r>
            <a:r>
              <a:rPr lang="en-US" sz="2000"/>
              <a:t>on equivalent control-flow constraints, while </a:t>
            </a:r>
            <a:r>
              <a:rPr lang="en-US" sz="2000" b="1"/>
              <a:t>Part 2 tests constraints beyond standard DECLARE</a:t>
            </a:r>
            <a:r>
              <a:rPr lang="en-US" sz="2000"/>
              <a:t>, exploiting KG attributes and multi-hop provenance relationships.</a:t>
            </a:r>
          </a:p>
          <a:p>
            <a:pPr lvl="0"/>
            <a:r>
              <a:rPr lang="en-US" sz="2000"/>
              <a:t> </a:t>
            </a:r>
          </a:p>
          <a:p>
            <a:pPr marL="342900" lvl="0" indent="-342900">
              <a:buFont typeface="Wingdings" panose="05000000000000000000" pitchFamily="2" charset="2"/>
              <a:buChar char="q"/>
            </a:pPr>
            <a:r>
              <a:rPr lang="en-US" sz="2000" b="1">
                <a:solidFill>
                  <a:srgbClr val="000099"/>
                </a:solidFill>
              </a:rPr>
              <a:t>Isolated setting:</a:t>
            </a:r>
            <a:r>
              <a:rPr lang="en-US" sz="2000">
                <a:solidFill>
                  <a:srgbClr val="000099"/>
                </a:solidFill>
              </a:rPr>
              <a:t> Each rule is evaluated </a:t>
            </a:r>
            <a:r>
              <a:rPr lang="en-US" sz="2000" b="1">
                <a:solidFill>
                  <a:srgbClr val="000099"/>
                </a:solidFill>
              </a:rPr>
              <a:t>independently</a:t>
            </a:r>
            <a:r>
              <a:rPr lang="en-US" sz="2000">
                <a:solidFill>
                  <a:srgbClr val="000099"/>
                </a:solidFill>
              </a:rPr>
              <a:t>, enabling rule-specific performance and recall analysis. </a:t>
            </a:r>
          </a:p>
          <a:p>
            <a:pPr marL="342900" lvl="0" indent="-342900">
              <a:buFont typeface="Wingdings" panose="05000000000000000000" pitchFamily="2" charset="2"/>
              <a:buChar char="q"/>
            </a:pPr>
            <a:endParaRPr lang="en-US" sz="2000">
              <a:solidFill>
                <a:srgbClr val="000099"/>
              </a:solidFill>
            </a:endParaRPr>
          </a:p>
          <a:p>
            <a:pPr marL="342900" lvl="0" indent="-342900">
              <a:buFont typeface="Wingdings" panose="05000000000000000000" pitchFamily="2" charset="2"/>
              <a:buChar char="q"/>
            </a:pPr>
            <a:r>
              <a:rPr lang="en-US" sz="2000" b="1">
                <a:solidFill>
                  <a:srgbClr val="000099"/>
                </a:solidFill>
              </a:rPr>
              <a:t>Combined setting:</a:t>
            </a:r>
            <a:r>
              <a:rPr lang="en-US" sz="2000">
                <a:solidFill>
                  <a:srgbClr val="000099"/>
                </a:solidFill>
              </a:rPr>
              <a:t> All rules operate on one artifact, exposing interaction effects and additional execution cost.</a:t>
            </a:r>
          </a:p>
          <a:p>
            <a:pPr marL="800100" lvl="1" indent="-342900">
              <a:buFont typeface="Wingdings" panose="05000000000000000000" pitchFamily="2" charset="2"/>
              <a:buChar char="Ø"/>
            </a:pPr>
            <a:r>
              <a:rPr lang="en-US" sz="2000">
                <a:solidFill>
                  <a:srgbClr val="000099"/>
                </a:solidFill>
              </a:rPr>
              <a:t>A single mutation may trigger multiple rules</a:t>
            </a:r>
          </a:p>
        </p:txBody>
      </p:sp>
    </p:spTree>
    <p:extLst>
      <p:ext uri="{BB962C8B-B14F-4D97-AF65-F5344CB8AC3E}">
        <p14:creationId xmlns:p14="http://schemas.microsoft.com/office/powerpoint/2010/main" val="3063502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6139E-02B9-E9FD-106F-162CE9D4A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EBD39-964F-B635-4006-BDA7E079184E}"/>
              </a:ext>
            </a:extLst>
          </p:cNvPr>
          <p:cNvSpPr>
            <a:spLocks noGrp="1"/>
          </p:cNvSpPr>
          <p:nvPr>
            <p:ph type="title"/>
          </p:nvPr>
        </p:nvSpPr>
        <p:spPr/>
        <p:txBody>
          <a:bodyPr/>
          <a:lstStyle/>
          <a:p>
            <a:r>
              <a:rPr lang="en-US"/>
              <a:t>Results – Isolated setting</a:t>
            </a:r>
            <a:endParaRPr lang="en-US" dirty="0"/>
          </a:p>
        </p:txBody>
      </p:sp>
      <p:sp>
        <p:nvSpPr>
          <p:cNvPr id="4" name="Θέση αριθμού διαφάνειας 3">
            <a:extLst>
              <a:ext uri="{FF2B5EF4-FFF2-40B4-BE49-F238E27FC236}">
                <a16:creationId xmlns:a16="http://schemas.microsoft.com/office/drawing/2014/main" id="{F5639096-5C84-40B6-A366-B9C8E5C6C99E}"/>
              </a:ext>
            </a:extLst>
          </p:cNvPr>
          <p:cNvSpPr>
            <a:spLocks noGrp="1"/>
          </p:cNvSpPr>
          <p:nvPr>
            <p:ph type="sldNum" sz="quarter" idx="12"/>
          </p:nvPr>
        </p:nvSpPr>
        <p:spPr/>
        <p:txBody>
          <a:bodyPr/>
          <a:lstStyle/>
          <a:p>
            <a:fld id="{10545CFA-47CE-427D-A7F0-020FE1304B29}" type="slidenum">
              <a:rPr lang="en-US" smtClean="0"/>
              <a:t>12</a:t>
            </a:fld>
            <a:endParaRPr lang="en-US"/>
          </a:p>
        </p:txBody>
      </p:sp>
      <p:sp>
        <p:nvSpPr>
          <p:cNvPr id="7" name="Content Placeholder 2">
            <a:extLst>
              <a:ext uri="{FF2B5EF4-FFF2-40B4-BE49-F238E27FC236}">
                <a16:creationId xmlns:a16="http://schemas.microsoft.com/office/drawing/2014/main" id="{EC185391-07C9-4116-E24B-01F2EA8515E9}"/>
              </a:ext>
            </a:extLst>
          </p:cNvPr>
          <p:cNvSpPr>
            <a:spLocks noGrp="1"/>
          </p:cNvSpPr>
          <p:nvPr>
            <p:ph idx="1"/>
          </p:nvPr>
        </p:nvSpPr>
        <p:spPr>
          <a:xfrm>
            <a:off x="6814457" y="818554"/>
            <a:ext cx="5291246" cy="5749160"/>
          </a:xfrm>
        </p:spPr>
        <p:txBody>
          <a:bodyPr>
            <a:noAutofit/>
          </a:bodyPr>
          <a:lstStyle/>
          <a:p>
            <a:pPr fontAlgn="base"/>
            <a:r>
              <a:rPr lang="en-US"/>
              <a:t>10,500 cases evaluated</a:t>
            </a:r>
          </a:p>
          <a:p>
            <a:pPr fontAlgn="base"/>
            <a:r>
              <a:rPr lang="en-US"/>
              <a:t>100 faults injected per rule </a:t>
            </a:r>
          </a:p>
          <a:p>
            <a:pPr lvl="1" fontAlgn="base"/>
            <a:r>
              <a:rPr lang="en-US" b="1"/>
              <a:t>100% injected-fault recall </a:t>
            </a:r>
            <a:r>
              <a:rPr lang="en-US"/>
              <a:t>for all rules</a:t>
            </a:r>
          </a:p>
          <a:p>
            <a:pPr fontAlgn="base"/>
            <a:r>
              <a:rPr lang="en-US" b="1"/>
              <a:t>KG validation: 0.02–0.96 s/rule </a:t>
            </a:r>
          </a:p>
          <a:p>
            <a:pPr fontAlgn="base"/>
            <a:r>
              <a:rPr lang="en-US" b="1"/>
              <a:t>DECLARE validation: 2.25–2.28 s/rule </a:t>
            </a:r>
          </a:p>
          <a:p>
            <a:pPr fontAlgn="base"/>
            <a:r>
              <a:rPr lang="en-US"/>
              <a:t>KG </a:t>
            </a:r>
            <a:r>
              <a:rPr lang="en-US" b="1"/>
              <a:t>One-time</a:t>
            </a:r>
            <a:r>
              <a:rPr lang="en-US"/>
              <a:t> cost:</a:t>
            </a:r>
          </a:p>
          <a:p>
            <a:pPr lvl="1" fontAlgn="base"/>
            <a:r>
              <a:rPr lang="en-US" sz="2000"/>
              <a:t>Conversion (62–175 s)</a:t>
            </a:r>
          </a:p>
          <a:p>
            <a:pPr lvl="1" fontAlgn="base"/>
            <a:r>
              <a:rPr lang="en-US" sz="2000"/>
              <a:t>loading (~9.3 s) </a:t>
            </a:r>
          </a:p>
          <a:p>
            <a:pPr fontAlgn="base"/>
            <a:r>
              <a:rPr lang="en-US" b="1"/>
              <a:t>KG ~7–57× faster </a:t>
            </a:r>
            <a:r>
              <a:rPr lang="en-US"/>
              <a:t>depending on the rule</a:t>
            </a:r>
          </a:p>
          <a:p>
            <a:pPr marL="68580" indent="0" fontAlgn="base">
              <a:buNone/>
            </a:pPr>
            <a:endParaRPr lang="en-US"/>
          </a:p>
          <a:p>
            <a:pPr marL="68580" indent="0" fontAlgn="base">
              <a:buNone/>
            </a:pPr>
            <a:r>
              <a:rPr lang="en-US" i="1"/>
              <a:t>*For KG only</a:t>
            </a:r>
          </a:p>
        </p:txBody>
      </p:sp>
      <p:graphicFrame>
        <p:nvGraphicFramePr>
          <p:cNvPr id="3" name="Θέση περιεχομένου 5">
            <a:extLst>
              <a:ext uri="{FF2B5EF4-FFF2-40B4-BE49-F238E27FC236}">
                <a16:creationId xmlns:a16="http://schemas.microsoft.com/office/drawing/2014/main" id="{756851B0-3C9F-82BA-FF2C-895159C61891}"/>
              </a:ext>
            </a:extLst>
          </p:cNvPr>
          <p:cNvGraphicFramePr>
            <a:graphicFrameLocks/>
          </p:cNvGraphicFramePr>
          <p:nvPr>
            <p:extLst>
              <p:ext uri="{D42A27DB-BD31-4B8C-83A1-F6EECF244321}">
                <p14:modId xmlns:p14="http://schemas.microsoft.com/office/powerpoint/2010/main" val="2179982243"/>
              </p:ext>
            </p:extLst>
          </p:nvPr>
        </p:nvGraphicFramePr>
        <p:xfrm>
          <a:off x="247077" y="897938"/>
          <a:ext cx="6567379" cy="5387613"/>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083384">
                  <a:extLst>
                    <a:ext uri="{9D8B030D-6E8A-4147-A177-3AD203B41FA5}">
                      <a16:colId xmlns:a16="http://schemas.microsoft.com/office/drawing/2014/main" val="4212719066"/>
                    </a:ext>
                  </a:extLst>
                </a:gridCol>
                <a:gridCol w="1638815">
                  <a:extLst>
                    <a:ext uri="{9D8B030D-6E8A-4147-A177-3AD203B41FA5}">
                      <a16:colId xmlns:a16="http://schemas.microsoft.com/office/drawing/2014/main" val="3670016665"/>
                    </a:ext>
                  </a:extLst>
                </a:gridCol>
                <a:gridCol w="1922590">
                  <a:extLst>
                    <a:ext uri="{9D8B030D-6E8A-4147-A177-3AD203B41FA5}">
                      <a16:colId xmlns:a16="http://schemas.microsoft.com/office/drawing/2014/main" val="2810748407"/>
                    </a:ext>
                  </a:extLst>
                </a:gridCol>
                <a:gridCol w="1922590">
                  <a:extLst>
                    <a:ext uri="{9D8B030D-6E8A-4147-A177-3AD203B41FA5}">
                      <a16:colId xmlns:a16="http://schemas.microsoft.com/office/drawing/2014/main" val="2388607041"/>
                    </a:ext>
                  </a:extLst>
                </a:gridCol>
              </a:tblGrid>
              <a:tr h="739364">
                <a:tc>
                  <a:txBody>
                    <a:bodyPr/>
                    <a:lstStyle/>
                    <a:p>
                      <a:pPr algn="ctr"/>
                      <a:r>
                        <a:rPr lang="en-US" sz="2200"/>
                        <a:t>Rule</a:t>
                      </a:r>
                    </a:p>
                  </a:txBody>
                  <a:tcPr>
                    <a:solidFill>
                      <a:srgbClr val="00B0F0"/>
                    </a:solidFill>
                  </a:tcPr>
                </a:tc>
                <a:tc>
                  <a:txBody>
                    <a:bodyPr/>
                    <a:lstStyle/>
                    <a:p>
                      <a:pPr algn="ctr"/>
                      <a:r>
                        <a:rPr lang="en-US" sz="2200"/>
                        <a:t>KG (s)</a:t>
                      </a:r>
                    </a:p>
                  </a:txBody>
                  <a:tcPr>
                    <a:solidFill>
                      <a:srgbClr val="0088B8"/>
                    </a:solidFill>
                  </a:tcPr>
                </a:tc>
                <a:tc>
                  <a:txBody>
                    <a:bodyPr/>
                    <a:lstStyle/>
                    <a:p>
                      <a:pPr algn="ctr"/>
                      <a:r>
                        <a:rPr lang="en-US" sz="2200"/>
                        <a:t>DECLARE (s)</a:t>
                      </a:r>
                    </a:p>
                  </a:txBody>
                  <a:tcPr>
                    <a:solidFill>
                      <a:srgbClr val="0088B8"/>
                    </a:solidFill>
                  </a:tcPr>
                </a:tc>
                <a:tc>
                  <a:txBody>
                    <a:bodyPr/>
                    <a:lstStyle/>
                    <a:p>
                      <a:pPr algn="ctr"/>
                      <a:r>
                        <a:rPr lang="en-US" sz="2200"/>
                        <a:t>KG</a:t>
                      </a:r>
                      <a:r>
                        <a:rPr lang="el-GR" sz="2200"/>
                        <a:t>/</a:t>
                      </a:r>
                      <a:r>
                        <a:rPr lang="en-US" sz="2200"/>
                        <a:t>DECLARE additional</a:t>
                      </a:r>
                      <a:endParaRPr lang="en-US" sz="2200" b="0"/>
                    </a:p>
                  </a:txBody>
                  <a:tcPr>
                    <a:solidFill>
                      <a:srgbClr val="00B0F0"/>
                    </a:solidFill>
                  </a:tcPr>
                </a:tc>
                <a:extLst>
                  <a:ext uri="{0D108BD9-81ED-4DB2-BD59-A6C34878D82A}">
                    <a16:rowId xmlns:a16="http://schemas.microsoft.com/office/drawing/2014/main" val="3402297928"/>
                  </a:ext>
                </a:extLst>
              </a:tr>
              <a:tr h="637850">
                <a:tc>
                  <a:txBody>
                    <a:bodyPr/>
                    <a:lstStyle/>
                    <a:p>
                      <a:pPr algn="ctr"/>
                      <a:r>
                        <a:rPr lang="en-US" sz="2400" b="1">
                          <a:solidFill>
                            <a:schemeClr val="bg1">
                              <a:lumMod val="95000"/>
                            </a:schemeClr>
                          </a:solidFill>
                        </a:rPr>
                        <a:t>R1</a:t>
                      </a:r>
                    </a:p>
                  </a:txBody>
                  <a:tcPr>
                    <a:solidFill>
                      <a:srgbClr val="00B0F0"/>
                    </a:solidFill>
                  </a:tcPr>
                </a:tc>
                <a:tc>
                  <a:txBody>
                    <a:bodyPr/>
                    <a:lstStyle/>
                    <a:p>
                      <a:pPr algn="ctr"/>
                      <a:r>
                        <a:rPr lang="en-US" sz="2400">
                          <a:solidFill>
                            <a:schemeClr val="bg1">
                              <a:lumMod val="95000"/>
                            </a:schemeClr>
                          </a:solidFill>
                        </a:rPr>
                        <a:t>0.07</a:t>
                      </a:r>
                    </a:p>
                  </a:txBody>
                  <a:tcPr>
                    <a:solidFill>
                      <a:srgbClr val="0088B8"/>
                    </a:solidFill>
                  </a:tcPr>
                </a:tc>
                <a:tc>
                  <a:txBody>
                    <a:bodyPr/>
                    <a:lstStyle/>
                    <a:p>
                      <a:pPr algn="ctr"/>
                      <a:r>
                        <a:rPr lang="en-US" sz="2400">
                          <a:solidFill>
                            <a:schemeClr val="bg1">
                              <a:lumMod val="95000"/>
                            </a:schemeClr>
                          </a:solidFill>
                        </a:rPr>
                        <a:t>2.29</a:t>
                      </a:r>
                    </a:p>
                  </a:txBody>
                  <a:tcPr>
                    <a:solidFill>
                      <a:srgbClr val="0088B8"/>
                    </a:solidFill>
                  </a:tcPr>
                </a:tc>
                <a:tc>
                  <a:txBody>
                    <a:bodyPr/>
                    <a:lstStyle/>
                    <a:p>
                      <a:pPr algn="ctr"/>
                      <a:r>
                        <a:rPr lang="en-US" sz="2400">
                          <a:solidFill>
                            <a:schemeClr val="bg1">
                              <a:lumMod val="95000"/>
                            </a:schemeClr>
                          </a:solidFill>
                        </a:rPr>
                        <a:t>135</a:t>
                      </a:r>
                    </a:p>
                  </a:txBody>
                  <a:tcPr>
                    <a:solidFill>
                      <a:srgbClr val="00B0F0"/>
                    </a:solidFill>
                  </a:tcPr>
                </a:tc>
                <a:extLst>
                  <a:ext uri="{0D108BD9-81ED-4DB2-BD59-A6C34878D82A}">
                    <a16:rowId xmlns:a16="http://schemas.microsoft.com/office/drawing/2014/main" val="349692061"/>
                  </a:ext>
                </a:extLst>
              </a:tr>
              <a:tr h="637850">
                <a:tc>
                  <a:txBody>
                    <a:bodyPr/>
                    <a:lstStyle/>
                    <a:p>
                      <a:pPr algn="ctr"/>
                      <a:r>
                        <a:rPr lang="en-US" sz="2400" b="1">
                          <a:solidFill>
                            <a:schemeClr val="bg1">
                              <a:lumMod val="95000"/>
                            </a:schemeClr>
                          </a:solidFill>
                        </a:rPr>
                        <a:t>R2</a:t>
                      </a:r>
                    </a:p>
                  </a:txBody>
                  <a:tcPr>
                    <a:solidFill>
                      <a:srgbClr val="00B0F0"/>
                    </a:solidFill>
                  </a:tcPr>
                </a:tc>
                <a:tc>
                  <a:txBody>
                    <a:bodyPr/>
                    <a:lstStyle/>
                    <a:p>
                      <a:pPr algn="ctr"/>
                      <a:r>
                        <a:rPr lang="en-US" sz="2400">
                          <a:solidFill>
                            <a:schemeClr val="bg1">
                              <a:lumMod val="95000"/>
                            </a:schemeClr>
                          </a:solidFill>
                        </a:rPr>
                        <a:t>0.2</a:t>
                      </a:r>
                    </a:p>
                  </a:txBody>
                  <a:tcPr>
                    <a:solidFill>
                      <a:srgbClr val="0088B8"/>
                    </a:solidFill>
                  </a:tcPr>
                </a:tc>
                <a:tc>
                  <a:txBody>
                    <a:bodyPr/>
                    <a:lstStyle/>
                    <a:p>
                      <a:pPr algn="ctr"/>
                      <a:r>
                        <a:rPr lang="en-US" sz="2400">
                          <a:solidFill>
                            <a:schemeClr val="bg1">
                              <a:lumMod val="95000"/>
                            </a:schemeClr>
                          </a:solidFill>
                        </a:rPr>
                        <a:t>2.25</a:t>
                      </a:r>
                    </a:p>
                  </a:txBody>
                  <a:tcPr>
                    <a:solidFill>
                      <a:srgbClr val="0088B8"/>
                    </a:solidFill>
                  </a:tcPr>
                </a:tc>
                <a:tc>
                  <a:txBody>
                    <a:bodyPr/>
                    <a:lstStyle/>
                    <a:p>
                      <a:pPr algn="ctr"/>
                      <a:r>
                        <a:rPr lang="en-US" sz="2400">
                          <a:solidFill>
                            <a:schemeClr val="bg1">
                              <a:lumMod val="95000"/>
                            </a:schemeClr>
                          </a:solidFill>
                        </a:rPr>
                        <a:t>32</a:t>
                      </a:r>
                    </a:p>
                  </a:txBody>
                  <a:tcPr>
                    <a:solidFill>
                      <a:srgbClr val="00B0F0"/>
                    </a:solidFill>
                  </a:tcPr>
                </a:tc>
                <a:extLst>
                  <a:ext uri="{0D108BD9-81ED-4DB2-BD59-A6C34878D82A}">
                    <a16:rowId xmlns:a16="http://schemas.microsoft.com/office/drawing/2014/main" val="3973787757"/>
                  </a:ext>
                </a:extLst>
              </a:tr>
              <a:tr h="637850">
                <a:tc>
                  <a:txBody>
                    <a:bodyPr/>
                    <a:lstStyle/>
                    <a:p>
                      <a:pPr algn="ctr"/>
                      <a:r>
                        <a:rPr lang="en-US" sz="2400" b="1">
                          <a:solidFill>
                            <a:schemeClr val="bg1">
                              <a:lumMod val="95000"/>
                            </a:schemeClr>
                          </a:solidFill>
                        </a:rPr>
                        <a:t>R3</a:t>
                      </a:r>
                    </a:p>
                  </a:txBody>
                  <a:tcPr>
                    <a:solidFill>
                      <a:srgbClr val="00B0F0"/>
                    </a:solidFill>
                  </a:tcPr>
                </a:tc>
                <a:tc>
                  <a:txBody>
                    <a:bodyPr/>
                    <a:lstStyle/>
                    <a:p>
                      <a:pPr algn="ctr"/>
                      <a:r>
                        <a:rPr lang="en-US" sz="2400">
                          <a:solidFill>
                            <a:schemeClr val="bg1">
                              <a:lumMod val="95000"/>
                            </a:schemeClr>
                          </a:solidFill>
                        </a:rPr>
                        <a:t>0.15</a:t>
                      </a:r>
                    </a:p>
                  </a:txBody>
                  <a:tcPr>
                    <a:solidFill>
                      <a:srgbClr val="0088B8"/>
                    </a:solidFill>
                  </a:tcPr>
                </a:tc>
                <a:tc>
                  <a:txBody>
                    <a:bodyPr/>
                    <a:lstStyle/>
                    <a:p>
                      <a:pPr algn="ctr"/>
                      <a:r>
                        <a:rPr lang="en-US" sz="2400">
                          <a:solidFill>
                            <a:schemeClr val="bg1">
                              <a:lumMod val="95000"/>
                            </a:schemeClr>
                          </a:solidFill>
                        </a:rPr>
                        <a:t>2.26</a:t>
                      </a:r>
                    </a:p>
                  </a:txBody>
                  <a:tcPr>
                    <a:solidFill>
                      <a:srgbClr val="0088B8"/>
                    </a:solidFill>
                  </a:tcPr>
                </a:tc>
                <a:tc>
                  <a:txBody>
                    <a:bodyPr/>
                    <a:lstStyle/>
                    <a:p>
                      <a:pPr algn="ctr"/>
                      <a:r>
                        <a:rPr lang="en-US" sz="2400">
                          <a:solidFill>
                            <a:schemeClr val="bg1">
                              <a:lumMod val="95000"/>
                            </a:schemeClr>
                          </a:solidFill>
                        </a:rPr>
                        <a:t>7</a:t>
                      </a:r>
                    </a:p>
                  </a:txBody>
                  <a:tcPr>
                    <a:solidFill>
                      <a:srgbClr val="00B0F0"/>
                    </a:solidFill>
                  </a:tcPr>
                </a:tc>
                <a:extLst>
                  <a:ext uri="{0D108BD9-81ED-4DB2-BD59-A6C34878D82A}">
                    <a16:rowId xmlns:a16="http://schemas.microsoft.com/office/drawing/2014/main" val="2495310523"/>
                  </a:ext>
                </a:extLst>
              </a:tr>
              <a:tr h="637850">
                <a:tc>
                  <a:txBody>
                    <a:bodyPr/>
                    <a:lstStyle/>
                    <a:p>
                      <a:pPr algn="ctr"/>
                      <a:r>
                        <a:rPr lang="en-US" sz="2400" b="1">
                          <a:solidFill>
                            <a:schemeClr val="bg1">
                              <a:lumMod val="95000"/>
                            </a:schemeClr>
                          </a:solidFill>
                        </a:rPr>
                        <a:t>R4</a:t>
                      </a:r>
                    </a:p>
                  </a:txBody>
                  <a:tcPr>
                    <a:solidFill>
                      <a:srgbClr val="00B0F0"/>
                    </a:solidFill>
                  </a:tcPr>
                </a:tc>
                <a:tc>
                  <a:txBody>
                    <a:bodyPr/>
                    <a:lstStyle/>
                    <a:p>
                      <a:pPr algn="ctr"/>
                      <a:r>
                        <a:rPr lang="en-US" sz="2400">
                          <a:solidFill>
                            <a:schemeClr val="bg1">
                              <a:lumMod val="95000"/>
                            </a:schemeClr>
                          </a:solidFill>
                        </a:rPr>
                        <a:t>0.33</a:t>
                      </a:r>
                    </a:p>
                  </a:txBody>
                  <a:tcPr>
                    <a:solidFill>
                      <a:srgbClr val="0088B8"/>
                    </a:solidFill>
                  </a:tcPr>
                </a:tc>
                <a:tc>
                  <a:txBody>
                    <a:bodyPr/>
                    <a:lstStyle/>
                    <a:p>
                      <a:pPr algn="ctr"/>
                      <a:r>
                        <a:rPr lang="en-US" sz="2400">
                          <a:solidFill>
                            <a:schemeClr val="bg1">
                              <a:lumMod val="95000"/>
                            </a:schemeClr>
                          </a:solidFill>
                        </a:rPr>
                        <a:t>2.25</a:t>
                      </a:r>
                    </a:p>
                  </a:txBody>
                  <a:tcPr>
                    <a:solidFill>
                      <a:srgbClr val="0088B8"/>
                    </a:solidFill>
                  </a:tcPr>
                </a:tc>
                <a:tc>
                  <a:txBody>
                    <a:bodyPr/>
                    <a:lstStyle/>
                    <a:p>
                      <a:pPr algn="ctr"/>
                      <a:r>
                        <a:rPr lang="en-US" sz="2400">
                          <a:solidFill>
                            <a:schemeClr val="bg1">
                              <a:lumMod val="95000"/>
                            </a:schemeClr>
                          </a:solidFill>
                        </a:rPr>
                        <a:t>10</a:t>
                      </a:r>
                    </a:p>
                  </a:txBody>
                  <a:tcPr>
                    <a:solidFill>
                      <a:srgbClr val="00B0F0"/>
                    </a:solidFill>
                  </a:tcPr>
                </a:tc>
                <a:extLst>
                  <a:ext uri="{0D108BD9-81ED-4DB2-BD59-A6C34878D82A}">
                    <a16:rowId xmlns:a16="http://schemas.microsoft.com/office/drawing/2014/main" val="1912201675"/>
                  </a:ext>
                </a:extLst>
              </a:tr>
              <a:tr h="637850">
                <a:tc>
                  <a:txBody>
                    <a:bodyPr/>
                    <a:lstStyle/>
                    <a:p>
                      <a:pPr algn="ctr"/>
                      <a:r>
                        <a:rPr lang="en-US" sz="2400" b="1">
                          <a:solidFill>
                            <a:schemeClr val="bg1">
                              <a:lumMod val="95000"/>
                            </a:schemeClr>
                          </a:solidFill>
                        </a:rPr>
                        <a:t>R5</a:t>
                      </a:r>
                    </a:p>
                  </a:txBody>
                  <a:tcPr>
                    <a:solidFill>
                      <a:srgbClr val="00B0F0"/>
                    </a:solidFill>
                  </a:tcPr>
                </a:tc>
                <a:tc>
                  <a:txBody>
                    <a:bodyPr/>
                    <a:lstStyle/>
                    <a:p>
                      <a:pPr algn="ctr"/>
                      <a:r>
                        <a:rPr lang="en-US" sz="2400">
                          <a:solidFill>
                            <a:schemeClr val="bg1">
                              <a:lumMod val="95000"/>
                            </a:schemeClr>
                          </a:solidFill>
                        </a:rPr>
                        <a:t>0.04</a:t>
                      </a:r>
                    </a:p>
                  </a:txBody>
                  <a:tcPr>
                    <a:solidFill>
                      <a:srgbClr val="0088B8"/>
                    </a:solidFill>
                  </a:tcPr>
                </a:tc>
                <a:tc>
                  <a:txBody>
                    <a:bodyPr/>
                    <a:lstStyle/>
                    <a:p>
                      <a:pPr algn="ctr"/>
                      <a:r>
                        <a:rPr lang="en-US" sz="2400">
                          <a:solidFill>
                            <a:schemeClr val="bg1">
                              <a:lumMod val="95000"/>
                            </a:schemeClr>
                          </a:solidFill>
                        </a:rPr>
                        <a:t>-</a:t>
                      </a:r>
                    </a:p>
                  </a:txBody>
                  <a:tcPr>
                    <a:solidFill>
                      <a:srgbClr val="0088B8"/>
                    </a:solidFill>
                  </a:tcPr>
                </a:tc>
                <a:tc>
                  <a:txBody>
                    <a:bodyPr/>
                    <a:lstStyle/>
                    <a:p>
                      <a:pPr algn="ctr"/>
                      <a:r>
                        <a:rPr lang="en-US" sz="2400" i="0">
                          <a:solidFill>
                            <a:schemeClr val="bg1">
                              <a:lumMod val="95000"/>
                            </a:schemeClr>
                          </a:solidFill>
                        </a:rPr>
                        <a:t>0*</a:t>
                      </a:r>
                    </a:p>
                  </a:txBody>
                  <a:tcPr>
                    <a:solidFill>
                      <a:srgbClr val="00B0F0"/>
                    </a:solidFill>
                  </a:tcPr>
                </a:tc>
                <a:extLst>
                  <a:ext uri="{0D108BD9-81ED-4DB2-BD59-A6C34878D82A}">
                    <a16:rowId xmlns:a16="http://schemas.microsoft.com/office/drawing/2014/main" val="598715153"/>
                  </a:ext>
                </a:extLst>
              </a:tr>
              <a:tr h="798513">
                <a:tc>
                  <a:txBody>
                    <a:bodyPr/>
                    <a:lstStyle/>
                    <a:p>
                      <a:pPr algn="ctr"/>
                      <a:r>
                        <a:rPr lang="en-US" sz="2400" b="1">
                          <a:solidFill>
                            <a:schemeClr val="bg1">
                              <a:lumMod val="95000"/>
                            </a:schemeClr>
                          </a:solidFill>
                        </a:rPr>
                        <a:t>R5b</a:t>
                      </a:r>
                    </a:p>
                  </a:txBody>
                  <a:tcPr>
                    <a:solidFill>
                      <a:srgbClr val="00B0F0"/>
                    </a:solidFill>
                  </a:tcPr>
                </a:tc>
                <a:tc>
                  <a:txBody>
                    <a:bodyPr/>
                    <a:lstStyle/>
                    <a:p>
                      <a:pPr algn="ctr"/>
                      <a:r>
                        <a:rPr lang="en-US" sz="2400">
                          <a:solidFill>
                            <a:schemeClr val="bg1">
                              <a:lumMod val="95000"/>
                            </a:schemeClr>
                          </a:solidFill>
                        </a:rPr>
                        <a:t>0.02</a:t>
                      </a:r>
                    </a:p>
                  </a:txBody>
                  <a:tcPr>
                    <a:solidFill>
                      <a:srgbClr val="0088B8"/>
                    </a:solidFill>
                  </a:tcPr>
                </a:tc>
                <a:tc>
                  <a:txBody>
                    <a:bodyPr/>
                    <a:lstStyle/>
                    <a:p>
                      <a:pPr algn="ctr"/>
                      <a:r>
                        <a:rPr lang="en-US" sz="2400">
                          <a:solidFill>
                            <a:schemeClr val="bg1">
                              <a:lumMod val="95000"/>
                            </a:schemeClr>
                          </a:solidFill>
                        </a:rPr>
                        <a:t>-</a:t>
                      </a:r>
                    </a:p>
                  </a:txBody>
                  <a:tcPr>
                    <a:solidFill>
                      <a:srgbClr val="0088B8"/>
                    </a:solidFill>
                  </a:tcPr>
                </a:tc>
                <a:tc>
                  <a:txBody>
                    <a:bodyPr/>
                    <a:lstStyle/>
                    <a:p>
                      <a:pPr algn="ctr"/>
                      <a:r>
                        <a:rPr lang="en-US" sz="2400" i="0">
                          <a:solidFill>
                            <a:schemeClr val="bg1">
                              <a:lumMod val="95000"/>
                            </a:schemeClr>
                          </a:solidFill>
                        </a:rPr>
                        <a:t>0*</a:t>
                      </a:r>
                    </a:p>
                  </a:txBody>
                  <a:tcPr>
                    <a:solidFill>
                      <a:srgbClr val="00B0F0"/>
                    </a:solidFill>
                  </a:tcPr>
                </a:tc>
                <a:extLst>
                  <a:ext uri="{0D108BD9-81ED-4DB2-BD59-A6C34878D82A}">
                    <a16:rowId xmlns:a16="http://schemas.microsoft.com/office/drawing/2014/main" val="6688076"/>
                  </a:ext>
                </a:extLst>
              </a:tr>
              <a:tr h="637850">
                <a:tc>
                  <a:txBody>
                    <a:bodyPr/>
                    <a:lstStyle/>
                    <a:p>
                      <a:pPr algn="ctr"/>
                      <a:r>
                        <a:rPr lang="en-US" sz="2400" b="1">
                          <a:solidFill>
                            <a:schemeClr val="bg1">
                              <a:lumMod val="95000"/>
                            </a:schemeClr>
                          </a:solidFill>
                        </a:rPr>
                        <a:t>R6</a:t>
                      </a:r>
                    </a:p>
                  </a:txBody>
                  <a:tcPr>
                    <a:solidFill>
                      <a:srgbClr val="00B0F0"/>
                    </a:solidFill>
                  </a:tcPr>
                </a:tc>
                <a:tc>
                  <a:txBody>
                    <a:bodyPr/>
                    <a:lstStyle/>
                    <a:p>
                      <a:pPr algn="ctr"/>
                      <a:r>
                        <a:rPr lang="en-US" sz="2400">
                          <a:solidFill>
                            <a:schemeClr val="bg1">
                              <a:lumMod val="95000"/>
                            </a:schemeClr>
                          </a:solidFill>
                        </a:rPr>
                        <a:t>0.96</a:t>
                      </a:r>
                    </a:p>
                  </a:txBody>
                  <a:tcPr>
                    <a:solidFill>
                      <a:srgbClr val="0088B8"/>
                    </a:solidFill>
                  </a:tcPr>
                </a:tc>
                <a:tc>
                  <a:txBody>
                    <a:bodyPr/>
                    <a:lstStyle/>
                    <a:p>
                      <a:pPr algn="ctr"/>
                      <a:r>
                        <a:rPr lang="en-US" sz="2400">
                          <a:solidFill>
                            <a:schemeClr val="bg1">
                              <a:lumMod val="95000"/>
                            </a:schemeClr>
                          </a:solidFill>
                        </a:rPr>
                        <a:t>-</a:t>
                      </a:r>
                    </a:p>
                  </a:txBody>
                  <a:tcPr>
                    <a:solidFill>
                      <a:srgbClr val="0088B8"/>
                    </a:solidFill>
                  </a:tcPr>
                </a:tc>
                <a:tc>
                  <a:txBody>
                    <a:bodyPr/>
                    <a:lstStyle/>
                    <a:p>
                      <a:pPr algn="ctr"/>
                      <a:r>
                        <a:rPr lang="en-US" sz="2400" i="0">
                          <a:solidFill>
                            <a:schemeClr val="bg1">
                              <a:lumMod val="95000"/>
                            </a:schemeClr>
                          </a:solidFill>
                        </a:rPr>
                        <a:t>9*</a:t>
                      </a:r>
                    </a:p>
                  </a:txBody>
                  <a:tcPr>
                    <a:solidFill>
                      <a:srgbClr val="00B0F0"/>
                    </a:solidFill>
                  </a:tcPr>
                </a:tc>
                <a:extLst>
                  <a:ext uri="{0D108BD9-81ED-4DB2-BD59-A6C34878D82A}">
                    <a16:rowId xmlns:a16="http://schemas.microsoft.com/office/drawing/2014/main" val="3071172175"/>
                  </a:ext>
                </a:extLst>
              </a:tr>
            </a:tbl>
          </a:graphicData>
        </a:graphic>
      </p:graphicFrame>
    </p:spTree>
    <p:extLst>
      <p:ext uri="{BB962C8B-B14F-4D97-AF65-F5344CB8AC3E}">
        <p14:creationId xmlns:p14="http://schemas.microsoft.com/office/powerpoint/2010/main" val="3047869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2FD5C-0BE1-2498-EE50-8B95CB364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BB8C0-0002-F47F-96BA-0FE078943958}"/>
              </a:ext>
            </a:extLst>
          </p:cNvPr>
          <p:cNvSpPr>
            <a:spLocks noGrp="1"/>
          </p:cNvSpPr>
          <p:nvPr>
            <p:ph type="title"/>
          </p:nvPr>
        </p:nvSpPr>
        <p:spPr/>
        <p:txBody>
          <a:bodyPr/>
          <a:lstStyle/>
          <a:p>
            <a:r>
              <a:rPr lang="en-US"/>
              <a:t>Results – Combined setting (stress-test)</a:t>
            </a:r>
            <a:endParaRPr lang="en-US" dirty="0"/>
          </a:p>
        </p:txBody>
      </p:sp>
      <p:sp>
        <p:nvSpPr>
          <p:cNvPr id="4" name="Θέση αριθμού διαφάνειας 3">
            <a:extLst>
              <a:ext uri="{FF2B5EF4-FFF2-40B4-BE49-F238E27FC236}">
                <a16:creationId xmlns:a16="http://schemas.microsoft.com/office/drawing/2014/main" id="{7C8509AA-9DE4-9EF2-92AD-BEFC37342C97}"/>
              </a:ext>
            </a:extLst>
          </p:cNvPr>
          <p:cNvSpPr>
            <a:spLocks noGrp="1"/>
          </p:cNvSpPr>
          <p:nvPr>
            <p:ph type="sldNum" sz="quarter" idx="12"/>
          </p:nvPr>
        </p:nvSpPr>
        <p:spPr/>
        <p:txBody>
          <a:bodyPr/>
          <a:lstStyle/>
          <a:p>
            <a:fld id="{10545CFA-47CE-427D-A7F0-020FE1304B29}" type="slidenum">
              <a:rPr lang="en-US" smtClean="0"/>
              <a:t>13</a:t>
            </a:fld>
            <a:endParaRPr lang="en-US"/>
          </a:p>
        </p:txBody>
      </p:sp>
      <p:sp>
        <p:nvSpPr>
          <p:cNvPr id="7" name="Content Placeholder 2">
            <a:extLst>
              <a:ext uri="{FF2B5EF4-FFF2-40B4-BE49-F238E27FC236}">
                <a16:creationId xmlns:a16="http://schemas.microsoft.com/office/drawing/2014/main" id="{7DA7ABC7-CB4C-AB06-BF45-96E489D442D8}"/>
              </a:ext>
            </a:extLst>
          </p:cNvPr>
          <p:cNvSpPr>
            <a:spLocks noGrp="1"/>
          </p:cNvSpPr>
          <p:nvPr>
            <p:ph idx="1"/>
          </p:nvPr>
        </p:nvSpPr>
        <p:spPr>
          <a:xfrm>
            <a:off x="7416800" y="986219"/>
            <a:ext cx="4603750" cy="5667393"/>
          </a:xfrm>
        </p:spPr>
        <p:txBody>
          <a:bodyPr>
            <a:noAutofit/>
          </a:bodyPr>
          <a:lstStyle/>
          <a:p>
            <a:pPr fontAlgn="base"/>
            <a:r>
              <a:rPr lang="en-US"/>
              <a:t>10,500 cases evaluated</a:t>
            </a:r>
          </a:p>
          <a:p>
            <a:pPr fontAlgn="base"/>
            <a:r>
              <a:rPr lang="en-US"/>
              <a:t>700 faults injected in total</a:t>
            </a:r>
          </a:p>
          <a:p>
            <a:pPr lvl="1" fontAlgn="base"/>
            <a:r>
              <a:rPr lang="en-US" sz="2000"/>
              <a:t>1829 violation rows</a:t>
            </a:r>
          </a:p>
          <a:p>
            <a:pPr fontAlgn="base"/>
            <a:r>
              <a:rPr lang="en-US"/>
              <a:t>KG 845594 triples</a:t>
            </a:r>
          </a:p>
          <a:p>
            <a:pPr lvl="1" fontAlgn="base"/>
            <a:r>
              <a:rPr lang="en-US" sz="2000"/>
              <a:t>Conversion 68.73s</a:t>
            </a:r>
          </a:p>
          <a:p>
            <a:pPr lvl="1" fontAlgn="base"/>
            <a:r>
              <a:rPr lang="en-US" sz="2000"/>
              <a:t>Loading 9.32s</a:t>
            </a:r>
          </a:p>
          <a:p>
            <a:pPr fontAlgn="base"/>
            <a:r>
              <a:rPr lang="en-US" b="1"/>
              <a:t>KG validation: 1.8 s </a:t>
            </a:r>
            <a:r>
              <a:rPr lang="en-US"/>
              <a:t>average</a:t>
            </a:r>
          </a:p>
          <a:p>
            <a:pPr fontAlgn="base"/>
            <a:r>
              <a:rPr lang="en-US" b="1"/>
              <a:t>Recall: 1.00 </a:t>
            </a:r>
            <a:r>
              <a:rPr lang="en-US"/>
              <a:t>for every rule</a:t>
            </a:r>
          </a:p>
          <a:p>
            <a:pPr fontAlgn="base"/>
            <a:r>
              <a:rPr lang="en-US" b="1"/>
              <a:t>Additional KG findings due to cross-rule interference</a:t>
            </a:r>
          </a:p>
          <a:p>
            <a:pPr lvl="1" fontAlgn="base"/>
            <a:r>
              <a:rPr lang="en-US"/>
              <a:t>Additional findings are not necessarily false positives as they may be pre-existing violations.</a:t>
            </a:r>
          </a:p>
        </p:txBody>
      </p:sp>
      <p:graphicFrame>
        <p:nvGraphicFramePr>
          <p:cNvPr id="3" name="Θέση περιεχομένου 5">
            <a:extLst>
              <a:ext uri="{FF2B5EF4-FFF2-40B4-BE49-F238E27FC236}">
                <a16:creationId xmlns:a16="http://schemas.microsoft.com/office/drawing/2014/main" id="{5F53261D-A971-2A58-B087-A8618C0D0F1D}"/>
              </a:ext>
            </a:extLst>
          </p:cNvPr>
          <p:cNvGraphicFramePr>
            <a:graphicFrameLocks/>
          </p:cNvGraphicFramePr>
          <p:nvPr>
            <p:extLst>
              <p:ext uri="{D42A27DB-BD31-4B8C-83A1-F6EECF244321}">
                <p14:modId xmlns:p14="http://schemas.microsoft.com/office/powerpoint/2010/main" val="1465349686"/>
              </p:ext>
            </p:extLst>
          </p:nvPr>
        </p:nvGraphicFramePr>
        <p:xfrm>
          <a:off x="171450" y="897938"/>
          <a:ext cx="7245349" cy="5218622"/>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07458">
                  <a:extLst>
                    <a:ext uri="{9D8B030D-6E8A-4147-A177-3AD203B41FA5}">
                      <a16:colId xmlns:a16="http://schemas.microsoft.com/office/drawing/2014/main" val="4212719066"/>
                    </a:ext>
                  </a:extLst>
                </a:gridCol>
                <a:gridCol w="1415671">
                  <a:extLst>
                    <a:ext uri="{9D8B030D-6E8A-4147-A177-3AD203B41FA5}">
                      <a16:colId xmlns:a16="http://schemas.microsoft.com/office/drawing/2014/main" val="3670016665"/>
                    </a:ext>
                  </a:extLst>
                </a:gridCol>
                <a:gridCol w="1640740">
                  <a:extLst>
                    <a:ext uri="{9D8B030D-6E8A-4147-A177-3AD203B41FA5}">
                      <a16:colId xmlns:a16="http://schemas.microsoft.com/office/drawing/2014/main" val="2810748407"/>
                    </a:ext>
                  </a:extLst>
                </a:gridCol>
                <a:gridCol w="1640740">
                  <a:extLst>
                    <a:ext uri="{9D8B030D-6E8A-4147-A177-3AD203B41FA5}">
                      <a16:colId xmlns:a16="http://schemas.microsoft.com/office/drawing/2014/main" val="3852723873"/>
                    </a:ext>
                  </a:extLst>
                </a:gridCol>
                <a:gridCol w="1640740">
                  <a:extLst>
                    <a:ext uri="{9D8B030D-6E8A-4147-A177-3AD203B41FA5}">
                      <a16:colId xmlns:a16="http://schemas.microsoft.com/office/drawing/2014/main" val="2619146972"/>
                    </a:ext>
                  </a:extLst>
                </a:gridCol>
              </a:tblGrid>
              <a:tr h="722391">
                <a:tc>
                  <a:txBody>
                    <a:bodyPr/>
                    <a:lstStyle/>
                    <a:p>
                      <a:pPr algn="ctr"/>
                      <a:r>
                        <a:rPr lang="en-US" sz="2200"/>
                        <a:t>Rule</a:t>
                      </a:r>
                    </a:p>
                  </a:txBody>
                  <a:tcPr>
                    <a:solidFill>
                      <a:srgbClr val="00B0F0"/>
                    </a:solidFill>
                  </a:tcPr>
                </a:tc>
                <a:tc>
                  <a:txBody>
                    <a:bodyPr/>
                    <a:lstStyle/>
                    <a:p>
                      <a:pPr algn="ctr"/>
                      <a:r>
                        <a:rPr lang="en-US" sz="2200"/>
                        <a:t>KG (s)</a:t>
                      </a:r>
                    </a:p>
                  </a:txBody>
                  <a:tcPr>
                    <a:solidFill>
                      <a:srgbClr val="008BBC"/>
                    </a:solidFill>
                  </a:tcPr>
                </a:tc>
                <a:tc>
                  <a:txBody>
                    <a:bodyPr/>
                    <a:lstStyle/>
                    <a:p>
                      <a:pPr algn="ctr"/>
                      <a:r>
                        <a:rPr lang="en-US" sz="2200"/>
                        <a:t>DECLARE (s)</a:t>
                      </a:r>
                    </a:p>
                  </a:txBody>
                  <a:tcPr>
                    <a:solidFill>
                      <a:srgbClr val="008BBC"/>
                    </a:solidFill>
                  </a:tcPr>
                </a:tc>
                <a:tc>
                  <a:txBody>
                    <a:bodyPr/>
                    <a:lstStyle/>
                    <a:p>
                      <a:pPr algn="ctr"/>
                      <a:r>
                        <a:rPr lang="en-US" sz="2200"/>
                        <a:t>KG additional</a:t>
                      </a:r>
                    </a:p>
                  </a:txBody>
                  <a:tcPr>
                    <a:solidFill>
                      <a:srgbClr val="21C5FF"/>
                    </a:solidFill>
                  </a:tcPr>
                </a:tc>
                <a:tc>
                  <a:txBody>
                    <a:bodyPr/>
                    <a:lstStyle/>
                    <a:p>
                      <a:pPr algn="ctr"/>
                      <a:r>
                        <a:rPr lang="en-US" sz="2200"/>
                        <a:t>DECLARE additional</a:t>
                      </a:r>
                    </a:p>
                  </a:txBody>
                  <a:tcPr>
                    <a:solidFill>
                      <a:srgbClr val="21C5FF"/>
                    </a:solidFill>
                  </a:tcPr>
                </a:tc>
                <a:extLst>
                  <a:ext uri="{0D108BD9-81ED-4DB2-BD59-A6C34878D82A}">
                    <a16:rowId xmlns:a16="http://schemas.microsoft.com/office/drawing/2014/main" val="3402297928"/>
                  </a:ext>
                </a:extLst>
              </a:tr>
              <a:tr h="612740">
                <a:tc>
                  <a:txBody>
                    <a:bodyPr/>
                    <a:lstStyle/>
                    <a:p>
                      <a:pPr algn="ctr"/>
                      <a:r>
                        <a:rPr lang="en-US" sz="2400" b="1">
                          <a:solidFill>
                            <a:schemeClr val="bg1">
                              <a:lumMod val="95000"/>
                            </a:schemeClr>
                          </a:solidFill>
                        </a:rPr>
                        <a:t>R1</a:t>
                      </a:r>
                    </a:p>
                  </a:txBody>
                  <a:tcPr>
                    <a:solidFill>
                      <a:srgbClr val="00B0F0"/>
                    </a:solidFill>
                  </a:tcPr>
                </a:tc>
                <a:tc>
                  <a:txBody>
                    <a:bodyPr/>
                    <a:lstStyle/>
                    <a:p>
                      <a:pPr algn="ctr"/>
                      <a:r>
                        <a:rPr lang="en-US" sz="2400">
                          <a:solidFill>
                            <a:schemeClr val="bg1">
                              <a:lumMod val="95000"/>
                            </a:schemeClr>
                          </a:solidFill>
                        </a:rPr>
                        <a:t>0.07</a:t>
                      </a:r>
                    </a:p>
                  </a:txBody>
                  <a:tcPr>
                    <a:solidFill>
                      <a:srgbClr val="008BBC"/>
                    </a:solidFill>
                  </a:tcPr>
                </a:tc>
                <a:tc>
                  <a:txBody>
                    <a:bodyPr/>
                    <a:lstStyle/>
                    <a:p>
                      <a:pPr algn="ctr"/>
                      <a:r>
                        <a:rPr lang="en-US" sz="2400">
                          <a:solidFill>
                            <a:schemeClr val="bg1">
                              <a:lumMod val="95000"/>
                            </a:schemeClr>
                          </a:solidFill>
                        </a:rPr>
                        <a:t>2.29</a:t>
                      </a:r>
                    </a:p>
                  </a:txBody>
                  <a:tcPr>
                    <a:solidFill>
                      <a:srgbClr val="008BBC"/>
                    </a:solidFill>
                  </a:tcPr>
                </a:tc>
                <a:tc>
                  <a:txBody>
                    <a:bodyPr/>
                    <a:lstStyle/>
                    <a:p>
                      <a:pPr algn="ctr"/>
                      <a:r>
                        <a:rPr lang="en-US" sz="2400">
                          <a:solidFill>
                            <a:schemeClr val="bg1">
                              <a:lumMod val="95000"/>
                            </a:schemeClr>
                          </a:solidFill>
                        </a:rPr>
                        <a:t>135</a:t>
                      </a:r>
                    </a:p>
                  </a:txBody>
                  <a:tcPr>
                    <a:solidFill>
                      <a:srgbClr val="21C5FF"/>
                    </a:solidFill>
                  </a:tcPr>
                </a:tc>
                <a:tc>
                  <a:txBody>
                    <a:bodyPr/>
                    <a:lstStyle/>
                    <a:p>
                      <a:pPr algn="ctr"/>
                      <a:r>
                        <a:rPr lang="en-US" sz="2400">
                          <a:solidFill>
                            <a:schemeClr val="bg1">
                              <a:lumMod val="95000"/>
                            </a:schemeClr>
                          </a:solidFill>
                        </a:rPr>
                        <a:t>135</a:t>
                      </a:r>
                    </a:p>
                  </a:txBody>
                  <a:tcPr>
                    <a:solidFill>
                      <a:srgbClr val="21C5FF"/>
                    </a:solidFill>
                  </a:tcPr>
                </a:tc>
                <a:extLst>
                  <a:ext uri="{0D108BD9-81ED-4DB2-BD59-A6C34878D82A}">
                    <a16:rowId xmlns:a16="http://schemas.microsoft.com/office/drawing/2014/main" val="349692061"/>
                  </a:ext>
                </a:extLst>
              </a:tr>
              <a:tr h="612740">
                <a:tc>
                  <a:txBody>
                    <a:bodyPr/>
                    <a:lstStyle/>
                    <a:p>
                      <a:pPr algn="ctr"/>
                      <a:r>
                        <a:rPr lang="en-US" sz="2400" b="1">
                          <a:solidFill>
                            <a:schemeClr val="bg1">
                              <a:lumMod val="95000"/>
                            </a:schemeClr>
                          </a:solidFill>
                        </a:rPr>
                        <a:t>R2</a:t>
                      </a:r>
                    </a:p>
                  </a:txBody>
                  <a:tcPr>
                    <a:solidFill>
                      <a:srgbClr val="00B0F0"/>
                    </a:solidFill>
                  </a:tcPr>
                </a:tc>
                <a:tc>
                  <a:txBody>
                    <a:bodyPr/>
                    <a:lstStyle/>
                    <a:p>
                      <a:pPr algn="ctr"/>
                      <a:r>
                        <a:rPr lang="en-US" sz="2400">
                          <a:solidFill>
                            <a:schemeClr val="bg1">
                              <a:lumMod val="95000"/>
                            </a:schemeClr>
                          </a:solidFill>
                        </a:rPr>
                        <a:t>0.2</a:t>
                      </a:r>
                    </a:p>
                  </a:txBody>
                  <a:tcPr>
                    <a:solidFill>
                      <a:srgbClr val="008BBC"/>
                    </a:solidFill>
                  </a:tcPr>
                </a:tc>
                <a:tc>
                  <a:txBody>
                    <a:bodyPr/>
                    <a:lstStyle/>
                    <a:p>
                      <a:pPr algn="ctr"/>
                      <a:r>
                        <a:rPr lang="en-US" sz="2400">
                          <a:solidFill>
                            <a:schemeClr val="bg1">
                              <a:lumMod val="95000"/>
                            </a:schemeClr>
                          </a:solidFill>
                        </a:rPr>
                        <a:t>2.25</a:t>
                      </a:r>
                    </a:p>
                  </a:txBody>
                  <a:tcPr>
                    <a:solidFill>
                      <a:srgbClr val="008BBC"/>
                    </a:solidFill>
                  </a:tcPr>
                </a:tc>
                <a:tc>
                  <a:txBody>
                    <a:bodyPr/>
                    <a:lstStyle/>
                    <a:p>
                      <a:pPr algn="ctr"/>
                      <a:r>
                        <a:rPr lang="en-US" sz="2400">
                          <a:solidFill>
                            <a:schemeClr val="bg1">
                              <a:lumMod val="95000"/>
                            </a:schemeClr>
                          </a:solidFill>
                        </a:rPr>
                        <a:t>54</a:t>
                      </a:r>
                    </a:p>
                  </a:txBody>
                  <a:tcPr>
                    <a:solidFill>
                      <a:srgbClr val="21C5FF"/>
                    </a:solidFill>
                  </a:tcPr>
                </a:tc>
                <a:tc>
                  <a:txBody>
                    <a:bodyPr/>
                    <a:lstStyle/>
                    <a:p>
                      <a:pPr algn="ctr"/>
                      <a:r>
                        <a:rPr lang="en-US" sz="2400">
                          <a:solidFill>
                            <a:schemeClr val="bg1">
                              <a:lumMod val="95000"/>
                            </a:schemeClr>
                          </a:solidFill>
                        </a:rPr>
                        <a:t>32</a:t>
                      </a:r>
                    </a:p>
                  </a:txBody>
                  <a:tcPr>
                    <a:solidFill>
                      <a:srgbClr val="21C5FF"/>
                    </a:solidFill>
                  </a:tcPr>
                </a:tc>
                <a:extLst>
                  <a:ext uri="{0D108BD9-81ED-4DB2-BD59-A6C34878D82A}">
                    <a16:rowId xmlns:a16="http://schemas.microsoft.com/office/drawing/2014/main" val="3973787757"/>
                  </a:ext>
                </a:extLst>
              </a:tr>
              <a:tr h="612740">
                <a:tc>
                  <a:txBody>
                    <a:bodyPr/>
                    <a:lstStyle/>
                    <a:p>
                      <a:pPr algn="ctr"/>
                      <a:r>
                        <a:rPr lang="en-US" sz="2400" b="1">
                          <a:solidFill>
                            <a:schemeClr val="bg1">
                              <a:lumMod val="95000"/>
                            </a:schemeClr>
                          </a:solidFill>
                        </a:rPr>
                        <a:t>R3</a:t>
                      </a:r>
                    </a:p>
                  </a:txBody>
                  <a:tcPr>
                    <a:solidFill>
                      <a:srgbClr val="00B0F0"/>
                    </a:solidFill>
                  </a:tcPr>
                </a:tc>
                <a:tc>
                  <a:txBody>
                    <a:bodyPr/>
                    <a:lstStyle/>
                    <a:p>
                      <a:pPr algn="ctr"/>
                      <a:r>
                        <a:rPr lang="en-US" sz="2400">
                          <a:solidFill>
                            <a:schemeClr val="bg1">
                              <a:lumMod val="95000"/>
                            </a:schemeClr>
                          </a:solidFill>
                        </a:rPr>
                        <a:t>0.15</a:t>
                      </a:r>
                    </a:p>
                  </a:txBody>
                  <a:tcPr>
                    <a:solidFill>
                      <a:srgbClr val="008BBC"/>
                    </a:solidFill>
                  </a:tcPr>
                </a:tc>
                <a:tc>
                  <a:txBody>
                    <a:bodyPr/>
                    <a:lstStyle/>
                    <a:p>
                      <a:pPr algn="ctr"/>
                      <a:r>
                        <a:rPr lang="en-US" sz="2400">
                          <a:solidFill>
                            <a:schemeClr val="bg1">
                              <a:lumMod val="95000"/>
                            </a:schemeClr>
                          </a:solidFill>
                        </a:rPr>
                        <a:t>2.26</a:t>
                      </a:r>
                    </a:p>
                  </a:txBody>
                  <a:tcPr>
                    <a:solidFill>
                      <a:srgbClr val="008BBC"/>
                    </a:solidFill>
                  </a:tcPr>
                </a:tc>
                <a:tc>
                  <a:txBody>
                    <a:bodyPr/>
                    <a:lstStyle/>
                    <a:p>
                      <a:pPr algn="ctr"/>
                      <a:r>
                        <a:rPr lang="en-US" sz="2400">
                          <a:solidFill>
                            <a:schemeClr val="bg1">
                              <a:lumMod val="95000"/>
                            </a:schemeClr>
                          </a:solidFill>
                        </a:rPr>
                        <a:t>179</a:t>
                      </a:r>
                    </a:p>
                  </a:txBody>
                  <a:tcPr>
                    <a:solidFill>
                      <a:srgbClr val="21C5FF"/>
                    </a:solidFill>
                  </a:tcPr>
                </a:tc>
                <a:tc>
                  <a:txBody>
                    <a:bodyPr/>
                    <a:lstStyle/>
                    <a:p>
                      <a:pPr algn="ctr"/>
                      <a:r>
                        <a:rPr lang="en-US" sz="2400">
                          <a:solidFill>
                            <a:schemeClr val="bg1">
                              <a:lumMod val="95000"/>
                            </a:schemeClr>
                          </a:solidFill>
                        </a:rPr>
                        <a:t>107</a:t>
                      </a:r>
                    </a:p>
                  </a:txBody>
                  <a:tcPr>
                    <a:solidFill>
                      <a:srgbClr val="21C5FF"/>
                    </a:solidFill>
                  </a:tcPr>
                </a:tc>
                <a:extLst>
                  <a:ext uri="{0D108BD9-81ED-4DB2-BD59-A6C34878D82A}">
                    <a16:rowId xmlns:a16="http://schemas.microsoft.com/office/drawing/2014/main" val="2495310523"/>
                  </a:ext>
                </a:extLst>
              </a:tr>
              <a:tr h="612740">
                <a:tc>
                  <a:txBody>
                    <a:bodyPr/>
                    <a:lstStyle/>
                    <a:p>
                      <a:pPr algn="ctr"/>
                      <a:r>
                        <a:rPr lang="en-US" sz="2400" b="1">
                          <a:solidFill>
                            <a:schemeClr val="bg1">
                              <a:lumMod val="95000"/>
                            </a:schemeClr>
                          </a:solidFill>
                        </a:rPr>
                        <a:t>R4</a:t>
                      </a:r>
                    </a:p>
                  </a:txBody>
                  <a:tcPr>
                    <a:solidFill>
                      <a:srgbClr val="00B0F0"/>
                    </a:solidFill>
                  </a:tcPr>
                </a:tc>
                <a:tc>
                  <a:txBody>
                    <a:bodyPr/>
                    <a:lstStyle/>
                    <a:p>
                      <a:pPr algn="ctr"/>
                      <a:r>
                        <a:rPr lang="en-US" sz="2400">
                          <a:solidFill>
                            <a:schemeClr val="bg1">
                              <a:lumMod val="95000"/>
                            </a:schemeClr>
                          </a:solidFill>
                        </a:rPr>
                        <a:t>0.33</a:t>
                      </a:r>
                    </a:p>
                  </a:txBody>
                  <a:tcPr>
                    <a:solidFill>
                      <a:srgbClr val="008BBC"/>
                    </a:solidFill>
                  </a:tcPr>
                </a:tc>
                <a:tc>
                  <a:txBody>
                    <a:bodyPr/>
                    <a:lstStyle/>
                    <a:p>
                      <a:pPr algn="ctr"/>
                      <a:r>
                        <a:rPr lang="en-US" sz="2400">
                          <a:solidFill>
                            <a:schemeClr val="bg1">
                              <a:lumMod val="95000"/>
                            </a:schemeClr>
                          </a:solidFill>
                        </a:rPr>
                        <a:t>2.25</a:t>
                      </a:r>
                    </a:p>
                  </a:txBody>
                  <a:tcPr>
                    <a:solidFill>
                      <a:srgbClr val="008BBC"/>
                    </a:solidFill>
                  </a:tcPr>
                </a:tc>
                <a:tc>
                  <a:txBody>
                    <a:bodyPr/>
                    <a:lstStyle/>
                    <a:p>
                      <a:pPr algn="ctr"/>
                      <a:r>
                        <a:rPr lang="en-US" sz="2400">
                          <a:solidFill>
                            <a:schemeClr val="bg1">
                              <a:lumMod val="95000"/>
                            </a:schemeClr>
                          </a:solidFill>
                        </a:rPr>
                        <a:t>282</a:t>
                      </a:r>
                    </a:p>
                  </a:txBody>
                  <a:tcPr>
                    <a:solidFill>
                      <a:srgbClr val="21C5FF"/>
                    </a:solidFill>
                  </a:tcPr>
                </a:tc>
                <a:tc>
                  <a:txBody>
                    <a:bodyPr/>
                    <a:lstStyle/>
                    <a:p>
                      <a:pPr algn="ctr"/>
                      <a:r>
                        <a:rPr lang="en-US" sz="2400">
                          <a:solidFill>
                            <a:schemeClr val="bg1">
                              <a:lumMod val="95000"/>
                            </a:schemeClr>
                          </a:solidFill>
                        </a:rPr>
                        <a:t>210</a:t>
                      </a:r>
                    </a:p>
                  </a:txBody>
                  <a:tcPr>
                    <a:solidFill>
                      <a:srgbClr val="21C5FF"/>
                    </a:solidFill>
                  </a:tcPr>
                </a:tc>
                <a:extLst>
                  <a:ext uri="{0D108BD9-81ED-4DB2-BD59-A6C34878D82A}">
                    <a16:rowId xmlns:a16="http://schemas.microsoft.com/office/drawing/2014/main" val="1912201675"/>
                  </a:ext>
                </a:extLst>
              </a:tr>
              <a:tr h="612740">
                <a:tc>
                  <a:txBody>
                    <a:bodyPr/>
                    <a:lstStyle/>
                    <a:p>
                      <a:pPr algn="ctr"/>
                      <a:r>
                        <a:rPr lang="en-US" sz="2400" b="1">
                          <a:solidFill>
                            <a:schemeClr val="bg1">
                              <a:lumMod val="95000"/>
                            </a:schemeClr>
                          </a:solidFill>
                        </a:rPr>
                        <a:t>R5</a:t>
                      </a:r>
                    </a:p>
                  </a:txBody>
                  <a:tcPr>
                    <a:solidFill>
                      <a:srgbClr val="00B0F0"/>
                    </a:solidFill>
                  </a:tcPr>
                </a:tc>
                <a:tc>
                  <a:txBody>
                    <a:bodyPr/>
                    <a:lstStyle/>
                    <a:p>
                      <a:pPr algn="ctr"/>
                      <a:r>
                        <a:rPr lang="en-US" sz="2400">
                          <a:solidFill>
                            <a:schemeClr val="bg1">
                              <a:lumMod val="95000"/>
                            </a:schemeClr>
                          </a:solidFill>
                        </a:rPr>
                        <a:t>0.05</a:t>
                      </a:r>
                    </a:p>
                  </a:txBody>
                  <a:tcPr>
                    <a:solidFill>
                      <a:srgbClr val="008BBC"/>
                    </a:solidFill>
                  </a:tcPr>
                </a:tc>
                <a:tc>
                  <a:txBody>
                    <a:bodyPr/>
                    <a:lstStyle/>
                    <a:p>
                      <a:pPr algn="ctr"/>
                      <a:r>
                        <a:rPr lang="en-US" sz="2400">
                          <a:solidFill>
                            <a:schemeClr val="bg1">
                              <a:lumMod val="95000"/>
                            </a:schemeClr>
                          </a:solidFill>
                        </a:rPr>
                        <a:t>-</a:t>
                      </a:r>
                    </a:p>
                  </a:txBody>
                  <a:tcPr>
                    <a:solidFill>
                      <a:srgbClr val="008BBC"/>
                    </a:solidFill>
                  </a:tcPr>
                </a:tc>
                <a:tc>
                  <a:txBody>
                    <a:bodyPr/>
                    <a:lstStyle/>
                    <a:p>
                      <a:pPr algn="ctr"/>
                      <a:r>
                        <a:rPr lang="en-US" sz="2400">
                          <a:solidFill>
                            <a:schemeClr val="bg1">
                              <a:lumMod val="95000"/>
                            </a:schemeClr>
                          </a:solidFill>
                        </a:rPr>
                        <a:t>0</a:t>
                      </a:r>
                    </a:p>
                  </a:txBody>
                  <a:tcPr>
                    <a:solidFill>
                      <a:srgbClr val="21C5FF"/>
                    </a:solidFill>
                  </a:tcPr>
                </a:tc>
                <a:tc>
                  <a:txBody>
                    <a:bodyPr/>
                    <a:lstStyle/>
                    <a:p>
                      <a:pPr algn="ctr"/>
                      <a:r>
                        <a:rPr lang="en-US" sz="2400">
                          <a:solidFill>
                            <a:schemeClr val="bg1">
                              <a:lumMod val="95000"/>
                            </a:schemeClr>
                          </a:solidFill>
                        </a:rPr>
                        <a:t>-</a:t>
                      </a:r>
                    </a:p>
                  </a:txBody>
                  <a:tcPr>
                    <a:solidFill>
                      <a:srgbClr val="21C5FF"/>
                    </a:solidFill>
                  </a:tcPr>
                </a:tc>
                <a:extLst>
                  <a:ext uri="{0D108BD9-81ED-4DB2-BD59-A6C34878D82A}">
                    <a16:rowId xmlns:a16="http://schemas.microsoft.com/office/drawing/2014/main" val="598715153"/>
                  </a:ext>
                </a:extLst>
              </a:tr>
              <a:tr h="780182">
                <a:tc>
                  <a:txBody>
                    <a:bodyPr/>
                    <a:lstStyle/>
                    <a:p>
                      <a:pPr algn="ctr"/>
                      <a:r>
                        <a:rPr lang="en-US" sz="2400" b="1">
                          <a:solidFill>
                            <a:schemeClr val="bg1">
                              <a:lumMod val="95000"/>
                            </a:schemeClr>
                          </a:solidFill>
                        </a:rPr>
                        <a:t>R5b</a:t>
                      </a:r>
                    </a:p>
                  </a:txBody>
                  <a:tcPr>
                    <a:solidFill>
                      <a:srgbClr val="00B0F0"/>
                    </a:solidFill>
                  </a:tcPr>
                </a:tc>
                <a:tc>
                  <a:txBody>
                    <a:bodyPr/>
                    <a:lstStyle/>
                    <a:p>
                      <a:pPr algn="ctr"/>
                      <a:r>
                        <a:rPr lang="en-US" sz="2400">
                          <a:solidFill>
                            <a:schemeClr val="bg1">
                              <a:lumMod val="95000"/>
                            </a:schemeClr>
                          </a:solidFill>
                        </a:rPr>
                        <a:t>0.06</a:t>
                      </a:r>
                    </a:p>
                  </a:txBody>
                  <a:tcPr>
                    <a:solidFill>
                      <a:srgbClr val="008BBC"/>
                    </a:solidFill>
                  </a:tcPr>
                </a:tc>
                <a:tc>
                  <a:txBody>
                    <a:bodyPr/>
                    <a:lstStyle/>
                    <a:p>
                      <a:pPr algn="ctr"/>
                      <a:r>
                        <a:rPr lang="en-US" sz="2400">
                          <a:solidFill>
                            <a:schemeClr val="bg1">
                              <a:lumMod val="95000"/>
                            </a:schemeClr>
                          </a:solidFill>
                        </a:rPr>
                        <a:t>-</a:t>
                      </a:r>
                    </a:p>
                  </a:txBody>
                  <a:tcPr>
                    <a:solidFill>
                      <a:srgbClr val="008BBC"/>
                    </a:solidFill>
                  </a:tcPr>
                </a:tc>
                <a:tc>
                  <a:txBody>
                    <a:bodyPr/>
                    <a:lstStyle/>
                    <a:p>
                      <a:pPr algn="ctr"/>
                      <a:r>
                        <a:rPr lang="en-US" sz="2400">
                          <a:solidFill>
                            <a:schemeClr val="bg1">
                              <a:lumMod val="95000"/>
                            </a:schemeClr>
                          </a:solidFill>
                        </a:rPr>
                        <a:t>0</a:t>
                      </a:r>
                    </a:p>
                  </a:txBody>
                  <a:tcPr>
                    <a:solidFill>
                      <a:srgbClr val="21C5FF"/>
                    </a:solidFill>
                  </a:tcPr>
                </a:tc>
                <a:tc>
                  <a:txBody>
                    <a:bodyPr/>
                    <a:lstStyle/>
                    <a:p>
                      <a:pPr algn="ctr"/>
                      <a:r>
                        <a:rPr lang="en-US" sz="2400">
                          <a:solidFill>
                            <a:schemeClr val="bg1">
                              <a:lumMod val="95000"/>
                            </a:schemeClr>
                          </a:solidFill>
                        </a:rPr>
                        <a:t>-</a:t>
                      </a:r>
                    </a:p>
                  </a:txBody>
                  <a:tcPr>
                    <a:solidFill>
                      <a:srgbClr val="21C5FF"/>
                    </a:solidFill>
                  </a:tcPr>
                </a:tc>
                <a:extLst>
                  <a:ext uri="{0D108BD9-81ED-4DB2-BD59-A6C34878D82A}">
                    <a16:rowId xmlns:a16="http://schemas.microsoft.com/office/drawing/2014/main" val="6688076"/>
                  </a:ext>
                </a:extLst>
              </a:tr>
              <a:tr h="612740">
                <a:tc>
                  <a:txBody>
                    <a:bodyPr/>
                    <a:lstStyle/>
                    <a:p>
                      <a:pPr algn="ctr"/>
                      <a:r>
                        <a:rPr lang="en-US" sz="2400" b="1">
                          <a:solidFill>
                            <a:schemeClr val="bg1">
                              <a:lumMod val="95000"/>
                            </a:schemeClr>
                          </a:solidFill>
                        </a:rPr>
                        <a:t>R6</a:t>
                      </a:r>
                    </a:p>
                  </a:txBody>
                  <a:tcPr>
                    <a:solidFill>
                      <a:srgbClr val="00B0F0"/>
                    </a:solidFill>
                  </a:tcPr>
                </a:tc>
                <a:tc>
                  <a:txBody>
                    <a:bodyPr/>
                    <a:lstStyle/>
                    <a:p>
                      <a:pPr algn="ctr"/>
                      <a:r>
                        <a:rPr lang="en-US" sz="2400">
                          <a:solidFill>
                            <a:schemeClr val="bg1">
                              <a:lumMod val="95000"/>
                            </a:schemeClr>
                          </a:solidFill>
                        </a:rPr>
                        <a:t>0.95</a:t>
                      </a:r>
                    </a:p>
                  </a:txBody>
                  <a:tcPr>
                    <a:solidFill>
                      <a:srgbClr val="008BBC"/>
                    </a:solidFill>
                  </a:tcPr>
                </a:tc>
                <a:tc>
                  <a:txBody>
                    <a:bodyPr/>
                    <a:lstStyle/>
                    <a:p>
                      <a:pPr algn="ctr"/>
                      <a:r>
                        <a:rPr lang="en-US" sz="2400">
                          <a:solidFill>
                            <a:schemeClr val="bg1">
                              <a:lumMod val="95000"/>
                            </a:schemeClr>
                          </a:solidFill>
                        </a:rPr>
                        <a:t>-</a:t>
                      </a:r>
                    </a:p>
                  </a:txBody>
                  <a:tcPr>
                    <a:solidFill>
                      <a:srgbClr val="008BBC"/>
                    </a:solidFill>
                  </a:tcPr>
                </a:tc>
                <a:tc>
                  <a:txBody>
                    <a:bodyPr/>
                    <a:lstStyle/>
                    <a:p>
                      <a:pPr algn="ctr"/>
                      <a:r>
                        <a:rPr lang="en-US" sz="2400">
                          <a:solidFill>
                            <a:schemeClr val="bg1">
                              <a:lumMod val="95000"/>
                            </a:schemeClr>
                          </a:solidFill>
                        </a:rPr>
                        <a:t>305</a:t>
                      </a:r>
                    </a:p>
                  </a:txBody>
                  <a:tcPr>
                    <a:solidFill>
                      <a:srgbClr val="21C5FF"/>
                    </a:solidFill>
                  </a:tcPr>
                </a:tc>
                <a:tc>
                  <a:txBody>
                    <a:bodyPr/>
                    <a:lstStyle/>
                    <a:p>
                      <a:pPr algn="ctr"/>
                      <a:r>
                        <a:rPr lang="en-US" sz="2400">
                          <a:solidFill>
                            <a:schemeClr val="bg1">
                              <a:lumMod val="95000"/>
                            </a:schemeClr>
                          </a:solidFill>
                        </a:rPr>
                        <a:t>-</a:t>
                      </a:r>
                    </a:p>
                  </a:txBody>
                  <a:tcPr>
                    <a:solidFill>
                      <a:srgbClr val="21C5FF"/>
                    </a:solidFill>
                  </a:tcPr>
                </a:tc>
                <a:extLst>
                  <a:ext uri="{0D108BD9-81ED-4DB2-BD59-A6C34878D82A}">
                    <a16:rowId xmlns:a16="http://schemas.microsoft.com/office/drawing/2014/main" val="3071172175"/>
                  </a:ext>
                </a:extLst>
              </a:tr>
            </a:tbl>
          </a:graphicData>
        </a:graphic>
      </p:graphicFrame>
    </p:spTree>
    <p:extLst>
      <p:ext uri="{BB962C8B-B14F-4D97-AF65-F5344CB8AC3E}">
        <p14:creationId xmlns:p14="http://schemas.microsoft.com/office/powerpoint/2010/main" val="2742504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C122-FE6A-E1BC-4471-CC058CD12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88734-C385-58FC-B2C9-0D7A9B625BE5}"/>
              </a:ext>
            </a:extLst>
          </p:cNvPr>
          <p:cNvSpPr>
            <a:spLocks noGrp="1"/>
          </p:cNvSpPr>
          <p:nvPr>
            <p:ph type="title"/>
          </p:nvPr>
        </p:nvSpPr>
        <p:spPr/>
        <p:txBody>
          <a:bodyPr/>
          <a:lstStyle/>
          <a:p>
            <a:r>
              <a:rPr lang="en-US"/>
              <a:t>Discussion</a:t>
            </a:r>
            <a:endParaRPr lang="en-US" dirty="0"/>
          </a:p>
        </p:txBody>
      </p:sp>
      <p:sp>
        <p:nvSpPr>
          <p:cNvPr id="4" name="Θέση αριθμού διαφάνειας 3">
            <a:extLst>
              <a:ext uri="{FF2B5EF4-FFF2-40B4-BE49-F238E27FC236}">
                <a16:creationId xmlns:a16="http://schemas.microsoft.com/office/drawing/2014/main" id="{421DF2EB-05D7-E48E-D873-22A63B7A8F3C}"/>
              </a:ext>
            </a:extLst>
          </p:cNvPr>
          <p:cNvSpPr>
            <a:spLocks noGrp="1"/>
          </p:cNvSpPr>
          <p:nvPr>
            <p:ph type="sldNum" sz="quarter" idx="12"/>
          </p:nvPr>
        </p:nvSpPr>
        <p:spPr/>
        <p:txBody>
          <a:bodyPr/>
          <a:lstStyle/>
          <a:p>
            <a:fld id="{10545CFA-47CE-427D-A7F0-020FE1304B29}" type="slidenum">
              <a:rPr lang="en-US" smtClean="0"/>
              <a:t>14</a:t>
            </a:fld>
            <a:endParaRPr lang="en-US"/>
          </a:p>
        </p:txBody>
      </p:sp>
      <p:grpSp>
        <p:nvGrpSpPr>
          <p:cNvPr id="7" name="Ομάδα 6">
            <a:extLst>
              <a:ext uri="{FF2B5EF4-FFF2-40B4-BE49-F238E27FC236}">
                <a16:creationId xmlns:a16="http://schemas.microsoft.com/office/drawing/2014/main" id="{190F1CC8-F589-A5CA-9DC7-4E472B099BE5}"/>
              </a:ext>
            </a:extLst>
          </p:cNvPr>
          <p:cNvGrpSpPr/>
          <p:nvPr/>
        </p:nvGrpSpPr>
        <p:grpSpPr>
          <a:xfrm>
            <a:off x="6181075" y="3761652"/>
            <a:ext cx="5763444" cy="2451824"/>
            <a:chOff x="6181075" y="3761652"/>
            <a:chExt cx="5763444" cy="2451824"/>
          </a:xfrm>
        </p:grpSpPr>
        <p:sp>
          <p:nvSpPr>
            <p:cNvPr id="59" name="Shape 15">
              <a:extLst>
                <a:ext uri="{FF2B5EF4-FFF2-40B4-BE49-F238E27FC236}">
                  <a16:creationId xmlns:a16="http://schemas.microsoft.com/office/drawing/2014/main" id="{D2FB2248-D702-EC69-0CC9-34F4DE331396}"/>
                </a:ext>
              </a:extLst>
            </p:cNvPr>
            <p:cNvSpPr/>
            <p:nvPr/>
          </p:nvSpPr>
          <p:spPr>
            <a:xfrm>
              <a:off x="6181075" y="3761652"/>
              <a:ext cx="5763444" cy="2451824"/>
            </a:xfrm>
            <a:prstGeom prst="roundRect">
              <a:avLst>
                <a:gd name="adj" fmla="val 3792"/>
              </a:avLst>
            </a:prstGeom>
            <a:solidFill>
              <a:srgbClr val="D9EDF2"/>
            </a:solidFill>
            <a:ln w="6350">
              <a:solidFill>
                <a:srgbClr val="BFD3D8"/>
              </a:solidFill>
              <a:prstDash val="solid"/>
            </a:ln>
          </p:spPr>
          <p:txBody>
            <a:bodyPr/>
            <a:lstStyle/>
            <a:p>
              <a:endParaRPr lang="en-US">
                <a:latin typeface="+mj-lt"/>
              </a:endParaRPr>
            </a:p>
          </p:txBody>
        </p:sp>
        <p:sp>
          <p:nvSpPr>
            <p:cNvPr id="61" name="Shape 16">
              <a:extLst>
                <a:ext uri="{FF2B5EF4-FFF2-40B4-BE49-F238E27FC236}">
                  <a16:creationId xmlns:a16="http://schemas.microsoft.com/office/drawing/2014/main" id="{7A428C04-2130-9F3E-075E-9F505C5B123A}"/>
                </a:ext>
              </a:extLst>
            </p:cNvPr>
            <p:cNvSpPr/>
            <p:nvPr/>
          </p:nvSpPr>
          <p:spPr>
            <a:xfrm>
              <a:off x="6384099" y="3990739"/>
              <a:ext cx="588477" cy="664021"/>
            </a:xfrm>
            <a:prstGeom prst="ellipse">
              <a:avLst/>
            </a:prstGeom>
            <a:solidFill>
              <a:srgbClr val="C7E0E7"/>
            </a:solidFill>
            <a:ln/>
          </p:spPr>
          <p:txBody>
            <a:bodyPr/>
            <a:lstStyle/>
            <a:p>
              <a:endParaRPr lang="en-US">
                <a:latin typeface="+mj-lt"/>
              </a:endParaRPr>
            </a:p>
          </p:txBody>
        </p:sp>
        <p:pic>
          <p:nvPicPr>
            <p:cNvPr id="63" name="Image 3" descr="preencoded.png">
              <a:extLst>
                <a:ext uri="{FF2B5EF4-FFF2-40B4-BE49-F238E27FC236}">
                  <a16:creationId xmlns:a16="http://schemas.microsoft.com/office/drawing/2014/main" id="{20C43EF6-E0C9-51C1-B246-E9694336C2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45933" y="4173225"/>
              <a:ext cx="264809" cy="298803"/>
            </a:xfrm>
            <a:prstGeom prst="rect">
              <a:avLst/>
            </a:prstGeom>
          </p:spPr>
        </p:pic>
        <p:sp>
          <p:nvSpPr>
            <p:cNvPr id="65" name="Text 17">
              <a:extLst>
                <a:ext uri="{FF2B5EF4-FFF2-40B4-BE49-F238E27FC236}">
                  <a16:creationId xmlns:a16="http://schemas.microsoft.com/office/drawing/2014/main" id="{F5084AD1-4787-F0C6-590B-48ED80AC807D}"/>
                </a:ext>
              </a:extLst>
            </p:cNvPr>
            <p:cNvSpPr/>
            <p:nvPr/>
          </p:nvSpPr>
          <p:spPr>
            <a:xfrm>
              <a:off x="7269470" y="4048320"/>
              <a:ext cx="4474446" cy="364023"/>
            </a:xfrm>
            <a:prstGeom prst="rect">
              <a:avLst/>
            </a:prstGeom>
            <a:noFill/>
            <a:ln/>
          </p:spPr>
          <p:txBody>
            <a:bodyPr wrap="none" lIns="0" tIns="0" rIns="0" bIns="0" rtlCol="0" anchor="t"/>
            <a:lstStyle/>
            <a:p>
              <a:pPr marL="0" indent="0" algn="l">
                <a:lnSpc>
                  <a:spcPct val="104000"/>
                </a:lnSpc>
                <a:buNone/>
              </a:pPr>
              <a:r>
                <a:rPr lang="en-US" sz="2400" b="1" dirty="0">
                  <a:solidFill>
                    <a:srgbClr val="384653"/>
                  </a:solidFill>
                  <a:latin typeface="+mj-lt"/>
                  <a:ea typeface="Host Grotesk Medium" pitchFamily="34" charset="-122"/>
                  <a:cs typeface="Host Grotesk Medium" pitchFamily="34" charset="-120"/>
                </a:rPr>
                <a:t>Practical Implications</a:t>
              </a:r>
              <a:endParaRPr lang="en-US" sz="2400" b="1" dirty="0">
                <a:latin typeface="+mj-lt"/>
              </a:endParaRPr>
            </a:p>
          </p:txBody>
        </p:sp>
        <p:sp>
          <p:nvSpPr>
            <p:cNvPr id="67" name="Text 18">
              <a:extLst>
                <a:ext uri="{FF2B5EF4-FFF2-40B4-BE49-F238E27FC236}">
                  <a16:creationId xmlns:a16="http://schemas.microsoft.com/office/drawing/2014/main" id="{AD03BF75-7D30-08A1-2B01-B761AF867949}"/>
                </a:ext>
              </a:extLst>
            </p:cNvPr>
            <p:cNvSpPr/>
            <p:nvPr/>
          </p:nvSpPr>
          <p:spPr>
            <a:xfrm>
              <a:off x="6384099" y="4740632"/>
              <a:ext cx="5437965" cy="1375188"/>
            </a:xfrm>
            <a:prstGeom prst="rect">
              <a:avLst/>
            </a:prstGeom>
            <a:noFill/>
            <a:ln/>
          </p:spPr>
          <p:txBody>
            <a:bodyPr wrap="square" lIns="0" tIns="0" rIns="0" bIns="0" rtlCol="0" anchor="t">
              <a:normAutofit/>
            </a:bodyPr>
            <a:lstStyle/>
            <a:p>
              <a:r>
                <a:rPr lang="en-US" sz="2000" b="1">
                  <a:solidFill>
                    <a:srgbClr val="00B050"/>
                  </a:solidFill>
                </a:rPr>
                <a:t>DECLARE suits standard control-flow checks</a:t>
              </a:r>
              <a:r>
                <a:rPr lang="en-US" sz="2000"/>
                <a:t>, while </a:t>
              </a:r>
              <a:r>
                <a:rPr lang="en-US" sz="2000" b="1">
                  <a:solidFill>
                    <a:srgbClr val="00B050"/>
                  </a:solidFill>
                </a:rPr>
                <a:t>KGs enable complex queries that scale</a:t>
              </a:r>
              <a:r>
                <a:rPr lang="en-US" sz="2000" b="1"/>
                <a:t> </a:t>
              </a:r>
              <a:r>
                <a:rPr lang="en-US" sz="2000"/>
                <a:t>to large logs and support unified compliance and analytical analysis.</a:t>
              </a:r>
              <a:endParaRPr lang="en-US" sz="2000" dirty="0"/>
            </a:p>
          </p:txBody>
        </p:sp>
      </p:grpSp>
      <p:grpSp>
        <p:nvGrpSpPr>
          <p:cNvPr id="5" name="Ομάδα 4">
            <a:extLst>
              <a:ext uri="{FF2B5EF4-FFF2-40B4-BE49-F238E27FC236}">
                <a16:creationId xmlns:a16="http://schemas.microsoft.com/office/drawing/2014/main" id="{C9CAF90A-A7CF-9530-7F55-5CBE750BADD8}"/>
              </a:ext>
            </a:extLst>
          </p:cNvPr>
          <p:cNvGrpSpPr/>
          <p:nvPr/>
        </p:nvGrpSpPr>
        <p:grpSpPr>
          <a:xfrm>
            <a:off x="247079" y="3762532"/>
            <a:ext cx="5763444" cy="2450944"/>
            <a:chOff x="247079" y="3762532"/>
            <a:chExt cx="5763444" cy="2450944"/>
          </a:xfrm>
        </p:grpSpPr>
        <p:sp>
          <p:nvSpPr>
            <p:cNvPr id="49" name="Shape 11">
              <a:extLst>
                <a:ext uri="{FF2B5EF4-FFF2-40B4-BE49-F238E27FC236}">
                  <a16:creationId xmlns:a16="http://schemas.microsoft.com/office/drawing/2014/main" id="{0EBCC7FE-7FC5-568C-FB49-CE43E4C1B084}"/>
                </a:ext>
              </a:extLst>
            </p:cNvPr>
            <p:cNvSpPr/>
            <p:nvPr/>
          </p:nvSpPr>
          <p:spPr>
            <a:xfrm>
              <a:off x="247079" y="3762532"/>
              <a:ext cx="5763444" cy="2450944"/>
            </a:xfrm>
            <a:prstGeom prst="roundRect">
              <a:avLst>
                <a:gd name="adj" fmla="val 3792"/>
              </a:avLst>
            </a:prstGeom>
            <a:solidFill>
              <a:srgbClr val="D9EDF2"/>
            </a:solidFill>
            <a:ln w="6350">
              <a:solidFill>
                <a:srgbClr val="BFD3D8"/>
              </a:solidFill>
              <a:prstDash val="solid"/>
            </a:ln>
          </p:spPr>
          <p:txBody>
            <a:bodyPr/>
            <a:lstStyle/>
            <a:p>
              <a:endParaRPr lang="en-US">
                <a:latin typeface="+mj-lt"/>
              </a:endParaRPr>
            </a:p>
          </p:txBody>
        </p:sp>
        <p:sp>
          <p:nvSpPr>
            <p:cNvPr id="55" name="Text 13">
              <a:extLst>
                <a:ext uri="{FF2B5EF4-FFF2-40B4-BE49-F238E27FC236}">
                  <a16:creationId xmlns:a16="http://schemas.microsoft.com/office/drawing/2014/main" id="{E299C4F9-74CA-7E24-732B-8000E26C22B2}"/>
                </a:ext>
              </a:extLst>
            </p:cNvPr>
            <p:cNvSpPr/>
            <p:nvPr/>
          </p:nvSpPr>
          <p:spPr>
            <a:xfrm>
              <a:off x="1377545" y="4048320"/>
              <a:ext cx="4432751" cy="364023"/>
            </a:xfrm>
            <a:prstGeom prst="rect">
              <a:avLst/>
            </a:prstGeom>
            <a:noFill/>
            <a:ln/>
          </p:spPr>
          <p:txBody>
            <a:bodyPr wrap="none" lIns="0" tIns="0" rIns="0" bIns="0" rtlCol="0" anchor="t"/>
            <a:lstStyle/>
            <a:p>
              <a:pPr marL="0" indent="0" algn="l">
                <a:lnSpc>
                  <a:spcPct val="104000"/>
                </a:lnSpc>
                <a:buNone/>
              </a:pPr>
              <a:r>
                <a:rPr lang="en-US" sz="2400" b="1">
                  <a:solidFill>
                    <a:srgbClr val="384653"/>
                  </a:solidFill>
                  <a:latin typeface="+mj-lt"/>
                  <a:ea typeface="Host Grotesk Medium" pitchFamily="34" charset="-122"/>
                  <a:cs typeface="Host Grotesk Medium" pitchFamily="34" charset="-120"/>
                </a:rPr>
                <a:t>Multihop support (R5-R6)</a:t>
              </a:r>
              <a:endParaRPr lang="en-US" sz="2400" b="1" dirty="0">
                <a:latin typeface="+mj-lt"/>
              </a:endParaRPr>
            </a:p>
          </p:txBody>
        </p:sp>
        <p:sp>
          <p:nvSpPr>
            <p:cNvPr id="57" name="Text 14">
              <a:extLst>
                <a:ext uri="{FF2B5EF4-FFF2-40B4-BE49-F238E27FC236}">
                  <a16:creationId xmlns:a16="http://schemas.microsoft.com/office/drawing/2014/main" id="{5FA60C7F-BA65-64D9-DCCF-CA5D90C1BDA3}"/>
                </a:ext>
              </a:extLst>
            </p:cNvPr>
            <p:cNvSpPr/>
            <p:nvPr/>
          </p:nvSpPr>
          <p:spPr>
            <a:xfrm>
              <a:off x="447308" y="4740632"/>
              <a:ext cx="5474521" cy="1375191"/>
            </a:xfrm>
            <a:prstGeom prst="rect">
              <a:avLst/>
            </a:prstGeom>
            <a:noFill/>
            <a:ln/>
          </p:spPr>
          <p:txBody>
            <a:bodyPr wrap="square" lIns="0" tIns="0" rIns="0" bIns="0" rtlCol="0" anchor="t">
              <a:normAutofit lnSpcReduction="10000"/>
            </a:bodyPr>
            <a:lstStyle/>
            <a:p>
              <a:pPr>
                <a:lnSpc>
                  <a:spcPct val="122000"/>
                </a:lnSpc>
              </a:pPr>
              <a:r>
                <a:rPr lang="en-US" sz="2000">
                  <a:ea typeface="Roboto" pitchFamily="34" charset="-122"/>
                  <a:cs typeface="Roboto" pitchFamily="34" charset="-120"/>
                </a:rPr>
                <a:t>Rules R5, R5B, and R6 </a:t>
              </a:r>
              <a:r>
                <a:rPr lang="en-US" sz="2000" b="1">
                  <a:solidFill>
                    <a:srgbClr val="00B050"/>
                  </a:solidFill>
                  <a:ea typeface="Roboto" pitchFamily="34" charset="-122"/>
                  <a:cs typeface="Roboto" pitchFamily="34" charset="-120"/>
                </a:rPr>
                <a:t>enable attribute-aware, role-aware, and multi-hop validation </a:t>
              </a:r>
              <a:r>
                <a:rPr lang="en-US" sz="2000">
                  <a:ea typeface="Roboto" pitchFamily="34" charset="-122"/>
                  <a:cs typeface="Roboto" pitchFamily="34" charset="-120"/>
                </a:rPr>
                <a:t>that standard DECLARE templates cannot express.</a:t>
              </a:r>
              <a:endParaRPr lang="en-US" sz="2000" dirty="0">
                <a:latin typeface="+mj-lt"/>
              </a:endParaRPr>
            </a:p>
          </p:txBody>
        </p:sp>
        <p:sp>
          <p:nvSpPr>
            <p:cNvPr id="25" name="Shape 8">
              <a:extLst>
                <a:ext uri="{FF2B5EF4-FFF2-40B4-BE49-F238E27FC236}">
                  <a16:creationId xmlns:a16="http://schemas.microsoft.com/office/drawing/2014/main" id="{0CFC23C7-CF96-A391-48CE-F2CC58581BB8}"/>
                </a:ext>
              </a:extLst>
            </p:cNvPr>
            <p:cNvSpPr/>
            <p:nvPr/>
          </p:nvSpPr>
          <p:spPr>
            <a:xfrm>
              <a:off x="457561" y="3942346"/>
              <a:ext cx="580404" cy="633267"/>
            </a:xfrm>
            <a:prstGeom prst="ellipse">
              <a:avLst/>
            </a:prstGeom>
            <a:solidFill>
              <a:srgbClr val="C7E0E7"/>
            </a:solidFill>
            <a:ln/>
          </p:spPr>
          <p:txBody>
            <a:bodyPr/>
            <a:lstStyle/>
            <a:p>
              <a:endParaRPr lang="en-US">
                <a:latin typeface="+mj-lt"/>
              </a:endParaRPr>
            </a:p>
          </p:txBody>
        </p:sp>
        <p:pic>
          <p:nvPicPr>
            <p:cNvPr id="27" name="Image 1" descr="preencoded.png">
              <a:extLst>
                <a:ext uri="{FF2B5EF4-FFF2-40B4-BE49-F238E27FC236}">
                  <a16:creationId xmlns:a16="http://schemas.microsoft.com/office/drawing/2014/main" id="{C8793DA1-788D-1591-B47A-B8FAD7E2F4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175" y="4116380"/>
              <a:ext cx="261176" cy="284964"/>
            </a:xfrm>
            <a:prstGeom prst="rect">
              <a:avLst/>
            </a:prstGeom>
          </p:spPr>
        </p:pic>
      </p:grpSp>
      <p:grpSp>
        <p:nvGrpSpPr>
          <p:cNvPr id="6" name="Ομάδα 5">
            <a:extLst>
              <a:ext uri="{FF2B5EF4-FFF2-40B4-BE49-F238E27FC236}">
                <a16:creationId xmlns:a16="http://schemas.microsoft.com/office/drawing/2014/main" id="{CB22D721-B1D0-45C4-1734-239EC32CCA2F}"/>
              </a:ext>
            </a:extLst>
          </p:cNvPr>
          <p:cNvGrpSpPr/>
          <p:nvPr/>
        </p:nvGrpSpPr>
        <p:grpSpPr>
          <a:xfrm>
            <a:off x="252250" y="950484"/>
            <a:ext cx="5785866" cy="2647029"/>
            <a:chOff x="6181075" y="950478"/>
            <a:chExt cx="5785866" cy="2647029"/>
          </a:xfrm>
        </p:grpSpPr>
        <p:sp>
          <p:nvSpPr>
            <p:cNvPr id="10" name="Shape 3">
              <a:extLst>
                <a:ext uri="{FF2B5EF4-FFF2-40B4-BE49-F238E27FC236}">
                  <a16:creationId xmlns:a16="http://schemas.microsoft.com/office/drawing/2014/main" id="{0CD61925-993C-0935-8F45-A9BC4A063528}"/>
                </a:ext>
              </a:extLst>
            </p:cNvPr>
            <p:cNvSpPr/>
            <p:nvPr/>
          </p:nvSpPr>
          <p:spPr>
            <a:xfrm>
              <a:off x="6181075" y="950478"/>
              <a:ext cx="5785866" cy="2647029"/>
            </a:xfrm>
            <a:prstGeom prst="roundRect">
              <a:avLst>
                <a:gd name="adj" fmla="val 3350"/>
              </a:avLst>
            </a:prstGeom>
            <a:solidFill>
              <a:srgbClr val="D9EDF2"/>
            </a:solidFill>
            <a:ln w="6350">
              <a:solidFill>
                <a:srgbClr val="BFD3D8"/>
              </a:solidFill>
              <a:prstDash val="solid"/>
            </a:ln>
          </p:spPr>
          <p:txBody>
            <a:bodyPr/>
            <a:lstStyle/>
            <a:p>
              <a:endParaRPr lang="en-US">
                <a:latin typeface="+mj-lt"/>
              </a:endParaRPr>
            </a:p>
          </p:txBody>
        </p:sp>
        <p:sp>
          <p:nvSpPr>
            <p:cNvPr id="19" name="Text 5">
              <a:extLst>
                <a:ext uri="{FF2B5EF4-FFF2-40B4-BE49-F238E27FC236}">
                  <a16:creationId xmlns:a16="http://schemas.microsoft.com/office/drawing/2014/main" id="{ECC1DBE7-EF8D-89B8-02A9-E1F1314972F0}"/>
                </a:ext>
              </a:extLst>
            </p:cNvPr>
            <p:cNvSpPr/>
            <p:nvPr/>
          </p:nvSpPr>
          <p:spPr>
            <a:xfrm>
              <a:off x="7164954" y="1191408"/>
              <a:ext cx="4454394" cy="725245"/>
            </a:xfrm>
            <a:prstGeom prst="rect">
              <a:avLst/>
            </a:prstGeom>
            <a:noFill/>
            <a:ln/>
          </p:spPr>
          <p:txBody>
            <a:bodyPr wrap="none" lIns="0" tIns="0" rIns="0" bIns="0" rtlCol="0" anchor="t"/>
            <a:lstStyle/>
            <a:p>
              <a:pPr marL="0" indent="0" algn="l">
                <a:lnSpc>
                  <a:spcPct val="104000"/>
                </a:lnSpc>
                <a:buNone/>
              </a:pPr>
              <a:r>
                <a:rPr lang="en-US" sz="2400" b="1">
                  <a:solidFill>
                    <a:srgbClr val="384653"/>
                  </a:solidFill>
                  <a:latin typeface="+mj-lt"/>
                  <a:ea typeface="Host Grotesk Medium" pitchFamily="34" charset="-122"/>
                  <a:cs typeface="Host Grotesk Medium" pitchFamily="34" charset="-120"/>
                </a:rPr>
                <a:t>Overhead &amp; </a:t>
              </a:r>
            </a:p>
            <a:p>
              <a:pPr marL="0" indent="0" algn="l">
                <a:lnSpc>
                  <a:spcPct val="104000"/>
                </a:lnSpc>
                <a:buNone/>
              </a:pPr>
              <a:r>
                <a:rPr lang="en-US" sz="2400" b="1">
                  <a:solidFill>
                    <a:srgbClr val="384653"/>
                  </a:solidFill>
                  <a:latin typeface="+mj-lt"/>
                  <a:ea typeface="Host Grotesk Medium" pitchFamily="34" charset="-122"/>
                  <a:cs typeface="Host Grotesk Medium" pitchFamily="34" charset="-120"/>
                </a:rPr>
                <a:t>Reusability (</a:t>
              </a:r>
              <a:r>
                <a:rPr lang="en-US" sz="2400" b="1" dirty="0">
                  <a:solidFill>
                    <a:srgbClr val="384653"/>
                  </a:solidFill>
                  <a:latin typeface="+mj-lt"/>
                  <a:ea typeface="Host Grotesk Medium" pitchFamily="34" charset="-122"/>
                  <a:cs typeface="Host Grotesk Medium" pitchFamily="34" charset="-120"/>
                </a:rPr>
                <a:t>R1-R4)</a:t>
              </a:r>
              <a:endParaRPr lang="en-US" sz="2400" b="1" dirty="0">
                <a:latin typeface="+mj-lt"/>
              </a:endParaRPr>
            </a:p>
          </p:txBody>
        </p:sp>
        <p:sp>
          <p:nvSpPr>
            <p:cNvPr id="21" name="Text 6">
              <a:extLst>
                <a:ext uri="{FF2B5EF4-FFF2-40B4-BE49-F238E27FC236}">
                  <a16:creationId xmlns:a16="http://schemas.microsoft.com/office/drawing/2014/main" id="{AF3FECBE-BBEC-B37A-B03F-B6E18FBAC3A5}"/>
                </a:ext>
              </a:extLst>
            </p:cNvPr>
            <p:cNvSpPr/>
            <p:nvPr/>
          </p:nvSpPr>
          <p:spPr>
            <a:xfrm>
              <a:off x="6381305" y="2065127"/>
              <a:ext cx="5384630" cy="1451850"/>
            </a:xfrm>
            <a:prstGeom prst="rect">
              <a:avLst/>
            </a:prstGeom>
            <a:noFill/>
            <a:ln/>
          </p:spPr>
          <p:txBody>
            <a:bodyPr wrap="square" lIns="0" tIns="0" rIns="0" bIns="0" rtlCol="0" anchor="t">
              <a:normAutofit/>
            </a:bodyPr>
            <a:lstStyle/>
            <a:p>
              <a:r>
                <a:rPr lang="en-US" sz="2000" b="1">
                  <a:solidFill>
                    <a:srgbClr val="00B050"/>
                  </a:solidFill>
                  <a:latin typeface="+mj-lt"/>
                </a:rPr>
                <a:t>The high setup cost of KG make up with SPARQL queries </a:t>
              </a:r>
              <a:r>
                <a:rPr lang="en-US" sz="2000">
                  <a:latin typeface="+mj-lt"/>
                </a:rPr>
                <a:t>that run up to 57 times faster than DECLARE for control-flow rules (R1-R4).</a:t>
              </a:r>
              <a:endParaRPr lang="en-US" sz="2000" dirty="0">
                <a:latin typeface="+mj-lt"/>
              </a:endParaRPr>
            </a:p>
          </p:txBody>
        </p:sp>
        <p:sp>
          <p:nvSpPr>
            <p:cNvPr id="51" name="Shape 12">
              <a:extLst>
                <a:ext uri="{FF2B5EF4-FFF2-40B4-BE49-F238E27FC236}">
                  <a16:creationId xmlns:a16="http://schemas.microsoft.com/office/drawing/2014/main" id="{9B43DD7F-18E9-67B9-E070-C963594FA469}"/>
                </a:ext>
              </a:extLst>
            </p:cNvPr>
            <p:cNvSpPr/>
            <p:nvPr/>
          </p:nvSpPr>
          <p:spPr>
            <a:xfrm>
              <a:off x="6381305" y="1227075"/>
              <a:ext cx="580374" cy="663783"/>
            </a:xfrm>
            <a:prstGeom prst="ellipse">
              <a:avLst/>
            </a:prstGeom>
            <a:solidFill>
              <a:srgbClr val="C7E0E7"/>
            </a:solidFill>
            <a:ln/>
          </p:spPr>
          <p:txBody>
            <a:bodyPr/>
            <a:lstStyle/>
            <a:p>
              <a:endParaRPr lang="en-US">
                <a:latin typeface="+mj-lt"/>
              </a:endParaRPr>
            </a:p>
          </p:txBody>
        </p:sp>
        <p:pic>
          <p:nvPicPr>
            <p:cNvPr id="53" name="Image 2" descr="preencoded.png">
              <a:extLst>
                <a:ext uri="{FF2B5EF4-FFF2-40B4-BE49-F238E27FC236}">
                  <a16:creationId xmlns:a16="http://schemas.microsoft.com/office/drawing/2014/main" id="{42B74277-FB1D-14B9-7C5A-3907A60A9BC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40910" y="1409495"/>
              <a:ext cx="261163" cy="298695"/>
            </a:xfrm>
            <a:prstGeom prst="rect">
              <a:avLst/>
            </a:prstGeom>
          </p:spPr>
        </p:pic>
      </p:grpSp>
      <p:grpSp>
        <p:nvGrpSpPr>
          <p:cNvPr id="3" name="Ομάδα 2">
            <a:extLst>
              <a:ext uri="{FF2B5EF4-FFF2-40B4-BE49-F238E27FC236}">
                <a16:creationId xmlns:a16="http://schemas.microsoft.com/office/drawing/2014/main" id="{739AA738-5E89-E93F-FFB4-CABAA77C7B00}"/>
              </a:ext>
            </a:extLst>
          </p:cNvPr>
          <p:cNvGrpSpPr/>
          <p:nvPr/>
        </p:nvGrpSpPr>
        <p:grpSpPr>
          <a:xfrm>
            <a:off x="6197721" y="950484"/>
            <a:ext cx="5763848" cy="2647029"/>
            <a:chOff x="257621" y="950478"/>
            <a:chExt cx="5763848" cy="2647029"/>
          </a:xfrm>
        </p:grpSpPr>
        <p:sp>
          <p:nvSpPr>
            <p:cNvPr id="23" name="Shape 7">
              <a:extLst>
                <a:ext uri="{FF2B5EF4-FFF2-40B4-BE49-F238E27FC236}">
                  <a16:creationId xmlns:a16="http://schemas.microsoft.com/office/drawing/2014/main" id="{2C6269BF-F05C-0D67-1433-35EB6894E182}"/>
                </a:ext>
              </a:extLst>
            </p:cNvPr>
            <p:cNvSpPr/>
            <p:nvPr/>
          </p:nvSpPr>
          <p:spPr>
            <a:xfrm>
              <a:off x="257621" y="950478"/>
              <a:ext cx="5763848" cy="2647029"/>
            </a:xfrm>
            <a:prstGeom prst="roundRect">
              <a:avLst>
                <a:gd name="adj" fmla="val 3350"/>
              </a:avLst>
            </a:prstGeom>
            <a:solidFill>
              <a:srgbClr val="D9EDF2"/>
            </a:solidFill>
            <a:ln w="6350">
              <a:solidFill>
                <a:srgbClr val="BFD3D8"/>
              </a:solidFill>
              <a:prstDash val="solid"/>
            </a:ln>
          </p:spPr>
          <p:txBody>
            <a:bodyPr/>
            <a:lstStyle/>
            <a:p>
              <a:endParaRPr lang="en-US">
                <a:latin typeface="+mj-lt"/>
              </a:endParaRPr>
            </a:p>
          </p:txBody>
        </p:sp>
        <p:sp>
          <p:nvSpPr>
            <p:cNvPr id="29" name="Text 9">
              <a:extLst>
                <a:ext uri="{FF2B5EF4-FFF2-40B4-BE49-F238E27FC236}">
                  <a16:creationId xmlns:a16="http://schemas.microsoft.com/office/drawing/2014/main" id="{6B005A45-F7D2-CE72-0519-4741CDB3B061}"/>
                </a:ext>
              </a:extLst>
            </p:cNvPr>
            <p:cNvSpPr/>
            <p:nvPr/>
          </p:nvSpPr>
          <p:spPr>
            <a:xfrm>
              <a:off x="1238503" y="1191848"/>
              <a:ext cx="4581958" cy="610374"/>
            </a:xfrm>
            <a:prstGeom prst="rect">
              <a:avLst/>
            </a:prstGeom>
            <a:noFill/>
            <a:ln/>
          </p:spPr>
          <p:txBody>
            <a:bodyPr wrap="none" lIns="0" tIns="0" rIns="0" bIns="0" rtlCol="0" anchor="t"/>
            <a:lstStyle/>
            <a:p>
              <a:pPr marL="0" indent="0" algn="l">
                <a:lnSpc>
                  <a:spcPct val="104000"/>
                </a:lnSpc>
                <a:buNone/>
              </a:pPr>
              <a:r>
                <a:rPr lang="en-US" sz="2400" b="1">
                  <a:solidFill>
                    <a:srgbClr val="384653"/>
                  </a:solidFill>
                  <a:latin typeface="+mj-lt"/>
                  <a:ea typeface="Host Grotesk Medium" pitchFamily="34" charset="-122"/>
                  <a:cs typeface="Host Grotesk Medium" pitchFamily="34" charset="-120"/>
                </a:rPr>
                <a:t>Control-flow equivalence</a:t>
              </a:r>
            </a:p>
            <a:p>
              <a:pPr marL="0" indent="0" algn="l">
                <a:lnSpc>
                  <a:spcPct val="104000"/>
                </a:lnSpc>
                <a:buNone/>
              </a:pPr>
              <a:r>
                <a:rPr lang="en-US" sz="2400" b="1">
                  <a:solidFill>
                    <a:srgbClr val="384653"/>
                  </a:solidFill>
                  <a:latin typeface="+mj-lt"/>
                  <a:ea typeface="Host Grotesk Medium" pitchFamily="34" charset="-122"/>
                  <a:cs typeface="Host Grotesk Medium" pitchFamily="34" charset="-120"/>
                </a:rPr>
                <a:t>(R1-R4)</a:t>
              </a:r>
              <a:endParaRPr lang="en-US" sz="2400" b="1" dirty="0">
                <a:latin typeface="+mj-lt"/>
              </a:endParaRPr>
            </a:p>
          </p:txBody>
        </p:sp>
        <p:sp>
          <p:nvSpPr>
            <p:cNvPr id="31" name="Text 10">
              <a:extLst>
                <a:ext uri="{FF2B5EF4-FFF2-40B4-BE49-F238E27FC236}">
                  <a16:creationId xmlns:a16="http://schemas.microsoft.com/office/drawing/2014/main" id="{77B9A46A-1791-C475-1F6C-AD1B1CBEB346}"/>
                </a:ext>
              </a:extLst>
            </p:cNvPr>
            <p:cNvSpPr/>
            <p:nvPr/>
          </p:nvSpPr>
          <p:spPr>
            <a:xfrm>
              <a:off x="457860" y="2065567"/>
              <a:ext cx="5363370" cy="1437559"/>
            </a:xfrm>
            <a:prstGeom prst="rect">
              <a:avLst/>
            </a:prstGeom>
            <a:noFill/>
            <a:ln/>
          </p:spPr>
          <p:txBody>
            <a:bodyPr wrap="square" lIns="0" tIns="0" rIns="0" bIns="0" rtlCol="0" anchor="t">
              <a:normAutofit/>
            </a:bodyPr>
            <a:lstStyle/>
            <a:p>
              <a:r>
                <a:rPr lang="en-US" sz="2000" b="1">
                  <a:solidFill>
                    <a:srgbClr val="00B050"/>
                  </a:solidFill>
                  <a:latin typeface="+mj-lt"/>
                </a:rPr>
                <a:t>The KG approach matches standard DECLARE templates for basic constraints</a:t>
              </a:r>
              <a:r>
                <a:rPr lang="en-US" sz="2000">
                  <a:latin typeface="+mj-lt"/>
                </a:rPr>
                <a:t>, identifying identical violated cases with a 1.00 recall.</a:t>
              </a:r>
              <a:endParaRPr lang="en-US" sz="2000" dirty="0">
                <a:latin typeface="+mj-lt"/>
              </a:endParaRPr>
            </a:p>
          </p:txBody>
        </p:sp>
        <p:sp>
          <p:nvSpPr>
            <p:cNvPr id="15" name="Shape 4">
              <a:extLst>
                <a:ext uri="{FF2B5EF4-FFF2-40B4-BE49-F238E27FC236}">
                  <a16:creationId xmlns:a16="http://schemas.microsoft.com/office/drawing/2014/main" id="{4C809E9B-0202-5BD0-44C8-2DC57F9B6AF0}"/>
                </a:ext>
              </a:extLst>
            </p:cNvPr>
            <p:cNvSpPr/>
            <p:nvPr/>
          </p:nvSpPr>
          <p:spPr>
            <a:xfrm>
              <a:off x="454863" y="1212884"/>
              <a:ext cx="582632" cy="633267"/>
            </a:xfrm>
            <a:prstGeom prst="ellipse">
              <a:avLst/>
            </a:prstGeom>
            <a:solidFill>
              <a:srgbClr val="C7E0E7"/>
            </a:solidFill>
            <a:ln/>
          </p:spPr>
          <p:txBody>
            <a:bodyPr/>
            <a:lstStyle/>
            <a:p>
              <a:endParaRPr lang="en-US">
                <a:latin typeface="+mj-lt"/>
              </a:endParaRPr>
            </a:p>
          </p:txBody>
        </p:sp>
        <p:pic>
          <p:nvPicPr>
            <p:cNvPr id="17" name="Image 0" descr="preencoded.png">
              <a:extLst>
                <a:ext uri="{FF2B5EF4-FFF2-40B4-BE49-F238E27FC236}">
                  <a16:creationId xmlns:a16="http://schemas.microsoft.com/office/drawing/2014/main" id="{028C69E0-2E37-2DE8-8EAD-CFF1C5A558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5089" y="1386918"/>
              <a:ext cx="262179" cy="284964"/>
            </a:xfrm>
            <a:prstGeom prst="rect">
              <a:avLst/>
            </a:prstGeom>
          </p:spPr>
        </p:pic>
      </p:grpSp>
    </p:spTree>
    <p:extLst>
      <p:ext uri="{BB962C8B-B14F-4D97-AF65-F5344CB8AC3E}">
        <p14:creationId xmlns:p14="http://schemas.microsoft.com/office/powerpoint/2010/main" val="310135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7E265-0496-8988-7D9A-A99EB7349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72154-0BD6-812E-354D-C15BD151C14D}"/>
              </a:ext>
            </a:extLst>
          </p:cNvPr>
          <p:cNvSpPr>
            <a:spLocks noGrp="1"/>
          </p:cNvSpPr>
          <p:nvPr>
            <p:ph type="title"/>
          </p:nvPr>
        </p:nvSpPr>
        <p:spPr/>
        <p:txBody>
          <a:bodyPr/>
          <a:lstStyle/>
          <a:p>
            <a:r>
              <a:rPr lang="en-US"/>
              <a:t>Sum up &amp; Future Directions</a:t>
            </a:r>
            <a:endParaRPr lang="en-US" dirty="0"/>
          </a:p>
        </p:txBody>
      </p:sp>
      <p:sp>
        <p:nvSpPr>
          <p:cNvPr id="9" name="Content Placeholder 2">
            <a:extLst>
              <a:ext uri="{FF2B5EF4-FFF2-40B4-BE49-F238E27FC236}">
                <a16:creationId xmlns:a16="http://schemas.microsoft.com/office/drawing/2014/main" id="{50308DC4-4184-93EB-78FC-EA318E85CD87}"/>
              </a:ext>
            </a:extLst>
          </p:cNvPr>
          <p:cNvSpPr>
            <a:spLocks noGrp="1"/>
          </p:cNvSpPr>
          <p:nvPr>
            <p:ph idx="1"/>
          </p:nvPr>
        </p:nvSpPr>
        <p:spPr>
          <a:xfrm>
            <a:off x="301322" y="1088571"/>
            <a:ext cx="11547824" cy="5130800"/>
          </a:xfrm>
        </p:spPr>
        <p:txBody>
          <a:bodyPr>
            <a:noAutofit/>
          </a:bodyPr>
          <a:lstStyle/>
          <a:p>
            <a:pPr lvl="0"/>
            <a:r>
              <a:rPr lang="en-US" b="1"/>
              <a:t>Traditional log-based validation struggles</a:t>
            </a:r>
            <a:r>
              <a:rPr lang="en-US"/>
              <a:t> with relational checks, multi-step dependency paths, and constraints requiring procedural reconstruction. </a:t>
            </a:r>
          </a:p>
          <a:p>
            <a:pPr lvl="0"/>
            <a:endParaRPr lang="en-US" b="1"/>
          </a:p>
          <a:p>
            <a:pPr lvl="0"/>
            <a:r>
              <a:rPr lang="en-US" b="1"/>
              <a:t>We transformed event logs into knowledge graphs</a:t>
            </a:r>
            <a:r>
              <a:rPr lang="en-US"/>
              <a:t>, making relationships explicit and enabling </a:t>
            </a:r>
            <a:r>
              <a:rPr lang="en-US" b="1"/>
              <a:t>validation through SPARQL queries</a:t>
            </a:r>
            <a:r>
              <a:rPr lang="en-US"/>
              <a:t>. </a:t>
            </a:r>
          </a:p>
          <a:p>
            <a:pPr lvl="0"/>
            <a:endParaRPr lang="en-US"/>
          </a:p>
          <a:p>
            <a:pPr lvl="0"/>
            <a:r>
              <a:rPr lang="en-US"/>
              <a:t>On the </a:t>
            </a:r>
            <a:r>
              <a:rPr lang="en-US" b="1"/>
              <a:t>BPI Challenge 2020 dataset</a:t>
            </a:r>
            <a:r>
              <a:rPr lang="en-US"/>
              <a:t>, the KG approach achieved </a:t>
            </a:r>
            <a:r>
              <a:rPr lang="en-US" b="1"/>
              <a:t>perfect recall </a:t>
            </a:r>
            <a:r>
              <a:rPr lang="en-US"/>
              <a:t>(1.00) and </a:t>
            </a:r>
            <a:r>
              <a:rPr lang="en-US" b="1"/>
              <a:t>faster validation</a:t>
            </a:r>
            <a:r>
              <a:rPr lang="en-US"/>
              <a:t>, while </a:t>
            </a:r>
            <a:r>
              <a:rPr lang="en-US" b="1"/>
              <a:t>supporting constraints beyond standard DECLARE templates</a:t>
            </a:r>
            <a:r>
              <a:rPr lang="en-US"/>
              <a:t>. </a:t>
            </a:r>
          </a:p>
          <a:p>
            <a:pPr lvl="0"/>
            <a:endParaRPr lang="en-US"/>
          </a:p>
          <a:p>
            <a:pPr lvl="0"/>
            <a:r>
              <a:rPr lang="en-US" b="1"/>
              <a:t>Future work</a:t>
            </a:r>
            <a:r>
              <a:rPr lang="en-US"/>
              <a:t>: evaluate more datasets, automate rule derivation, and </a:t>
            </a:r>
            <a:r>
              <a:rPr lang="en-US" b="1"/>
              <a:t>explore time-bounded validation</a:t>
            </a:r>
            <a:r>
              <a:rPr lang="en-US"/>
              <a:t>.</a:t>
            </a:r>
          </a:p>
        </p:txBody>
      </p:sp>
    </p:spTree>
    <p:extLst>
      <p:ext uri="{BB962C8B-B14F-4D97-AF65-F5344CB8AC3E}">
        <p14:creationId xmlns:p14="http://schemas.microsoft.com/office/powerpoint/2010/main" val="3292498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fade">
                                      <p:cBhvr>
                                        <p:cTn id="22"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491F0-9D42-CE15-7FD8-120EA1700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8F445-141C-371B-2F64-21B8A4AE49D0}"/>
              </a:ext>
            </a:extLst>
          </p:cNvPr>
          <p:cNvSpPr>
            <a:spLocks noGrp="1"/>
          </p:cNvSpPr>
          <p:nvPr>
            <p:ph type="title"/>
          </p:nvPr>
        </p:nvSpPr>
        <p:spPr>
          <a:xfrm>
            <a:off x="551543" y="326571"/>
            <a:ext cx="7380513" cy="4985658"/>
          </a:xfrm>
          <a:effectLst>
            <a:outerShdw blurRad="50800" dist="38100" dir="2700000" algn="tl" rotWithShape="0">
              <a:prstClr val="black">
                <a:alpha val="40000"/>
              </a:prstClr>
            </a:outerShdw>
          </a:effectLst>
        </p:spPr>
        <p:txBody>
          <a:bodyPr>
            <a:normAutofit/>
          </a:bodyPr>
          <a:lstStyle/>
          <a:p>
            <a:pPr algn="ctr"/>
            <a:r>
              <a:rPr lang="en-US" sz="4400" b="1" dirty="0"/>
              <a:t>Thank you</a:t>
            </a:r>
            <a:br>
              <a:rPr lang="en-US" sz="4400" b="1" dirty="0"/>
            </a:br>
            <a:r>
              <a:rPr lang="en-US" sz="4400" b="1" dirty="0"/>
              <a:t>for your attention!</a:t>
            </a:r>
            <a:br>
              <a:rPr lang="en-US" b="1" dirty="0"/>
            </a:br>
            <a:br>
              <a:rPr lang="en-US" b="1"/>
            </a:br>
            <a:r>
              <a:rPr lang="en-US"/>
              <a:t>Let’s validate the answers</a:t>
            </a:r>
            <a:br>
              <a:rPr lang="en-US"/>
            </a:br>
            <a:r>
              <a:rPr lang="en-US"/>
              <a:t>to your questions! </a:t>
            </a:r>
            <a:r>
              <a:rPr lang="en-US">
                <a:sym typeface="Wingdings" panose="05000000000000000000" pitchFamily="2" charset="2"/>
              </a:rPr>
              <a:t></a:t>
            </a:r>
            <a:br>
              <a:rPr lang="en-US">
                <a:sym typeface="Wingdings" panose="05000000000000000000" pitchFamily="2" charset="2"/>
              </a:rPr>
            </a:br>
            <a:endParaRPr lang="en-US" sz="2800" b="1" i="1" dirty="0"/>
          </a:p>
        </p:txBody>
      </p:sp>
      <p:sp>
        <p:nvSpPr>
          <p:cNvPr id="3" name="Θέση αριθμού διαφάνειας 2">
            <a:extLst>
              <a:ext uri="{FF2B5EF4-FFF2-40B4-BE49-F238E27FC236}">
                <a16:creationId xmlns:a16="http://schemas.microsoft.com/office/drawing/2014/main" id="{87E6AB45-86A9-F632-C220-C6329807605B}"/>
              </a:ext>
            </a:extLst>
          </p:cNvPr>
          <p:cNvSpPr>
            <a:spLocks noGrp="1"/>
          </p:cNvSpPr>
          <p:nvPr>
            <p:ph type="sldNum" sz="quarter" idx="4294967295"/>
          </p:nvPr>
        </p:nvSpPr>
        <p:spPr>
          <a:xfrm>
            <a:off x="11533392" y="6487077"/>
            <a:ext cx="658608" cy="365125"/>
          </a:xfrm>
        </p:spPr>
        <p:txBody>
          <a:bodyPr/>
          <a:lstStyle/>
          <a:p>
            <a:fld id="{10545CFA-47CE-427D-A7F0-020FE1304B29}" type="slidenum">
              <a:rPr lang="en-US" smtClean="0"/>
              <a:t>16</a:t>
            </a:fld>
            <a:endParaRPr lang="en-US"/>
          </a:p>
        </p:txBody>
      </p:sp>
      <p:pic>
        <p:nvPicPr>
          <p:cNvPr id="7" name="Εικόνα 6">
            <a:extLst>
              <a:ext uri="{FF2B5EF4-FFF2-40B4-BE49-F238E27FC236}">
                <a16:creationId xmlns:a16="http://schemas.microsoft.com/office/drawing/2014/main" id="{41C30DA8-21DC-DA8B-CCDC-5F26C4B7501A}"/>
              </a:ext>
            </a:extLst>
          </p:cNvPr>
          <p:cNvPicPr>
            <a:picLocks noChangeAspect="1"/>
          </p:cNvPicPr>
          <p:nvPr/>
        </p:nvPicPr>
        <p:blipFill>
          <a:blip r:embed="rId3"/>
          <a:srcRect l="23623" t="43292" r="23874" b="12157"/>
          <a:stretch>
            <a:fillRect/>
          </a:stretch>
        </p:blipFill>
        <p:spPr>
          <a:xfrm>
            <a:off x="8499906" y="1901371"/>
            <a:ext cx="3033486" cy="3055257"/>
          </a:xfrm>
          <a:prstGeom prst="rect">
            <a:avLst/>
          </a:prstGeom>
        </p:spPr>
      </p:pic>
      <p:pic>
        <p:nvPicPr>
          <p:cNvPr id="8" name="Εικόνα 7" descr="Αρχείο:LinkedIn icon.svg - Βικιπαίδεια">
            <a:extLst>
              <a:ext uri="{FF2B5EF4-FFF2-40B4-BE49-F238E27FC236}">
                <a16:creationId xmlns:a16="http://schemas.microsoft.com/office/drawing/2014/main" id="{C85A6197-5223-1168-49EC-0B29A44DACB2}"/>
              </a:ext>
            </a:extLst>
          </p:cNvPr>
          <p:cNvPicPr>
            <a:picLocks noChangeAspect="1"/>
          </p:cNvPicPr>
          <p:nvPr/>
        </p:nvPicPr>
        <p:blipFill>
          <a:blip r:embed="rId4"/>
          <a:stretch>
            <a:fillRect/>
          </a:stretch>
        </p:blipFill>
        <p:spPr>
          <a:xfrm>
            <a:off x="8499906" y="887626"/>
            <a:ext cx="895375" cy="895375"/>
          </a:xfrm>
          <a:prstGeom prst="rect">
            <a:avLst/>
          </a:prstGeom>
        </p:spPr>
      </p:pic>
      <p:sp>
        <p:nvSpPr>
          <p:cNvPr id="9" name="Title 1">
            <a:extLst>
              <a:ext uri="{FF2B5EF4-FFF2-40B4-BE49-F238E27FC236}">
                <a16:creationId xmlns:a16="http://schemas.microsoft.com/office/drawing/2014/main" id="{51BC0032-7E66-8C86-3DBB-F95D310A6D25}"/>
              </a:ext>
            </a:extLst>
          </p:cNvPr>
          <p:cNvSpPr txBox="1">
            <a:spLocks/>
          </p:cNvSpPr>
          <p:nvPr/>
        </p:nvSpPr>
        <p:spPr>
          <a:xfrm>
            <a:off x="9015161" y="1052284"/>
            <a:ext cx="3033486" cy="566057"/>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fontScale="85000" lnSpcReduction="20000"/>
          </a:bodyPr>
          <a:lstStyle>
            <a:lvl1pPr algn="l" defTabSz="914400" rtl="0" eaLnBrk="1" latinLnBrk="0" hangingPunct="1">
              <a:spcBef>
                <a:spcPct val="0"/>
              </a:spcBef>
              <a:buNone/>
              <a:defRPr sz="4000" b="0" kern="1200" cap="none" baseline="0">
                <a:solidFill>
                  <a:srgbClr val="0070C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a:t>/vzervos</a:t>
            </a:r>
            <a:endParaRPr lang="en-US" sz="2800" b="1" i="1" dirty="0"/>
          </a:p>
        </p:txBody>
      </p:sp>
      <p:sp>
        <p:nvSpPr>
          <p:cNvPr id="11" name="Title 1">
            <a:extLst>
              <a:ext uri="{FF2B5EF4-FFF2-40B4-BE49-F238E27FC236}">
                <a16:creationId xmlns:a16="http://schemas.microsoft.com/office/drawing/2014/main" id="{92D90B4A-3452-6C58-1E7C-DD9046B13341}"/>
              </a:ext>
            </a:extLst>
          </p:cNvPr>
          <p:cNvSpPr txBox="1">
            <a:spLocks/>
          </p:cNvSpPr>
          <p:nvPr/>
        </p:nvSpPr>
        <p:spPr>
          <a:xfrm>
            <a:off x="8176066" y="4956628"/>
            <a:ext cx="3681165" cy="566057"/>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fontScale="62500" lnSpcReduction="20000"/>
          </a:bodyPr>
          <a:lstStyle>
            <a:lvl1pPr algn="l" defTabSz="914400" rtl="0" eaLnBrk="1" latinLnBrk="0" hangingPunct="1">
              <a:spcBef>
                <a:spcPct val="0"/>
              </a:spcBef>
              <a:buNone/>
              <a:defRPr sz="4000" b="0" kern="1200" cap="none" baseline="0">
                <a:solidFill>
                  <a:srgbClr val="0070C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a:t>vzervos@ics.forth.gr</a:t>
            </a:r>
            <a:endParaRPr lang="en-US" sz="2800" b="1" i="1" dirty="0"/>
          </a:p>
        </p:txBody>
      </p:sp>
    </p:spTree>
    <p:extLst>
      <p:ext uri="{BB962C8B-B14F-4D97-AF65-F5344CB8AC3E}">
        <p14:creationId xmlns:p14="http://schemas.microsoft.com/office/powerpoint/2010/main" val="26553676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E24D5-2647-0694-CE18-7A61925D3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55E54-B99D-82F9-7873-808D3EAE60FF}"/>
              </a:ext>
            </a:extLst>
          </p:cNvPr>
          <p:cNvSpPr>
            <a:spLocks noGrp="1"/>
          </p:cNvSpPr>
          <p:nvPr>
            <p:ph type="title"/>
          </p:nvPr>
        </p:nvSpPr>
        <p:spPr/>
        <p:txBody>
          <a:bodyPr/>
          <a:lstStyle/>
          <a:p>
            <a:r>
              <a:rPr lang="en-US"/>
              <a:t>A Dataset Entry</a:t>
            </a:r>
            <a:endParaRPr lang="en-US" dirty="0"/>
          </a:p>
        </p:txBody>
      </p:sp>
      <p:sp>
        <p:nvSpPr>
          <p:cNvPr id="4" name="Θέση αριθμού διαφάνειας 3">
            <a:extLst>
              <a:ext uri="{FF2B5EF4-FFF2-40B4-BE49-F238E27FC236}">
                <a16:creationId xmlns:a16="http://schemas.microsoft.com/office/drawing/2014/main" id="{2C62DA6D-F9AE-3824-9A3D-91E6967DBD57}"/>
              </a:ext>
            </a:extLst>
          </p:cNvPr>
          <p:cNvSpPr>
            <a:spLocks noGrp="1"/>
          </p:cNvSpPr>
          <p:nvPr>
            <p:ph type="sldNum" sz="quarter" idx="12"/>
          </p:nvPr>
        </p:nvSpPr>
        <p:spPr/>
        <p:txBody>
          <a:bodyPr/>
          <a:lstStyle/>
          <a:p>
            <a:fld id="{10545CFA-47CE-427D-A7F0-020FE1304B29}" type="slidenum">
              <a:rPr lang="en-US" smtClean="0"/>
              <a:t>17</a:t>
            </a:fld>
            <a:endParaRPr lang="en-US"/>
          </a:p>
        </p:txBody>
      </p:sp>
      <p:sp>
        <p:nvSpPr>
          <p:cNvPr id="9" name="Content Placeholder 2">
            <a:extLst>
              <a:ext uri="{FF2B5EF4-FFF2-40B4-BE49-F238E27FC236}">
                <a16:creationId xmlns:a16="http://schemas.microsoft.com/office/drawing/2014/main" id="{414B2D1B-638A-1FCA-F172-3EE557A6FFC6}"/>
              </a:ext>
            </a:extLst>
          </p:cNvPr>
          <p:cNvSpPr>
            <a:spLocks noGrp="1"/>
          </p:cNvSpPr>
          <p:nvPr>
            <p:ph idx="1"/>
          </p:nvPr>
        </p:nvSpPr>
        <p:spPr>
          <a:xfrm>
            <a:off x="301323" y="818554"/>
            <a:ext cx="5482620" cy="5667393"/>
          </a:xfrm>
        </p:spPr>
        <p:txBody>
          <a:bodyPr>
            <a:noAutofit/>
          </a:bodyPr>
          <a:lstStyle/>
          <a:p>
            <a:pPr marL="68580" indent="0" fontAlgn="base">
              <a:buNone/>
            </a:pPr>
            <a:r>
              <a:rPr lang="en-US" sz="1200"/>
              <a:t>&lt;?xml version="1.0" encoding="UTF-8" ?&gt;</a:t>
            </a:r>
            <a:br>
              <a:rPr lang="en-US" sz="1200"/>
            </a:br>
            <a:r>
              <a:rPr lang="en-US" sz="1200"/>
              <a:t>&lt;!-- Sample extracted from DomesticDeclarations.xes.gz for demo/testing --&gt;</a:t>
            </a:r>
            <a:br>
              <a:rPr lang="en-US" sz="1200"/>
            </a:br>
            <a:r>
              <a:rPr lang="en-US" sz="1200"/>
              <a:t>&lt;log xes.version="1.0" xes.features="nested-attributes" openxes.version="1.0RC7"&gt;</a:t>
            </a:r>
            <a:br>
              <a:rPr lang="en-US" sz="1200"/>
            </a:br>
            <a:r>
              <a:rPr lang="en-US" sz="1200"/>
              <a:t>    &lt;extension name="Organizational" prefix="org" uri="http://www.xes-standard.org/org.xesext"/&gt;</a:t>
            </a:r>
            <a:br>
              <a:rPr lang="en-US" sz="1200"/>
            </a:br>
            <a:r>
              <a:rPr lang="en-US" sz="1200"/>
              <a:t>    &lt;extension name="Time" prefix="time" uri="http://www.xes-standard.org/time.xesext"/&gt;</a:t>
            </a:r>
            <a:br>
              <a:rPr lang="en-US" sz="1200"/>
            </a:br>
            <a:r>
              <a:rPr lang="en-US" sz="1200"/>
              <a:t>    &lt;extension name="Concept" prefix="concept" uri="http://www.xes-standard.org/concept.xesext"/&gt;</a:t>
            </a:r>
            <a:br>
              <a:rPr lang="en-US" sz="1200"/>
            </a:br>
            <a:r>
              <a:rPr lang="en-US" sz="1200"/>
              <a:t>    &lt;string key="concept:name" value="Domestic Declarations"/&gt;</a:t>
            </a:r>
            <a:br>
              <a:rPr lang="en-US" sz="1200"/>
            </a:br>
            <a:r>
              <a:rPr lang="en-US" sz="1200"/>
              <a:t>    &lt;trace&gt;</a:t>
            </a:r>
            <a:br>
              <a:rPr lang="en-US" sz="1200"/>
            </a:br>
            <a:r>
              <a:rPr lang="en-US" sz="1200"/>
              <a:t>       &lt;string key="id" value="declaration 86791"/&gt;</a:t>
            </a:r>
            <a:br>
              <a:rPr lang="en-US" sz="1200"/>
            </a:br>
            <a:r>
              <a:rPr lang="en-US" sz="1200"/>
              <a:t>       &lt;string key="concept:name" value="declaration 86791"/&gt;</a:t>
            </a:r>
            <a:br>
              <a:rPr lang="en-US" sz="1200"/>
            </a:br>
            <a:r>
              <a:rPr lang="en-US" sz="1200"/>
              <a:t>       &lt;string key="BudgetNumber" value="budget 86566"/&gt;</a:t>
            </a:r>
            <a:br>
              <a:rPr lang="en-US" sz="1200"/>
            </a:br>
            <a:r>
              <a:rPr lang="en-US" sz="1200"/>
              <a:t>       &lt;string key="DeclarationNumber" value="declaration number 86792"/&gt;</a:t>
            </a:r>
            <a:br>
              <a:rPr lang="en-US" sz="1200"/>
            </a:br>
            <a:r>
              <a:rPr lang="en-US" sz="1200"/>
              <a:t>       &lt;float key="Amount" value="26.85120450862128"/&gt;</a:t>
            </a:r>
            <a:br>
              <a:rPr lang="en-US" sz="1200"/>
            </a:br>
            <a:r>
              <a:rPr lang="en-US" sz="1200"/>
              <a:t>       &lt;event&gt;</a:t>
            </a:r>
            <a:br>
              <a:rPr lang="en-US" sz="1200"/>
            </a:br>
            <a:r>
              <a:rPr lang="en-US" sz="1200"/>
              <a:t>          &lt;string key="id" value="st_step 86794_0"/&gt;</a:t>
            </a:r>
            <a:br>
              <a:rPr lang="en-US" sz="1200"/>
            </a:br>
            <a:r>
              <a:rPr lang="en-US" sz="1200"/>
              <a:t>          &lt;string key="org:resource" value="STAFF MEMBER"/&gt;</a:t>
            </a:r>
            <a:br>
              <a:rPr lang="en-US" sz="1200"/>
            </a:br>
            <a:r>
              <a:rPr lang="en-US" sz="1200"/>
              <a:t>          &lt;string key="concept:name" value="Declaration SUBMITTED by EMPLOYEE"/&gt;</a:t>
            </a:r>
            <a:br>
              <a:rPr lang="en-US" sz="1200"/>
            </a:br>
            <a:r>
              <a:rPr lang="en-US" sz="1200"/>
              <a:t>         </a:t>
            </a:r>
          </a:p>
        </p:txBody>
      </p:sp>
      <p:sp>
        <p:nvSpPr>
          <p:cNvPr id="3" name="Content Placeholder 2">
            <a:extLst>
              <a:ext uri="{FF2B5EF4-FFF2-40B4-BE49-F238E27FC236}">
                <a16:creationId xmlns:a16="http://schemas.microsoft.com/office/drawing/2014/main" id="{58FB976A-9448-ADF8-82C6-62985662EF3A}"/>
              </a:ext>
            </a:extLst>
          </p:cNvPr>
          <p:cNvSpPr txBox="1">
            <a:spLocks/>
          </p:cNvSpPr>
          <p:nvPr/>
        </p:nvSpPr>
        <p:spPr>
          <a:xfrm>
            <a:off x="5783943" y="689429"/>
            <a:ext cx="5587868" cy="5499675"/>
          </a:xfrm>
          <a:prstGeom prst="rect">
            <a:avLst/>
          </a:prstGeom>
        </p:spPr>
        <p:txBody>
          <a:bodyPr vert="horz" lIns="91440" tIns="45720" rIns="91440" bIns="45720" rtlCol="0">
            <a:noAutofit/>
          </a:bodyPr>
          <a:lstStyle>
            <a:lvl1pPr marL="342900" indent="-274320" algn="l" defTabSz="914400" rtl="0" eaLnBrk="1" latinLnBrk="0" hangingPunct="1">
              <a:spcBef>
                <a:spcPct val="20000"/>
              </a:spcBef>
              <a:buClr>
                <a:srgbClr val="002060"/>
              </a:buClr>
              <a:buSzPct val="76000"/>
              <a:buFont typeface="Wingdings" panose="05000000000000000000" pitchFamily="2" charset="2"/>
              <a:buChar char="q"/>
              <a:defRPr sz="2400" kern="1200">
                <a:solidFill>
                  <a:schemeClr val="tx2"/>
                </a:solidFill>
                <a:latin typeface="+mn-lt"/>
                <a:ea typeface="+mn-ea"/>
                <a:cs typeface="+mn-cs"/>
              </a:defRPr>
            </a:lvl1pPr>
            <a:lvl2pPr marL="640080" indent="-274320" algn="l" defTabSz="914400" rtl="0" eaLnBrk="1" latinLnBrk="0" hangingPunct="1">
              <a:spcBef>
                <a:spcPct val="20000"/>
              </a:spcBef>
              <a:buClr>
                <a:srgbClr val="0070C0"/>
              </a:buClr>
              <a:buSzPct val="76000"/>
              <a:buFont typeface="Wingdings" panose="05000000000000000000" pitchFamily="2" charset="2"/>
              <a:buChar char="Ø"/>
              <a:defRPr sz="1800" kern="1200">
                <a:solidFill>
                  <a:srgbClr val="000099"/>
                </a:solidFill>
                <a:latin typeface="+mn-lt"/>
                <a:ea typeface="+mn-ea"/>
                <a:cs typeface="+mn-cs"/>
              </a:defRPr>
            </a:lvl2pPr>
            <a:lvl3pPr marL="914400" indent="-228600" algn="l" defTabSz="914400" rtl="0" eaLnBrk="1" latinLnBrk="0" hangingPunct="1">
              <a:spcBef>
                <a:spcPct val="20000"/>
              </a:spcBef>
              <a:buClr>
                <a:srgbClr val="00B0F0"/>
              </a:buClr>
              <a:buSzPct val="76000"/>
              <a:buFont typeface="Wingdings" panose="05000000000000000000" pitchFamily="2" charset="2"/>
              <a:buChar char="v"/>
              <a:defRPr sz="16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2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fontAlgn="base">
              <a:buNone/>
            </a:pPr>
            <a:r>
              <a:rPr lang="en-US" sz="1200"/>
              <a:t>EMPLOYEE"/&gt;</a:t>
            </a:r>
            <a:br>
              <a:rPr lang="en-US" sz="1200"/>
            </a:br>
            <a:r>
              <a:rPr lang="en-US" sz="1200"/>
              <a:t>          &lt;date key="time:timestamp" value="2017-01-09T09:49:50.000+01:00"/&gt;</a:t>
            </a:r>
            <a:br>
              <a:rPr lang="en-US" sz="1200"/>
            </a:br>
            <a:r>
              <a:rPr lang="en-US" sz="1200"/>
              <a:t>          &lt;string key="org:role" value="EMPLOYEE"/&gt;</a:t>
            </a:r>
            <a:br>
              <a:rPr lang="en-US" sz="1200"/>
            </a:br>
            <a:r>
              <a:rPr lang="en-US" sz="1200"/>
              <a:t>       &lt;/event&gt;</a:t>
            </a:r>
            <a:br>
              <a:rPr lang="en-US" sz="1200"/>
            </a:br>
            <a:r>
              <a:rPr lang="en-US" sz="1200"/>
              <a:t>       &lt;event&gt;</a:t>
            </a:r>
            <a:br>
              <a:rPr lang="en-US" sz="1200"/>
            </a:br>
            <a:r>
              <a:rPr lang="en-US" sz="1200"/>
              <a:t>          &lt;string key="id" value="st_step 86793_0"/&gt;</a:t>
            </a:r>
            <a:br>
              <a:rPr lang="en-US" sz="1200"/>
            </a:br>
            <a:r>
              <a:rPr lang="en-US" sz="1200"/>
              <a:t>          &lt;string key="org:resource" value="STAFF MEMBER"/&gt;</a:t>
            </a:r>
            <a:br>
              <a:rPr lang="en-US" sz="1200"/>
            </a:br>
            <a:r>
              <a:rPr lang="en-US" sz="1200"/>
              <a:t>          &lt;string key="concept:name" value="Declaration FINAL_APPROVED by SUPERVISOR"/&gt;</a:t>
            </a:r>
            <a:br>
              <a:rPr lang="en-US" sz="1200"/>
            </a:br>
            <a:r>
              <a:rPr lang="en-US" sz="1200"/>
              <a:t>          &lt;date key="time:timestamp" value="2017-01-09T11:27:48.000+01:00"/&gt;</a:t>
            </a:r>
            <a:br>
              <a:rPr lang="en-US" sz="1200"/>
            </a:br>
            <a:r>
              <a:rPr lang="en-US" sz="1200"/>
              <a:t>          &lt;string key="org:role" value="SUPERVISOR"/&gt;</a:t>
            </a:r>
            <a:br>
              <a:rPr lang="en-US" sz="1200"/>
            </a:br>
            <a:r>
              <a:rPr lang="en-US" sz="1200"/>
              <a:t>       &lt;/event&gt;</a:t>
            </a:r>
            <a:br>
              <a:rPr lang="en-US" sz="1200"/>
            </a:br>
            <a:r>
              <a:rPr lang="en-US" sz="1200"/>
              <a:t>       &lt;event&gt;</a:t>
            </a:r>
            <a:br>
              <a:rPr lang="en-US" sz="1200"/>
            </a:br>
            <a:r>
              <a:rPr lang="en-US" sz="1200"/>
              <a:t>          &lt;string key="id" value="dd_declaration 86791_19"/&gt;</a:t>
            </a:r>
            <a:br>
              <a:rPr lang="en-US" sz="1200"/>
            </a:br>
            <a:r>
              <a:rPr lang="en-US" sz="1200"/>
              <a:t>          &lt;string key="org:resource" value="SYSTEM"/&gt;</a:t>
            </a:r>
            <a:br>
              <a:rPr lang="en-US" sz="1200"/>
            </a:br>
            <a:r>
              <a:rPr lang="en-US" sz="1200"/>
              <a:t>          &lt;string key="concept:name" value="Request Payment"/&gt;</a:t>
            </a:r>
            <a:br>
              <a:rPr lang="en-US" sz="1200"/>
            </a:br>
            <a:r>
              <a:rPr lang="en-US" sz="1200"/>
              <a:t>          &lt;date key="time:timestamp" value="2017-01-10T09:34:44.000+01:00"/&gt;</a:t>
            </a:r>
            <a:br>
              <a:rPr lang="en-US" sz="1200"/>
            </a:br>
            <a:r>
              <a:rPr lang="en-US" sz="1200"/>
              <a:t>          &lt;string key="org:role" value="UNDEFINED"/&gt;</a:t>
            </a:r>
            <a:br>
              <a:rPr lang="en-US" sz="1200"/>
            </a:br>
            <a:r>
              <a:rPr lang="en-US" sz="1200"/>
              <a:t>       &lt;/event&gt;</a:t>
            </a:r>
            <a:br>
              <a:rPr lang="en-US" sz="1200"/>
            </a:br>
            <a:r>
              <a:rPr lang="en-US" sz="1200"/>
              <a:t>       &lt;event&gt;</a:t>
            </a:r>
            <a:br>
              <a:rPr lang="en-US" sz="1200"/>
            </a:br>
            <a:r>
              <a:rPr lang="en-US" sz="1200"/>
              <a:t>          &lt;string key="id" value="dd_declaration 86791_20"/&gt;</a:t>
            </a:r>
            <a:br>
              <a:rPr lang="en-US" sz="1200"/>
            </a:br>
            <a:r>
              <a:rPr lang="en-US" sz="1200"/>
              <a:t>          &lt;string key="org:resource" value="SYSTEM"/&gt;</a:t>
            </a:r>
            <a:br>
              <a:rPr lang="en-US" sz="1200"/>
            </a:br>
            <a:r>
              <a:rPr lang="en-US" sz="1200"/>
              <a:t>          &lt;string key="concept:name" value="Payment Handled"/&gt;</a:t>
            </a:r>
            <a:br>
              <a:rPr lang="en-US" sz="1200"/>
            </a:br>
            <a:r>
              <a:rPr lang="en-US" sz="1200"/>
              <a:t>          &lt;date key="time:timestamp" value="2017-01-12T17:31:22.000+01:00"/&gt;</a:t>
            </a:r>
            <a:br>
              <a:rPr lang="en-US" sz="1200"/>
            </a:br>
            <a:r>
              <a:rPr lang="en-US" sz="1200"/>
              <a:t>          &lt;string key="org:role" value="UNDEFINED"/&gt;</a:t>
            </a:r>
            <a:br>
              <a:rPr lang="en-US" sz="1200"/>
            </a:br>
            <a:r>
              <a:rPr lang="en-US" sz="1200"/>
              <a:t>       &lt;/event&gt;</a:t>
            </a:r>
            <a:br>
              <a:rPr lang="en-US" sz="1200"/>
            </a:br>
            <a:r>
              <a:rPr lang="en-US" sz="1200"/>
              <a:t>    &lt;/trace&gt;</a:t>
            </a:r>
            <a:br>
              <a:rPr lang="en-US" sz="1200"/>
            </a:br>
            <a:r>
              <a:rPr lang="en-US" sz="1200"/>
              <a:t>&lt;/log&gt;</a:t>
            </a:r>
          </a:p>
          <a:p>
            <a:pPr fontAlgn="base"/>
            <a:endParaRPr lang="en-US" sz="1200"/>
          </a:p>
        </p:txBody>
      </p:sp>
    </p:spTree>
    <p:extLst>
      <p:ext uri="{BB962C8B-B14F-4D97-AF65-F5344CB8AC3E}">
        <p14:creationId xmlns:p14="http://schemas.microsoft.com/office/powerpoint/2010/main" val="675249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ORTHandCSD_2019Sept">
  <a:themeElements>
    <a:clrScheme name="Custom 7">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734100"/>
      </a:hlink>
      <a:folHlink>
        <a:srgbClr val="AC6100"/>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FORTHandCSD_2019Sept" id="{331FDDBB-F596-4AE8-AA26-9E41D1AE9288}" vid="{CE701065-FED1-42AD-B1BD-6476029C61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FORTHandCSD_2019Sept</Template>
  <TotalTime>7055</TotalTime>
  <Words>4660</Words>
  <Application>Microsoft Office PowerPoint</Application>
  <PresentationFormat>Ευρεία οθόνη</PresentationFormat>
  <Paragraphs>457</Paragraphs>
  <Slides>17</Slides>
  <Notes>17</Notes>
  <HiddenSlides>0</HiddenSlides>
  <MMClips>0</MMClips>
  <ScaleCrop>false</ScaleCrop>
  <HeadingPairs>
    <vt:vector size="6" baseType="variant">
      <vt:variant>
        <vt:lpstr>Γραμματοσειρές που χρησιμοποιούνται</vt:lpstr>
      </vt:variant>
      <vt:variant>
        <vt:i4>6</vt:i4>
      </vt:variant>
      <vt:variant>
        <vt:lpstr>Θέμα</vt:lpstr>
      </vt:variant>
      <vt:variant>
        <vt:i4>1</vt:i4>
      </vt:variant>
      <vt:variant>
        <vt:lpstr>Τίτλοι διαφανειών</vt:lpstr>
      </vt:variant>
      <vt:variant>
        <vt:i4>17</vt:i4>
      </vt:variant>
    </vt:vector>
  </HeadingPairs>
  <TitlesOfParts>
    <vt:vector size="24" baseType="lpstr">
      <vt:lpstr>Aptos</vt:lpstr>
      <vt:lpstr>Calibri</vt:lpstr>
      <vt:lpstr>Century Gothic</vt:lpstr>
      <vt:lpstr>Roboto</vt:lpstr>
      <vt:lpstr>Wingdings</vt:lpstr>
      <vt:lpstr>Wingdings 2</vt:lpstr>
      <vt:lpstr>FORTHandCSD_2019Sept</vt:lpstr>
      <vt:lpstr>Knowledge Graph-Based Workflow Validation Using PROV Graphs</vt:lpstr>
      <vt:lpstr>Basic Terminology</vt:lpstr>
      <vt:lpstr>From Traces to Provenance</vt:lpstr>
      <vt:lpstr>Classical Validation</vt:lpstr>
      <vt:lpstr>What if?</vt:lpstr>
      <vt:lpstr>XES Elements to KG Entities</vt:lpstr>
      <vt:lpstr>Research questions</vt:lpstr>
      <vt:lpstr>Dataset &amp; Methodology</vt:lpstr>
      <vt:lpstr>Validation Rules</vt:lpstr>
      <vt:lpstr>The Pipeline</vt:lpstr>
      <vt:lpstr>Παρουσίαση του PowerPoint</vt:lpstr>
      <vt:lpstr>Results – Isolated setting</vt:lpstr>
      <vt:lpstr>Results – Combined setting (stress-test)</vt:lpstr>
      <vt:lpstr>Discussion</vt:lpstr>
      <vt:lpstr>Sum up &amp; Future Directions</vt:lpstr>
      <vt:lpstr>Thank you for your attention!  Let’s validate the answers to your questions!  </vt:lpstr>
      <vt:lpstr>A Dataset Entry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CCI</dc:title>
  <dc:creator>Yannis Tzitzikas</dc:creator>
  <cp:lastModifiedBy>Βαλάντης Ζερβός</cp:lastModifiedBy>
  <cp:revision>188</cp:revision>
  <dcterms:created xsi:type="dcterms:W3CDTF">2019-11-08T11:39:27Z</dcterms:created>
  <dcterms:modified xsi:type="dcterms:W3CDTF">2026-09-28T08:47:53Z</dcterms:modified>
</cp:coreProperties>
</file>